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290" r:id="rId3"/>
    <p:sldId id="291" r:id="rId4"/>
    <p:sldId id="292" r:id="rId5"/>
    <p:sldId id="293" r:id="rId6"/>
    <p:sldId id="294" r:id="rId7"/>
    <p:sldId id="296" r:id="rId8"/>
    <p:sldId id="297" r:id="rId9"/>
    <p:sldId id="298" r:id="rId10"/>
    <p:sldId id="299" r:id="rId11"/>
    <p:sldId id="302" r:id="rId12"/>
    <p:sldId id="300" r:id="rId13"/>
    <p:sldId id="301" r:id="rId14"/>
    <p:sldId id="303" r:id="rId15"/>
    <p:sldId id="304" r:id="rId16"/>
    <p:sldId id="305" r:id="rId17"/>
    <p:sldId id="310" r:id="rId18"/>
    <p:sldId id="322" r:id="rId19"/>
    <p:sldId id="311" r:id="rId20"/>
    <p:sldId id="312" r:id="rId21"/>
    <p:sldId id="313" r:id="rId22"/>
    <p:sldId id="314" r:id="rId23"/>
    <p:sldId id="316" r:id="rId24"/>
    <p:sldId id="317" r:id="rId25"/>
    <p:sldId id="318" r:id="rId26"/>
    <p:sldId id="315" r:id="rId27"/>
    <p:sldId id="307" r:id="rId28"/>
    <p:sldId id="308" r:id="rId29"/>
    <p:sldId id="309" r:id="rId30"/>
    <p:sldId id="319" r:id="rId31"/>
    <p:sldId id="320" r:id="rId32"/>
    <p:sldId id="321" r:id="rId33"/>
  </p:sldIdLst>
  <p:sldSz cx="9144000" cy="6858000" type="screen4x3"/>
  <p:notesSz cx="6805613"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3B76C6-B95B-1C41-9329-7E1B5BE77169}" v="1" dt="2020-12-02T07:30:48.4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09" autoAdjust="0"/>
    <p:restoredTop sz="96165" autoAdjust="0"/>
  </p:normalViewPr>
  <p:slideViewPr>
    <p:cSldViewPr>
      <p:cViewPr varScale="1">
        <p:scale>
          <a:sx n="106" d="100"/>
          <a:sy n="106" d="100"/>
        </p:scale>
        <p:origin x="1460" y="68"/>
      </p:cViewPr>
      <p:guideLst>
        <p:guide orient="horz" pos="2160"/>
        <p:guide pos="2880"/>
      </p:guideLst>
    </p:cSldViewPr>
  </p:slideViewPr>
  <p:outlineViewPr>
    <p:cViewPr>
      <p:scale>
        <a:sx n="33" d="100"/>
        <a:sy n="33" d="100"/>
      </p:scale>
      <p:origin x="0" y="2014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54939" y="0"/>
            <a:ext cx="2949099" cy="496967"/>
          </a:xfrm>
          <a:prstGeom prst="rect">
            <a:avLst/>
          </a:prstGeom>
        </p:spPr>
        <p:txBody>
          <a:bodyPr vert="horz" lIns="91440" tIns="45720" rIns="91440" bIns="45720" rtlCol="0"/>
          <a:lstStyle>
            <a:lvl1pPr algn="r">
              <a:defRPr sz="1200"/>
            </a:lvl1pPr>
          </a:lstStyle>
          <a:p>
            <a:fld id="{20EB3314-FDC3-4170-8208-0DFBA5A55FAE}" type="datetimeFigureOut">
              <a:rPr lang="ko-KR" altLang="en-US" smtClean="0"/>
              <a:pPr/>
              <a:t>2025-11-12</a:t>
            </a:fld>
            <a:endParaRPr lang="ko-KR" altLang="en-US"/>
          </a:p>
        </p:txBody>
      </p:sp>
      <p:sp>
        <p:nvSpPr>
          <p:cNvPr id="4" name="바닥글 개체 틀 3"/>
          <p:cNvSpPr>
            <a:spLocks noGrp="1"/>
          </p:cNvSpPr>
          <p:nvPr>
            <p:ph type="ftr" sz="quarter" idx="2"/>
          </p:nvPr>
        </p:nvSpPr>
        <p:spPr>
          <a:xfrm>
            <a:off x="0" y="9440646"/>
            <a:ext cx="2949099" cy="49696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4939" y="9440646"/>
            <a:ext cx="2949099" cy="496967"/>
          </a:xfrm>
          <a:prstGeom prst="rect">
            <a:avLst/>
          </a:prstGeom>
        </p:spPr>
        <p:txBody>
          <a:bodyPr vert="horz" lIns="91440" tIns="45720" rIns="91440" bIns="45720" rtlCol="0" anchor="b"/>
          <a:lstStyle>
            <a:lvl1pPr algn="r">
              <a:defRPr sz="1200"/>
            </a:lvl1pPr>
          </a:lstStyle>
          <a:p>
            <a:fld id="{5A0A69FB-9C27-4AC4-B4AB-FBA119661993}" type="slidenum">
              <a:rPr lang="ko-KR" altLang="en-US" smtClean="0"/>
              <a:pPr/>
              <a:t>‹#›</a:t>
            </a:fld>
            <a:endParaRPr lang="ko-KR" altLang="en-US"/>
          </a:p>
        </p:txBody>
      </p:sp>
    </p:spTree>
    <p:extLst>
      <p:ext uri="{BB962C8B-B14F-4D97-AF65-F5344CB8AC3E}">
        <p14:creationId xmlns:p14="http://schemas.microsoft.com/office/powerpoint/2010/main" val="12766616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6967"/>
          </a:xfrm>
          <a:prstGeom prst="rect">
            <a:avLst/>
          </a:prstGeom>
        </p:spPr>
        <p:txBody>
          <a:bodyPr vert="horz" lIns="91440" tIns="45720" rIns="91440" bIns="45720" rtlCol="0"/>
          <a:lstStyle>
            <a:lvl1pPr algn="r">
              <a:defRPr sz="1200"/>
            </a:lvl1pPr>
          </a:lstStyle>
          <a:p>
            <a:fld id="{E657EDB4-E51F-41B2-B7CC-34C8224D30B5}" type="datetimeFigureOut">
              <a:rPr lang="ko-KR" altLang="en-US" smtClean="0"/>
              <a:pPr/>
              <a:t>2025-11-12</a:t>
            </a:fld>
            <a:endParaRPr lang="ko-KR" altLang="en-US"/>
          </a:p>
        </p:txBody>
      </p:sp>
      <p:sp>
        <p:nvSpPr>
          <p:cNvPr id="4" name="슬라이드 이미지 개체 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21186"/>
            <a:ext cx="5444490" cy="4472702"/>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6"/>
            <a:ext cx="2949099" cy="49696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6"/>
            <a:ext cx="2949099" cy="496967"/>
          </a:xfrm>
          <a:prstGeom prst="rect">
            <a:avLst/>
          </a:prstGeom>
        </p:spPr>
        <p:txBody>
          <a:bodyPr vert="horz" lIns="91440" tIns="45720" rIns="91440" bIns="45720" rtlCol="0" anchor="b"/>
          <a:lstStyle>
            <a:lvl1pPr algn="r">
              <a:defRPr sz="1200"/>
            </a:lvl1pPr>
          </a:lstStyle>
          <a:p>
            <a:fld id="{2A229CD0-B662-4524-ADDA-4BD237975AAB}" type="slidenum">
              <a:rPr lang="ko-KR" altLang="en-US" smtClean="0"/>
              <a:pPr/>
              <a:t>‹#›</a:t>
            </a:fld>
            <a:endParaRPr lang="ko-KR" altLang="en-US"/>
          </a:p>
        </p:txBody>
      </p:sp>
    </p:spTree>
    <p:extLst>
      <p:ext uri="{BB962C8B-B14F-4D97-AF65-F5344CB8AC3E}">
        <p14:creationId xmlns:p14="http://schemas.microsoft.com/office/powerpoint/2010/main" val="106351120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a:t>
            </a:fld>
            <a:endParaRPr lang="ko-KR"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a:t>
            </a:fld>
            <a:endParaRPr lang="ko-KR"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a:t>
            </a:fld>
            <a:endParaRPr lang="ko-K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4</a:t>
            </a:fld>
            <a:endParaRPr lang="ko-KR"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5</a:t>
            </a:fld>
            <a:endParaRPr lang="ko-KR"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6</a:t>
            </a:fld>
            <a:endParaRPr lang="ko-KR"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7</a:t>
            </a:fld>
            <a:endParaRPr lang="ko-KR"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8</a:t>
            </a:fld>
            <a:endParaRPr lang="ko-KR"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9</a:t>
            </a:fld>
            <a:endParaRPr lang="ko-KR"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10</a:t>
            </a:fld>
            <a:endParaRPr lang="ko-KR"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11</a:t>
            </a:fld>
            <a:endParaRPr lang="ko-KR"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12</a:t>
            </a:fld>
            <a:endParaRPr lang="ko-KR"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13</a:t>
            </a:fld>
            <a:endParaRPr lang="ko-KR"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14</a:t>
            </a:fld>
            <a:endParaRPr lang="ko-KR"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15</a:t>
            </a:fld>
            <a:endParaRPr lang="ko-KR"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16</a:t>
            </a:fld>
            <a:endParaRPr lang="ko-KR"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17</a:t>
            </a:fld>
            <a:endParaRPr lang="ko-KR"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19</a:t>
            </a:fld>
            <a:endParaRPr lang="ko-KR"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20</a:t>
            </a:fld>
            <a:endParaRPr lang="ko-KR"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21</a:t>
            </a:fld>
            <a:endParaRPr lang="ko-KR"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22</a:t>
            </a:fld>
            <a:endParaRPr lang="ko-KR"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23</a:t>
            </a:fld>
            <a:endParaRPr lang="ko-KR"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24</a:t>
            </a:fld>
            <a:endParaRPr lang="ko-KR"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25</a:t>
            </a:fld>
            <a:endParaRPr lang="ko-KR"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26</a:t>
            </a:fld>
            <a:endParaRPr lang="ko-KR"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27</a:t>
            </a:fld>
            <a:endParaRPr lang="ko-KR"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28</a:t>
            </a:fld>
            <a:endParaRPr lang="ko-KR"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29</a:t>
            </a:fld>
            <a:endParaRPr lang="ko-KR"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30</a:t>
            </a:fld>
            <a:endParaRPr lang="ko-KR"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31</a:t>
            </a:fld>
            <a:endParaRPr lang="ko-KR"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normAutofit/>
          </a:bodyPr>
          <a:lstStyle/>
          <a:p>
            <a:endParaRPr lang="ko-KR" altLang="en-US"/>
          </a:p>
        </p:txBody>
      </p:sp>
      <p:sp>
        <p:nvSpPr>
          <p:cNvPr id="4" name="슬라이드 번호 개체 틀 3"/>
          <p:cNvSpPr>
            <a:spLocks noGrp="1"/>
          </p:cNvSpPr>
          <p:nvPr>
            <p:ph type="sldNum" sz="quarter" idx="10"/>
          </p:nvPr>
        </p:nvSpPr>
        <p:spPr/>
        <p:txBody>
          <a:bodyPr/>
          <a:lstStyle/>
          <a:p>
            <a:fld id="{2A229CD0-B662-4524-ADDA-4BD237975AAB}" type="slidenum">
              <a:rPr lang="ko-KR" altLang="en-US" smtClean="0"/>
              <a:pPr/>
              <a:t>32</a:t>
            </a:fld>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274638"/>
            <a:ext cx="2057400" cy="585152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274638"/>
            <a:ext cx="6019800" cy="585152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A053B9A5-DE88-4FE2-AED7-B85778A5E063}" type="slidenum">
              <a:rPr lang="ko-KR" altLang="en-US" smtClean="0"/>
              <a:pPr/>
              <a:t>‹#›</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8AA7D4-4A21-41B6-BA68-3D7AEA55F040}" type="datetimeFigureOut">
              <a:rPr lang="ko-KR" altLang="en-US" smtClean="0"/>
              <a:pPr/>
              <a:t>2025-11-12</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53B9A5-DE88-4FE2-AED7-B85778A5E063}"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kotobank.jp/word/%E7%AB%B9%E3%81%AE%E5%AD%90-560112#E3.83.87.E3.82.B8.E3.82.BF.E3.83.AB.E5.A4.A7.E8.BE.9E.E6.B3.89"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kotobank.jp/word/%E9%B1%97%E7%89%87-660199"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a:xfrm>
            <a:off x="323528" y="2130425"/>
            <a:ext cx="8352928" cy="1470025"/>
          </a:xfrm>
        </p:spPr>
        <p:txBody>
          <a:bodyPr/>
          <a:lstStyle/>
          <a:p>
            <a:r>
              <a:rPr lang="ja-JP" altLang="en-US" dirty="0">
                <a:solidFill>
                  <a:schemeClr val="tx2">
                    <a:lumMod val="75000"/>
                  </a:schemeClr>
                </a:solidFill>
                <a:latin typeface="+mn-ea"/>
                <a:ea typeface="+mn-ea"/>
              </a:rPr>
              <a:t>理解の過程をめぐる研究と現場への示唆</a:t>
            </a:r>
            <a:endParaRPr lang="ko-KR" altLang="en-US" dirty="0">
              <a:solidFill>
                <a:schemeClr val="tx2">
                  <a:lumMod val="75000"/>
                </a:schemeClr>
              </a:solidFill>
              <a:latin typeface="+mn-ea"/>
              <a:ea typeface="+mn-ea"/>
            </a:endParaRPr>
          </a:p>
        </p:txBody>
      </p:sp>
      <p:sp>
        <p:nvSpPr>
          <p:cNvPr id="3" name="부제목 2"/>
          <p:cNvSpPr>
            <a:spLocks noGrp="1"/>
          </p:cNvSpPr>
          <p:nvPr>
            <p:ph type="subTitle" idx="1"/>
          </p:nvPr>
        </p:nvSpPr>
        <p:spPr/>
        <p:txBody>
          <a:bodyPr>
            <a:normAutofit/>
          </a:bodyPr>
          <a:lstStyle/>
          <a:p>
            <a:r>
              <a:rPr lang="en-US" altLang="ja-JP" sz="4000" dirty="0">
                <a:solidFill>
                  <a:schemeClr val="tx2">
                    <a:lumMod val="75000"/>
                  </a:schemeClr>
                </a:solidFill>
                <a:latin typeface="+mn-ea"/>
              </a:rPr>
              <a:t>-</a:t>
            </a:r>
            <a:r>
              <a:rPr lang="ja-JP" altLang="en-US" sz="4000" dirty="0">
                <a:solidFill>
                  <a:schemeClr val="tx2">
                    <a:lumMod val="75000"/>
                  </a:schemeClr>
                </a:solidFill>
                <a:latin typeface="+mn-ea"/>
              </a:rPr>
              <a:t>読むことを中心に</a:t>
            </a:r>
            <a:r>
              <a:rPr lang="en-US" altLang="ja-JP" sz="4000" dirty="0">
                <a:solidFill>
                  <a:schemeClr val="tx2">
                    <a:lumMod val="75000"/>
                  </a:schemeClr>
                </a:solidFill>
                <a:latin typeface="+mn-ea"/>
              </a:rPr>
              <a:t>-(</a:t>
            </a:r>
            <a:r>
              <a:rPr lang="en-US" altLang="ja-JP" sz="4000">
                <a:solidFill>
                  <a:schemeClr val="tx2">
                    <a:lumMod val="75000"/>
                  </a:schemeClr>
                </a:solidFill>
                <a:latin typeface="+mn-ea"/>
              </a:rPr>
              <a:t>2)</a:t>
            </a:r>
            <a:endParaRPr lang="ko-KR" altLang="en-US" sz="4000" dirty="0">
              <a:solidFill>
                <a:schemeClr val="tx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dirty="0">
                <a:solidFill>
                  <a:srgbClr val="00B050"/>
                </a:solidFill>
              </a:rPr>
              <a:t>読みへの熟達</a:t>
            </a:r>
            <a:br>
              <a:rPr lang="en-US" altLang="ja-JP" dirty="0">
                <a:solidFill>
                  <a:srgbClr val="00B050"/>
                </a:solidFill>
              </a:rPr>
            </a:br>
            <a:r>
              <a:rPr lang="ja-JP" altLang="en-US" dirty="0">
                <a:solidFill>
                  <a:srgbClr val="00B050"/>
                </a:solidFill>
              </a:rPr>
              <a:t>－読むことをどう教えるかｰ</a:t>
            </a:r>
            <a:endParaRPr lang="ko-KR" altLang="en-US" dirty="0">
              <a:solidFill>
                <a:srgbClr val="00B050"/>
              </a:solidFill>
            </a:endParaRPr>
          </a:p>
        </p:txBody>
      </p:sp>
      <p:sp>
        <p:nvSpPr>
          <p:cNvPr id="3" name="내용 개체 틀 2"/>
          <p:cNvSpPr>
            <a:spLocks noGrp="1"/>
          </p:cNvSpPr>
          <p:nvPr>
            <p:ph idx="1"/>
          </p:nvPr>
        </p:nvSpPr>
        <p:spPr/>
        <p:txBody>
          <a:bodyPr>
            <a:normAutofit lnSpcReduction="10000"/>
          </a:bodyPr>
          <a:lstStyle/>
          <a:p>
            <a:r>
              <a:rPr lang="ja-JP" altLang="en-US" dirty="0"/>
              <a:t>読みへの熟達をゴールとする場合以下の５点に留意したデザインが必要。</a:t>
            </a:r>
            <a:endParaRPr lang="en-US" altLang="ja-JP" dirty="0"/>
          </a:p>
          <a:p>
            <a:endParaRPr lang="en-US" altLang="ja-JP" dirty="0"/>
          </a:p>
          <a:p>
            <a:pPr>
              <a:buNone/>
            </a:pPr>
            <a:r>
              <a:rPr lang="ja-JP" altLang="en-US" dirty="0"/>
              <a:t>　</a:t>
            </a:r>
            <a:r>
              <a:rPr lang="en-US" altLang="ja-JP" dirty="0">
                <a:solidFill>
                  <a:srgbClr val="002060"/>
                </a:solidFill>
              </a:rPr>
              <a:t>(1)</a:t>
            </a:r>
            <a:r>
              <a:rPr lang="ja-JP" altLang="en-US" dirty="0">
                <a:solidFill>
                  <a:srgbClr val="002060"/>
                </a:solidFill>
              </a:rPr>
              <a:t>読む量</a:t>
            </a:r>
            <a:endParaRPr lang="en-US" altLang="ja-JP" dirty="0">
              <a:solidFill>
                <a:srgbClr val="002060"/>
              </a:solidFill>
            </a:endParaRPr>
          </a:p>
          <a:p>
            <a:pPr>
              <a:buNone/>
            </a:pPr>
            <a:r>
              <a:rPr lang="ja-JP" altLang="en-US" dirty="0">
                <a:solidFill>
                  <a:srgbClr val="002060"/>
                </a:solidFill>
              </a:rPr>
              <a:t>　</a:t>
            </a:r>
            <a:r>
              <a:rPr lang="en-US" altLang="ja-JP" dirty="0">
                <a:solidFill>
                  <a:srgbClr val="002060"/>
                </a:solidFill>
              </a:rPr>
              <a:t>(2)</a:t>
            </a:r>
            <a:r>
              <a:rPr lang="ja-JP" altLang="en-US" dirty="0">
                <a:solidFill>
                  <a:srgbClr val="002060"/>
                </a:solidFill>
              </a:rPr>
              <a:t>文字、語彙、統語、文章についての知識</a:t>
            </a:r>
            <a:endParaRPr lang="en-US" altLang="ja-JP" dirty="0">
              <a:solidFill>
                <a:srgbClr val="002060"/>
              </a:solidFill>
            </a:endParaRPr>
          </a:p>
          <a:p>
            <a:pPr>
              <a:buNone/>
            </a:pPr>
            <a:r>
              <a:rPr lang="ja-JP" altLang="en-US" dirty="0">
                <a:solidFill>
                  <a:srgbClr val="002060"/>
                </a:solidFill>
              </a:rPr>
              <a:t>　</a:t>
            </a:r>
            <a:r>
              <a:rPr lang="en-US" altLang="ja-JP" dirty="0">
                <a:solidFill>
                  <a:srgbClr val="002060"/>
                </a:solidFill>
              </a:rPr>
              <a:t>(3)</a:t>
            </a:r>
            <a:r>
              <a:rPr lang="ja-JP" altLang="en-US" dirty="0">
                <a:solidFill>
                  <a:srgbClr val="002060"/>
                </a:solidFill>
              </a:rPr>
              <a:t>ストラテジー</a:t>
            </a:r>
            <a:endParaRPr lang="en-US" altLang="ja-JP" dirty="0">
              <a:solidFill>
                <a:srgbClr val="002060"/>
              </a:solidFill>
            </a:endParaRPr>
          </a:p>
          <a:p>
            <a:pPr>
              <a:buNone/>
            </a:pPr>
            <a:r>
              <a:rPr lang="ja-JP" altLang="en-US" dirty="0">
                <a:solidFill>
                  <a:srgbClr val="002060"/>
                </a:solidFill>
              </a:rPr>
              <a:t>　</a:t>
            </a:r>
            <a:r>
              <a:rPr lang="en-US" altLang="ja-JP" dirty="0">
                <a:solidFill>
                  <a:srgbClr val="002060"/>
                </a:solidFill>
              </a:rPr>
              <a:t>(4)</a:t>
            </a:r>
            <a:r>
              <a:rPr lang="ja-JP" altLang="en-US" dirty="0">
                <a:solidFill>
                  <a:srgbClr val="002060"/>
                </a:solidFill>
              </a:rPr>
              <a:t>読む目的</a:t>
            </a:r>
            <a:endParaRPr lang="en-US" altLang="ja-JP" dirty="0">
              <a:solidFill>
                <a:srgbClr val="002060"/>
              </a:solidFill>
            </a:endParaRPr>
          </a:p>
          <a:p>
            <a:pPr>
              <a:buNone/>
            </a:pPr>
            <a:r>
              <a:rPr lang="ja-JP" altLang="en-US" dirty="0">
                <a:solidFill>
                  <a:srgbClr val="002060"/>
                </a:solidFill>
              </a:rPr>
              <a:t>　</a:t>
            </a:r>
            <a:r>
              <a:rPr lang="en-US" altLang="ja-JP" dirty="0">
                <a:solidFill>
                  <a:srgbClr val="002060"/>
                </a:solidFill>
              </a:rPr>
              <a:t>(5)</a:t>
            </a:r>
            <a:r>
              <a:rPr lang="ja-JP" altLang="en-US" dirty="0">
                <a:solidFill>
                  <a:srgbClr val="002060"/>
                </a:solidFill>
              </a:rPr>
              <a:t>第１言語の活用</a:t>
            </a:r>
            <a:endParaRPr lang="en-US" altLang="ko-KR" dirty="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何のために読むか（目的）、どのように読むか（ストラテジー）という点を考慮することによって、</a:t>
            </a:r>
            <a:r>
              <a:rPr lang="en-US" altLang="ja-JP" dirty="0"/>
              <a:t>(2)</a:t>
            </a:r>
            <a:r>
              <a:rPr lang="ja-JP" altLang="en-US" dirty="0"/>
              <a:t>の文字、語彙、統語、文章についての知識に対する要求をより低く押さえることは可能。</a:t>
            </a:r>
            <a:endParaRPr lang="en-US" altLang="ja-JP" dirty="0"/>
          </a:p>
          <a:p>
            <a:endParaRPr lang="en-US" altLang="ja-JP"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a:bodyPr>
          <a:lstStyle/>
          <a:p>
            <a:r>
              <a:rPr lang="ja-JP" altLang="en-US" dirty="0"/>
              <a:t>例）スーパーのチラシ、通信販売のカタログ　</a:t>
            </a:r>
            <a:endParaRPr lang="en-US" altLang="ja-JP" dirty="0"/>
          </a:p>
          <a:p>
            <a:pPr>
              <a:buNone/>
            </a:pPr>
            <a:r>
              <a:rPr lang="ja-JP" altLang="en-US" dirty="0"/>
              <a:t>　　　から条件の商品を探す。</a:t>
            </a:r>
            <a:endParaRPr lang="en-US" altLang="ja-JP" dirty="0"/>
          </a:p>
          <a:p>
            <a:pPr>
              <a:buNone/>
            </a:pPr>
            <a:r>
              <a:rPr lang="ja-JP" altLang="en-US" dirty="0"/>
              <a:t>　　　　　　　　　↓↓</a:t>
            </a:r>
            <a:endParaRPr lang="en-US" altLang="ja-JP" dirty="0"/>
          </a:p>
          <a:p>
            <a:r>
              <a:rPr lang="ja-JP" altLang="en-US" dirty="0"/>
              <a:t>スキャニングのストラテジー</a:t>
            </a:r>
            <a:endParaRPr lang="en-US" altLang="ja-JP" dirty="0"/>
          </a:p>
          <a:p>
            <a:pPr>
              <a:buNone/>
            </a:pPr>
            <a:r>
              <a:rPr lang="ja-JP" altLang="en-US" dirty="0"/>
              <a:t>　（特定の情報だけを取る読み）</a:t>
            </a:r>
            <a:endParaRPr lang="en-US" altLang="ja-JP" dirty="0"/>
          </a:p>
          <a:p>
            <a:pPr>
              <a:buNone/>
            </a:pPr>
            <a:r>
              <a:rPr lang="ja-JP" altLang="en-US" dirty="0"/>
              <a:t>　－難しい言語知識は問われないため、それほどの言語能力が要求されない読解タスクを設定することは可能。</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solidFill>
                  <a:srgbClr val="0070C0"/>
                </a:solidFill>
              </a:rPr>
              <a:t>読解のゴール</a:t>
            </a:r>
            <a:endParaRPr lang="en-US" altLang="ja-JP" dirty="0">
              <a:solidFill>
                <a:srgbClr val="0070C0"/>
              </a:solidFill>
            </a:endParaRPr>
          </a:p>
          <a:p>
            <a:pPr>
              <a:buNone/>
            </a:pPr>
            <a:r>
              <a:rPr lang="ja-JP" altLang="en-US" dirty="0"/>
              <a:t>　書かれたものを使って日常生活場面でいろいろなことができること。</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00B050"/>
                </a:solidFill>
              </a:rPr>
              <a:t>読解力の養成に向けての青写真</a:t>
            </a:r>
            <a:endParaRPr lang="ko-KR" altLang="en-US" dirty="0">
              <a:solidFill>
                <a:srgbClr val="00B050"/>
              </a:solidFill>
            </a:endParaRPr>
          </a:p>
        </p:txBody>
      </p:sp>
      <p:sp>
        <p:nvSpPr>
          <p:cNvPr id="3" name="내용 개체 틀 2"/>
          <p:cNvSpPr>
            <a:spLocks noGrp="1"/>
          </p:cNvSpPr>
          <p:nvPr>
            <p:ph idx="1"/>
          </p:nvPr>
        </p:nvSpPr>
        <p:spPr>
          <a:xfrm>
            <a:off x="457200" y="1600200"/>
            <a:ext cx="8229600" cy="4997152"/>
          </a:xfrm>
        </p:spPr>
        <p:txBody>
          <a:bodyPr>
            <a:normAutofit fontScale="92500" lnSpcReduction="10000"/>
          </a:bodyPr>
          <a:lstStyle/>
          <a:p>
            <a:r>
              <a:rPr lang="ja-JP" altLang="en-US" dirty="0"/>
              <a:t>たくさん読むことを通して書かれたものを読むことのベースを作る。</a:t>
            </a:r>
            <a:endParaRPr lang="en-US" altLang="ja-JP" dirty="0"/>
          </a:p>
          <a:p>
            <a:endParaRPr lang="en-US" altLang="ja-JP" dirty="0"/>
          </a:p>
          <a:p>
            <a:r>
              <a:rPr lang="ja-JP" altLang="en-US" dirty="0"/>
              <a:t>読解タスクを工夫しながら、読解の成功経験を蓄積する。その場合、読解タスクは日常生活場面から書かれたものを使ってなされる多様なタスクを取り入れ、言語能力に合わせて、要求される言語知識を加減する。</a:t>
            </a:r>
            <a:endParaRPr lang="en-US" altLang="ja-JP" dirty="0"/>
          </a:p>
          <a:p>
            <a:endParaRPr lang="en-US" altLang="ja-JP" dirty="0"/>
          </a:p>
          <a:p>
            <a:r>
              <a:rPr lang="ja-JP" altLang="en-US" dirty="0"/>
              <a:t>第２言語の基本的な知識を増やす。（ボトムアップ技能の向上を図る</a:t>
            </a:r>
            <a:r>
              <a:rPr lang="en-US" altLang="ja-JP" dirty="0"/>
              <a:t>)</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タスク６</a:t>
            </a:r>
            <a:endParaRPr lang="ko-KR" altLang="en-US" dirty="0">
              <a:solidFill>
                <a:srgbClr val="00B050"/>
              </a:solidFill>
            </a:endParaRPr>
          </a:p>
        </p:txBody>
      </p:sp>
      <p:sp>
        <p:nvSpPr>
          <p:cNvPr id="3" name="내용 개체 틀 2"/>
          <p:cNvSpPr>
            <a:spLocks noGrp="1"/>
          </p:cNvSpPr>
          <p:nvPr>
            <p:ph idx="1"/>
          </p:nvPr>
        </p:nvSpPr>
        <p:spPr/>
        <p:txBody>
          <a:bodyPr>
            <a:normAutofit fontScale="92500" lnSpcReduction="20000"/>
          </a:bodyPr>
          <a:lstStyle/>
          <a:p>
            <a:r>
              <a:rPr lang="ja-JP" altLang="en-US" dirty="0"/>
              <a:t>外国語で読む能力を高めようとするなら、とにかくたくさん読むことだとよく言われます。</a:t>
            </a:r>
            <a:endParaRPr lang="en-US" altLang="ja-JP" dirty="0"/>
          </a:p>
          <a:p>
            <a:pPr>
              <a:buNone/>
            </a:pPr>
            <a:r>
              <a:rPr lang="ja-JP" altLang="en-US" dirty="0"/>
              <a:t>　量を読むことで何が獲得できると思いますか。</a:t>
            </a:r>
            <a:endParaRPr lang="en-US" altLang="ja-JP" dirty="0"/>
          </a:p>
          <a:p>
            <a:pPr>
              <a:buNone/>
            </a:pPr>
            <a:r>
              <a:rPr lang="ja-JP" altLang="en-US" dirty="0"/>
              <a:t>　</a:t>
            </a:r>
            <a:endParaRPr lang="en-US" altLang="ja-JP" dirty="0"/>
          </a:p>
          <a:p>
            <a:pPr>
              <a:buNone/>
            </a:pPr>
            <a:endParaRPr lang="en-US" altLang="ko-KR" dirty="0"/>
          </a:p>
          <a:p>
            <a:pPr>
              <a:buNone/>
            </a:pPr>
            <a:r>
              <a:rPr lang="ja-JP" altLang="en-US" dirty="0">
                <a:solidFill>
                  <a:schemeClr val="accent6">
                    <a:lumMod val="75000"/>
                  </a:schemeClr>
                </a:solidFill>
              </a:rPr>
              <a:t>ヒント</a:t>
            </a:r>
            <a:endParaRPr lang="en-US" altLang="ja-JP" dirty="0"/>
          </a:p>
          <a:p>
            <a:pPr>
              <a:buFont typeface="Wingdings" pitchFamily="2" charset="2"/>
              <a:buChar char="Ø"/>
            </a:pPr>
            <a:r>
              <a:rPr lang="ja-JP" altLang="en-US" dirty="0"/>
              <a:t>僅かなテキストを読み、多くの練習問題に答える形式の教室活動や教材は望ましくない。読解能力は読むことを通してしかついていかない。そのため、読むことをクラス活動の中心に据える。</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457200" y="1600200"/>
            <a:ext cx="8229600" cy="5141168"/>
          </a:xfrm>
        </p:spPr>
        <p:txBody>
          <a:bodyPr>
            <a:normAutofit fontScale="92500" lnSpcReduction="10000"/>
          </a:bodyPr>
          <a:lstStyle/>
          <a:p>
            <a:r>
              <a:rPr lang="ja-JP" altLang="en-US" dirty="0"/>
              <a:t>また量を読むことはどのようにして可能となるでしょうか。</a:t>
            </a:r>
            <a:endParaRPr lang="en-US" altLang="ja-JP" dirty="0"/>
          </a:p>
          <a:p>
            <a:endParaRPr lang="en-US" altLang="ja-JP" dirty="0"/>
          </a:p>
          <a:p>
            <a:pPr marL="0" indent="0">
              <a:buNone/>
            </a:pPr>
            <a:r>
              <a:rPr lang="ja-JP" altLang="en-US" dirty="0">
                <a:solidFill>
                  <a:schemeClr val="accent6">
                    <a:lumMod val="75000"/>
                  </a:schemeClr>
                </a:solidFill>
              </a:rPr>
              <a:t>ヒント</a:t>
            </a:r>
            <a:endParaRPr lang="en-US" altLang="ja-JP" dirty="0"/>
          </a:p>
          <a:p>
            <a:pPr>
              <a:buFont typeface="Wingdings" pitchFamily="2" charset="2"/>
              <a:buChar char="Ø"/>
            </a:pPr>
            <a:r>
              <a:rPr lang="ja-JP" altLang="en-US" dirty="0"/>
              <a:t>関心があるもの、自分と関連性が持てるものは量的にたくさん読むことができ、その中で読解の技能が効率的に養成されていく。</a:t>
            </a:r>
            <a:endParaRPr lang="en-US" altLang="ja-JP" dirty="0"/>
          </a:p>
          <a:p>
            <a:pPr>
              <a:buFont typeface="Wingdings" pitchFamily="2" charset="2"/>
              <a:buChar char="Ø"/>
            </a:pPr>
            <a:r>
              <a:rPr lang="ja-JP" altLang="en-US" dirty="0"/>
              <a:t>興味のあるトピック、自分の考えや生活に関係していることは無意識のうちにスキーマを活性化し、予測を立て、その予測を検証しつつ読むことが行われる。</a:t>
            </a:r>
            <a:endParaRPr lang="en-US" altLang="ja-JP" dirty="0"/>
          </a:p>
          <a:p>
            <a:pPr>
              <a:buNone/>
            </a:pP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個人読解の長所と問題点</a:t>
            </a: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語彙の飛躍的な拡大。</a:t>
            </a:r>
            <a:endParaRPr lang="en-US" altLang="ja-JP" dirty="0"/>
          </a:p>
          <a:p>
            <a:endParaRPr lang="en-US" altLang="ja-JP" dirty="0"/>
          </a:p>
          <a:p>
            <a:pPr>
              <a:buFont typeface="Wingdings" pitchFamily="2" charset="2"/>
              <a:buChar char="Ø"/>
            </a:pPr>
            <a:r>
              <a:rPr lang="ja-JP" altLang="en-US" dirty="0"/>
              <a:t>語彙獲得は、最初は意味不明語彙であったものが理解語彙となり、最終的には使用語彙へと転化していく過程。</a:t>
            </a:r>
            <a:endParaRPr lang="en-US" altLang="ja-JP" dirty="0"/>
          </a:p>
          <a:p>
            <a:pPr>
              <a:buFont typeface="Wingdings" pitchFamily="2" charset="2"/>
              <a:buChar char="Ø"/>
            </a:pPr>
            <a:r>
              <a:rPr lang="ja-JP" altLang="en-US" dirty="0"/>
              <a:t>同一トピックのものを大量に読むことは語彙学習にとって最適</a:t>
            </a:r>
            <a:endParaRPr lang="en-US" altLang="ja-JP" dirty="0"/>
          </a:p>
          <a:p>
            <a:pPr>
              <a:buNone/>
            </a:pPr>
            <a:endParaRPr lang="en-US" altLang="ja-JP" dirty="0"/>
          </a:p>
          <a:p>
            <a:pPr>
              <a:buNone/>
            </a:pPr>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学習者が自分自身をよく知ることができる。</a:t>
            </a:r>
            <a:endParaRPr lang="en-US" altLang="ja-JP" dirty="0"/>
          </a:p>
          <a:p>
            <a:endParaRPr lang="en-US" altLang="ja-JP" dirty="0"/>
          </a:p>
          <a:p>
            <a:pPr>
              <a:buFont typeface="Wingdings" pitchFamily="2" charset="2"/>
              <a:buChar char="Ø"/>
            </a:pPr>
            <a:r>
              <a:rPr lang="ja-JP" altLang="en-US" dirty="0"/>
              <a:t>自分が実際には何に関心があるのかをつきつめて考えることを経験する。</a:t>
            </a:r>
            <a:endParaRPr lang="en-US" altLang="ja-JP" dirty="0"/>
          </a:p>
          <a:p>
            <a:pPr>
              <a:buFont typeface="Wingdings" pitchFamily="2" charset="2"/>
              <a:buChar char="Ø"/>
            </a:pPr>
            <a:r>
              <a:rPr lang="ja-JP" altLang="en-US" dirty="0"/>
              <a:t>自分の関心が何であるかを知ることが、さらにその関心事について深く知るために読もうという動機を作り出す。</a:t>
            </a:r>
            <a:endParaRPr lang="en-US" altLang="ja-JP" dirty="0"/>
          </a:p>
          <a:p>
            <a:pPr>
              <a:buFont typeface="Wingdings" pitchFamily="2" charset="2"/>
              <a:buChar char="Ø"/>
            </a:pPr>
            <a:r>
              <a:rPr lang="ja-JP" altLang="en-US" dirty="0"/>
              <a:t>こうして自分から進んで行う自律学習が可能。</a:t>
            </a:r>
            <a:endParaRPr lang="en-US" altLang="ja-JP" dirty="0"/>
          </a:p>
          <a:p>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個人読解の問題点</a:t>
            </a: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学習者が自由に好きなものを選ぶためには図</a:t>
            </a:r>
            <a:r>
              <a:rPr lang="ja-JP" altLang="en-US"/>
              <a:t>書の充実が</a:t>
            </a:r>
            <a:r>
              <a:rPr lang="ja-JP" altLang="en-US" dirty="0"/>
              <a:t>前提となるが、予算的に無理</a:t>
            </a:r>
            <a:endParaRPr lang="en-US" altLang="ja-JP" dirty="0"/>
          </a:p>
          <a:p>
            <a:endParaRPr lang="en-US" altLang="ja-JP" dirty="0"/>
          </a:p>
          <a:p>
            <a:r>
              <a:rPr lang="ja-JP" altLang="en-US" dirty="0"/>
              <a:t>学習者の学習動機の維持が困難</a:t>
            </a:r>
            <a:endParaRPr lang="en-US" altLang="ja-JP" dirty="0"/>
          </a:p>
          <a:p>
            <a:endParaRPr lang="en-US" altLang="ja-JP"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グループ読解の長所</a:t>
            </a: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どんな学習においても、他の人の別の視点が導入されれば新たな学習の過程が引き起こされやすく、また学習に広がりや深まりが期待される。</a:t>
            </a:r>
            <a:endParaRPr lang="en-US" altLang="ja-JP" dirty="0"/>
          </a:p>
          <a:p>
            <a:r>
              <a:rPr lang="ja-JP" altLang="en-US" dirty="0"/>
              <a:t>一つのテキストを対象にその人なりに創造した意味を持ち寄ることによって新たな意味の創造が可能となる。</a:t>
            </a:r>
            <a:endParaRPr lang="en-US" altLang="ja-JP" dirty="0"/>
          </a:p>
          <a:p>
            <a:r>
              <a:rPr lang="ja-JP" altLang="en-US" dirty="0"/>
              <a:t>読解がより深くかつ広がりを持ってくる。</a:t>
            </a:r>
            <a:endParaRPr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dirty="0">
                <a:solidFill>
                  <a:srgbClr val="00B050"/>
                </a:solidFill>
              </a:rPr>
              <a:t>読む量の確保</a:t>
            </a:r>
            <a:br>
              <a:rPr lang="en-US" altLang="ja-JP" dirty="0">
                <a:solidFill>
                  <a:srgbClr val="00B050"/>
                </a:solidFill>
              </a:rPr>
            </a:br>
            <a:r>
              <a:rPr lang="ja-JP" altLang="en-US" sz="3600" dirty="0">
                <a:solidFill>
                  <a:srgbClr val="00B050"/>
                </a:solidFill>
              </a:rPr>
              <a:t>－個人読解とグループ読解の統合を通してー</a:t>
            </a:r>
            <a:endParaRPr lang="ko-KR" altLang="en-US" dirty="0">
              <a:solidFill>
                <a:srgbClr val="00B050"/>
              </a:solidFill>
            </a:endParaRPr>
          </a:p>
        </p:txBody>
      </p:sp>
      <p:sp>
        <p:nvSpPr>
          <p:cNvPr id="3" name="내용 개체 틀 2"/>
          <p:cNvSpPr>
            <a:spLocks noGrp="1"/>
          </p:cNvSpPr>
          <p:nvPr>
            <p:ph idx="1"/>
          </p:nvPr>
        </p:nvSpPr>
        <p:spPr/>
        <p:txBody>
          <a:bodyPr/>
          <a:lstStyle/>
          <a:p>
            <a:endParaRPr lang="en-US" altLang="ja-JP" dirty="0"/>
          </a:p>
          <a:p>
            <a:r>
              <a:rPr lang="ja-JP" altLang="en-US" dirty="0"/>
              <a:t>個人読解とグループ読解を並行していくデザインが考えられる。</a:t>
            </a:r>
            <a:endParaRPr lang="en-US" altLang="ja-JP" dirty="0"/>
          </a:p>
          <a:p>
            <a:endParaRPr lang="en-US" altLang="ja-JP" dirty="0"/>
          </a:p>
          <a:p>
            <a:r>
              <a:rPr lang="ja-JP" altLang="en-US" dirty="0"/>
              <a:t>個人読解で読み進めるトピックを少しずつ作り出して進めると同時に、他方グループ読解においては、グループの総意で共通して読むテキストや読み方を決める。</a:t>
            </a:r>
            <a:endParaRPr lang="en-US" altLang="ja-JP" dirty="0"/>
          </a:p>
          <a:p>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読解に対する見方の一つ</a:t>
            </a: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テキストに忠実に書かれたものだけから内容をとるべき。</a:t>
            </a:r>
            <a:endParaRPr lang="en-US" altLang="ja-JP" dirty="0"/>
          </a:p>
          <a:p>
            <a:r>
              <a:rPr lang="ja-JP" altLang="en-US" dirty="0"/>
              <a:t>一語一語の意味の理解を重視</a:t>
            </a:r>
            <a:endParaRPr lang="en-US" altLang="ja-JP" dirty="0"/>
          </a:p>
          <a:p>
            <a:endParaRPr lang="en-US" altLang="ja-JP" dirty="0"/>
          </a:p>
          <a:p>
            <a:pPr>
              <a:buFont typeface="Wingdings" pitchFamily="2" charset="2"/>
              <a:buChar char="Ø"/>
            </a:pPr>
            <a:r>
              <a:rPr lang="ja-JP" altLang="en-US" dirty="0"/>
              <a:t>分からない語や文型に遭遇する度にパニックに陥り、全体の意味をとることができず、読解に失敗することが多くなる。</a:t>
            </a:r>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解決策</a:t>
            </a: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トップダウンに関わる技能が読解において重要な役割を果たすことを理解し、それに習熟していくことによって、読解学習の新たな可能性を経験することができるようにすることが重要。</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solidFill>
                  <a:srgbClr val="0070C0"/>
                </a:solidFill>
              </a:rPr>
              <a:t>読解＝</a:t>
            </a:r>
            <a:endParaRPr lang="en-US" altLang="ja-JP" dirty="0">
              <a:solidFill>
                <a:srgbClr val="0070C0"/>
              </a:solidFill>
            </a:endParaRPr>
          </a:p>
          <a:p>
            <a:pPr>
              <a:buNone/>
            </a:pPr>
            <a:r>
              <a:rPr lang="ja-JP" altLang="en-US" dirty="0"/>
              <a:t>　　先行タスク＋読解そのもの＋フォローアップ</a:t>
            </a:r>
            <a:endParaRPr lang="en-US" altLang="ja-JP" dirty="0"/>
          </a:p>
          <a:p>
            <a:pPr>
              <a:buNone/>
            </a:pPr>
            <a:endParaRPr lang="en-US" altLang="ko-KR" dirty="0"/>
          </a:p>
          <a:p>
            <a:pPr>
              <a:buFont typeface="Wingdings" pitchFamily="2" charset="2"/>
              <a:buChar char="Ø"/>
            </a:pPr>
            <a:r>
              <a:rPr lang="ja-JP" altLang="en-US" dirty="0">
                <a:solidFill>
                  <a:srgbClr val="0070C0"/>
                </a:solidFill>
              </a:rPr>
              <a:t>先行タスク</a:t>
            </a:r>
            <a:r>
              <a:rPr lang="ja-JP" altLang="en-US" dirty="0"/>
              <a:t>：読み手が読む目的を明確に自覚し、その目的の下に既有スキーマを活性化・新スキーマを形成し、ストラテジーを使って読むことへの</a:t>
            </a:r>
            <a:r>
              <a:rPr lang="ja-JP" altLang="en-US" dirty="0">
                <a:solidFill>
                  <a:srgbClr val="FF0000"/>
                </a:solidFill>
              </a:rPr>
              <a:t>動機づけ</a:t>
            </a:r>
            <a:r>
              <a:rPr lang="ja-JP" altLang="en-US" dirty="0"/>
              <a:t>をするという機能を持っている。</a:t>
            </a:r>
            <a:endParaRPr lang="en-US" altLang="ja-JP" dirty="0"/>
          </a:p>
          <a:p>
            <a:pPr>
              <a:buNone/>
            </a:pPr>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br>
              <a:rPr lang="en-US" altLang="ja-JP" dirty="0"/>
            </a:br>
            <a:r>
              <a:rPr lang="ja-JP" altLang="en-US" dirty="0">
                <a:solidFill>
                  <a:srgbClr val="00B050"/>
                </a:solidFill>
              </a:rPr>
              <a:t>先行タスクの活動例</a:t>
            </a:r>
            <a:br>
              <a:rPr lang="en-US" altLang="ja-JP" dirty="0">
                <a:solidFill>
                  <a:srgbClr val="00B050"/>
                </a:solidFill>
              </a:rPr>
            </a:b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テキストのトピックと関連性のある：</a:t>
            </a:r>
            <a:endParaRPr lang="en-US" altLang="ja-JP" dirty="0"/>
          </a:p>
          <a:p>
            <a:r>
              <a:rPr lang="ja-JP" altLang="en-US" dirty="0"/>
              <a:t>ー講義を聞く。</a:t>
            </a:r>
            <a:endParaRPr lang="en-US" altLang="ja-JP" dirty="0"/>
          </a:p>
          <a:p>
            <a:r>
              <a:rPr lang="ja-JP" altLang="en-US" dirty="0"/>
              <a:t>ー映画、スライド、絵などを見る。</a:t>
            </a:r>
            <a:endParaRPr lang="en-US" altLang="ja-JP" dirty="0"/>
          </a:p>
          <a:p>
            <a:r>
              <a:rPr lang="ja-JP" altLang="en-US" dirty="0"/>
              <a:t>ー現場を見学する。</a:t>
            </a:r>
            <a:endParaRPr lang="en-US" altLang="ja-JP" dirty="0"/>
          </a:p>
          <a:p>
            <a:r>
              <a:rPr lang="ja-JP" altLang="en-US" dirty="0"/>
              <a:t>ー討論、ディベート、劇、ロールプレイ</a:t>
            </a:r>
            <a:endParaRPr lang="en-US" altLang="ja-JP" dirty="0"/>
          </a:p>
          <a:p>
            <a:r>
              <a:rPr lang="ja-JP" altLang="en-US" dirty="0"/>
              <a:t>ー語彙の連想ゲーム　など　</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dirty="0">
                <a:solidFill>
                  <a:srgbClr val="00B0F0"/>
                </a:solidFill>
              </a:rPr>
              <a:t>ディベート</a:t>
            </a:r>
            <a:br>
              <a:rPr lang="en-US" altLang="ja-JP" dirty="0">
                <a:solidFill>
                  <a:srgbClr val="00B0F0"/>
                </a:solidFill>
              </a:rPr>
            </a:br>
            <a:r>
              <a:rPr lang="en-US" altLang="ja-JP" sz="3100" dirty="0">
                <a:solidFill>
                  <a:srgbClr val="00B0F0"/>
                </a:solidFill>
              </a:rPr>
              <a:t>https://nihongodebate.wixsite.com/korea/debate</a:t>
            </a:r>
            <a:endParaRPr lang="ko-KR" altLang="en-US" sz="3100" dirty="0">
              <a:solidFill>
                <a:srgbClr val="00B0F0"/>
              </a:solidFill>
            </a:endParaRPr>
          </a:p>
        </p:txBody>
      </p:sp>
      <p:sp>
        <p:nvSpPr>
          <p:cNvPr id="3" name="내용 개체 틀 2"/>
          <p:cNvSpPr>
            <a:spLocks noGrp="1"/>
          </p:cNvSpPr>
          <p:nvPr>
            <p:ph idx="1"/>
          </p:nvPr>
        </p:nvSpPr>
        <p:spPr>
          <a:xfrm>
            <a:off x="179512" y="1600200"/>
            <a:ext cx="8507288" cy="4525963"/>
          </a:xfrm>
        </p:spPr>
        <p:txBody>
          <a:bodyPr>
            <a:normAutofit fontScale="92500"/>
          </a:bodyPr>
          <a:lstStyle/>
          <a:p>
            <a:r>
              <a:rPr lang="ja-JP" altLang="en-US" dirty="0"/>
              <a:t>恋愛：</a:t>
            </a:r>
            <a:endParaRPr lang="en-US" altLang="ja-JP" dirty="0"/>
          </a:p>
          <a:p>
            <a:pPr marL="0" indent="0">
              <a:buNone/>
            </a:pPr>
            <a:r>
              <a:rPr lang="ja-JP" altLang="en-US" dirty="0"/>
              <a:t>　　昔の恋人の写真、捨てる？捨てない？</a:t>
            </a:r>
            <a:endParaRPr lang="en-US" altLang="ja-JP" dirty="0"/>
          </a:p>
          <a:p>
            <a:pPr lvl="0"/>
            <a:r>
              <a:rPr lang="ja-JP" altLang="en-US" dirty="0">
                <a:solidFill>
                  <a:prstClr val="black"/>
                </a:solidFill>
              </a:rPr>
              <a:t>スマホ：</a:t>
            </a:r>
            <a:endParaRPr lang="en-US" altLang="ja-JP" dirty="0"/>
          </a:p>
          <a:p>
            <a:pPr marL="0" indent="0">
              <a:buNone/>
            </a:pPr>
            <a:r>
              <a:rPr lang="ja-JP" altLang="en-US" dirty="0"/>
              <a:t>　　恋人の携帯を無断で見ることに賛成？反対？</a:t>
            </a:r>
            <a:endParaRPr lang="en-US" altLang="ja-JP" dirty="0"/>
          </a:p>
          <a:p>
            <a:pPr marL="0" indent="0">
              <a:buNone/>
            </a:pPr>
            <a:r>
              <a:rPr lang="ja-JP" altLang="en-US" dirty="0"/>
              <a:t>　　小学生にスマホを持たせることに賛成？反対？</a:t>
            </a:r>
            <a:endParaRPr lang="en-US" altLang="ja-JP" dirty="0"/>
          </a:p>
          <a:p>
            <a:pPr lvl="0"/>
            <a:r>
              <a:rPr lang="ja-JP" altLang="en-US" dirty="0"/>
              <a:t>教育：</a:t>
            </a:r>
            <a:endParaRPr lang="en-US" altLang="ja-JP" dirty="0"/>
          </a:p>
          <a:p>
            <a:pPr marL="0" indent="0">
              <a:buNone/>
            </a:pPr>
            <a:r>
              <a:rPr lang="ja-JP" altLang="en-US" dirty="0"/>
              <a:t>　　海外の大学のような「入学は広き門、卒業は狭き</a:t>
            </a:r>
            <a:endParaRPr lang="en-US" altLang="ja-JP" dirty="0"/>
          </a:p>
          <a:p>
            <a:pPr marL="0" indent="0">
              <a:buNone/>
            </a:pPr>
            <a:r>
              <a:rPr lang="ja-JP" altLang="en-US" dirty="0"/>
              <a:t>　　門」に対して賛成？反対？</a:t>
            </a:r>
            <a:endParaRPr lang="en-US" altLang="ja-JP" dirty="0"/>
          </a:p>
          <a:p>
            <a:endParaRPr lang="ko-KR" altLang="en-US" dirty="0"/>
          </a:p>
        </p:txBody>
      </p:sp>
    </p:spTree>
    <p:extLst>
      <p:ext uri="{BB962C8B-B14F-4D97-AF65-F5344CB8AC3E}">
        <p14:creationId xmlns:p14="http://schemas.microsoft.com/office/powerpoint/2010/main" val="1931648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新出語彙の指導法</a:t>
            </a:r>
            <a:r>
              <a:rPr lang="en-US" altLang="ja-JP" dirty="0">
                <a:solidFill>
                  <a:srgbClr val="00B050"/>
                </a:solidFill>
              </a:rPr>
              <a:t>(</a:t>
            </a:r>
            <a:r>
              <a:rPr lang="ja-JP" altLang="en-US" dirty="0">
                <a:solidFill>
                  <a:srgbClr val="00B050"/>
                </a:solidFill>
              </a:rPr>
              <a:t>先行タスク）</a:t>
            </a:r>
            <a:endParaRPr lang="ko-KR" altLang="en-US" dirty="0">
              <a:solidFill>
                <a:srgbClr val="00B050"/>
              </a:solidFill>
            </a:endParaRPr>
          </a:p>
        </p:txBody>
      </p:sp>
      <p:sp>
        <p:nvSpPr>
          <p:cNvPr id="3" name="내용 개체 틀 2"/>
          <p:cNvSpPr>
            <a:spLocks noGrp="1"/>
          </p:cNvSpPr>
          <p:nvPr>
            <p:ph idx="1"/>
          </p:nvPr>
        </p:nvSpPr>
        <p:spPr/>
        <p:txBody>
          <a:bodyPr>
            <a:normAutofit/>
          </a:bodyPr>
          <a:lstStyle/>
          <a:p>
            <a:r>
              <a:rPr lang="ja-JP" altLang="en-US" dirty="0"/>
              <a:t>辞書的意味に限らず、文脈との関係</a:t>
            </a:r>
            <a:r>
              <a:rPr lang="en-US" altLang="ja-JP" dirty="0"/>
              <a:t>(</a:t>
            </a:r>
            <a:r>
              <a:rPr lang="ja-JP" altLang="en-US" dirty="0"/>
              <a:t>背後にあるスキーマ</a:t>
            </a:r>
            <a:r>
              <a:rPr lang="en-US" altLang="ja-JP" dirty="0"/>
              <a:t>)</a:t>
            </a:r>
            <a:r>
              <a:rPr lang="ja-JP" altLang="en-US" dirty="0"/>
              <a:t>を持たせつつその総体を学習させる。</a:t>
            </a:r>
            <a:endParaRPr lang="en-US" altLang="ja-JP" dirty="0"/>
          </a:p>
          <a:p>
            <a:pPr marL="0" indent="0">
              <a:buNone/>
            </a:pPr>
            <a:r>
              <a:rPr lang="en-US" altLang="ja-JP" sz="2400" dirty="0"/>
              <a:t>-</a:t>
            </a:r>
            <a:r>
              <a:rPr lang="ja-JP" altLang="en-US" sz="2400" dirty="0"/>
              <a:t>駅弁は</a:t>
            </a:r>
            <a:r>
              <a:rPr lang="en-US" altLang="ja-JP" sz="2400" dirty="0"/>
              <a:t>1885</a:t>
            </a:r>
            <a:r>
              <a:rPr lang="ja-JP" altLang="en-US" sz="2400" dirty="0"/>
              <a:t>年ごろ、栃木県にある宇都宮駅でおにぎり２個とたくわんを</a:t>
            </a:r>
            <a:r>
              <a:rPr lang="ja-JP" altLang="en-US" sz="2400" u="sng" dirty="0">
                <a:solidFill>
                  <a:srgbClr val="FF0000"/>
                </a:solidFill>
              </a:rPr>
              <a:t>竹の皮</a:t>
            </a:r>
            <a:r>
              <a:rPr lang="ja-JP" altLang="en-US" sz="2400" dirty="0"/>
              <a:t>で包んで販売したのが始まりだそうです。</a:t>
            </a:r>
            <a:endParaRPr lang="en-US" altLang="ja-JP" sz="2400" dirty="0"/>
          </a:p>
          <a:p>
            <a:pPr marL="0" indent="0">
              <a:buNone/>
            </a:pPr>
            <a:r>
              <a:rPr lang="en-US" altLang="ja-JP" sz="1700" dirty="0">
                <a:hlinkClick r:id="rId3"/>
              </a:rPr>
              <a:t>-------</a:t>
            </a:r>
            <a:r>
              <a:rPr lang="ja-JP" altLang="en-US" sz="1700" u="sng" dirty="0">
                <a:hlinkClick r:id="rId3"/>
              </a:rPr>
              <a:t>竹の子</a:t>
            </a:r>
            <a:r>
              <a:rPr lang="ja-JP" altLang="en-US" sz="1700" u="sng" dirty="0"/>
              <a:t>を包んでいる</a:t>
            </a:r>
            <a:r>
              <a:rPr lang="ja-JP" altLang="en-US" sz="1700" u="sng" dirty="0">
                <a:hlinkClick r:id="rId4"/>
              </a:rPr>
              <a:t>鱗片</a:t>
            </a:r>
            <a:r>
              <a:rPr lang="en-US" altLang="ja-JP" sz="1700" u="sng" dirty="0"/>
              <a:t>(</a:t>
            </a:r>
            <a:r>
              <a:rPr lang="ja-JP" altLang="en-US" sz="1700" u="sng" dirty="0"/>
              <a:t>りんぺん</a:t>
            </a:r>
            <a:r>
              <a:rPr lang="ko-KR" altLang="en-US" sz="1700" u="sng" dirty="0"/>
              <a:t>비늘조각</a:t>
            </a:r>
            <a:r>
              <a:rPr lang="en-US" altLang="ja-JP" sz="1700" u="sng" dirty="0"/>
              <a:t>)</a:t>
            </a:r>
            <a:r>
              <a:rPr lang="ja-JP" altLang="en-US" sz="1700" u="sng" dirty="0"/>
              <a:t>状の皮。生長するに従って自然にはげ落ちる。たけかわ</a:t>
            </a:r>
            <a:r>
              <a:rPr lang="ja-JP" altLang="en-US" sz="1700" dirty="0"/>
              <a:t>。 </a:t>
            </a:r>
            <a:endParaRPr lang="en-US" altLang="ja-JP" sz="1700" dirty="0"/>
          </a:p>
          <a:p>
            <a:endParaRPr lang="en-US" altLang="ja-JP" sz="1700" dirty="0"/>
          </a:p>
          <a:p>
            <a:r>
              <a:rPr lang="ja-JP" altLang="en-US" dirty="0"/>
              <a:t>これから読むテキストの意味理解のために鍵になる語彙</a:t>
            </a:r>
            <a:r>
              <a:rPr lang="en-US" altLang="ja-JP" dirty="0"/>
              <a:t>(</a:t>
            </a:r>
            <a:r>
              <a:rPr lang="ja-JP" altLang="en-US" dirty="0"/>
              <a:t>キーワード</a:t>
            </a:r>
            <a:r>
              <a:rPr lang="en-US" altLang="ja-JP" dirty="0"/>
              <a:t>)</a:t>
            </a:r>
            <a:r>
              <a:rPr lang="ja-JP" altLang="en-US" dirty="0"/>
              <a:t>を対象</a:t>
            </a:r>
            <a:endParaRPr lang="en-US" altLang="ja-JP" dirty="0"/>
          </a:p>
          <a:p>
            <a:pPr>
              <a:buNone/>
            </a:pP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fontScale="90000"/>
          </a:bodyPr>
          <a:lstStyle/>
          <a:p>
            <a:r>
              <a:rPr lang="ja-JP" altLang="en-US" dirty="0">
                <a:solidFill>
                  <a:srgbClr val="00B050"/>
                </a:solidFill>
              </a:rPr>
              <a:t>読解そのもの</a:t>
            </a:r>
            <a:br>
              <a:rPr lang="en-US" altLang="ja-JP" dirty="0">
                <a:solidFill>
                  <a:srgbClr val="00B050"/>
                </a:solidFill>
              </a:rPr>
            </a:br>
            <a:r>
              <a:rPr lang="ja-JP" altLang="en-US" sz="3600" dirty="0">
                <a:solidFill>
                  <a:srgbClr val="00B050"/>
                </a:solidFill>
              </a:rPr>
              <a:t>ー予測と検証及び未知の語彙・文型の推測ー</a:t>
            </a:r>
            <a:endParaRPr lang="ko-KR" altLang="en-US" sz="3600" dirty="0">
              <a:solidFill>
                <a:srgbClr val="00B050"/>
              </a:solidFill>
            </a:endParaRPr>
          </a:p>
        </p:txBody>
      </p:sp>
      <p:sp>
        <p:nvSpPr>
          <p:cNvPr id="3" name="내용 개체 틀 2"/>
          <p:cNvSpPr>
            <a:spLocks noGrp="1"/>
          </p:cNvSpPr>
          <p:nvPr>
            <p:ph idx="1"/>
          </p:nvPr>
        </p:nvSpPr>
        <p:spPr/>
        <p:txBody>
          <a:bodyPr/>
          <a:lstStyle/>
          <a:p>
            <a:endParaRPr lang="en-US" altLang="ja-JP" dirty="0"/>
          </a:p>
          <a:p>
            <a:r>
              <a:rPr lang="ja-JP" altLang="en-US" dirty="0"/>
              <a:t>予測ー検証という読み方を促進するための具体的な活動</a:t>
            </a:r>
            <a:endParaRPr lang="en-US" altLang="ja-JP" dirty="0"/>
          </a:p>
          <a:p>
            <a:endParaRPr lang="en-US" altLang="ja-JP" dirty="0"/>
          </a:p>
          <a:p>
            <a:pPr>
              <a:buFont typeface="Wingdings" pitchFamily="2" charset="2"/>
              <a:buChar char="Ø"/>
            </a:pPr>
            <a:r>
              <a:rPr lang="ja-JP" altLang="en-US" dirty="0"/>
              <a:t>テキストの全体を一度に見せないで、少しずつ与え、次に何が来るか予測させる。</a:t>
            </a:r>
            <a:endParaRPr lang="en-US" altLang="ja-JP" dirty="0"/>
          </a:p>
          <a:p>
            <a:pPr>
              <a:buFont typeface="Wingdings" pitchFamily="2" charset="2"/>
              <a:buChar char="Ø"/>
            </a:pPr>
            <a:r>
              <a:rPr lang="ja-JP" altLang="en-US" dirty="0"/>
              <a:t>最初と最後の段落</a:t>
            </a:r>
            <a:r>
              <a:rPr lang="en-US" altLang="ja-JP" dirty="0"/>
              <a:t>(</a:t>
            </a:r>
            <a:r>
              <a:rPr lang="ja-JP" altLang="en-US" dirty="0"/>
              <a:t>文）のみを与えて、その間に何が来るか予測させる。</a:t>
            </a:r>
            <a:endParaRPr lang="en-US" altLang="ja-JP" dirty="0"/>
          </a:p>
          <a:p>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a:xfrm>
            <a:off x="285720" y="1600200"/>
            <a:ext cx="8715436" cy="4525963"/>
          </a:xfrm>
        </p:spPr>
        <p:txBody>
          <a:bodyPr>
            <a:normAutofit fontScale="77500" lnSpcReduction="20000"/>
          </a:bodyPr>
          <a:lstStyle/>
          <a:p>
            <a:pPr>
              <a:buFont typeface="Wingdings" pitchFamily="2" charset="2"/>
              <a:buChar char="Ø"/>
            </a:pPr>
            <a:r>
              <a:rPr lang="ja-JP" altLang="en-US" dirty="0"/>
              <a:t>順不同に並べられた段落</a:t>
            </a:r>
            <a:r>
              <a:rPr lang="en-US" altLang="ja-JP" dirty="0"/>
              <a:t>(</a:t>
            </a:r>
            <a:r>
              <a:rPr lang="ja-JP" altLang="en-US" dirty="0"/>
              <a:t>文</a:t>
            </a:r>
            <a:r>
              <a:rPr lang="en-US" altLang="ja-JP" dirty="0"/>
              <a:t>)</a:t>
            </a:r>
            <a:r>
              <a:rPr lang="ja-JP" altLang="en-US" dirty="0"/>
              <a:t>をもとの正しい順番に直す。</a:t>
            </a:r>
            <a:endParaRPr lang="en-US" altLang="ja-JP" dirty="0"/>
          </a:p>
          <a:p>
            <a:pPr>
              <a:buFont typeface="Wingdings" pitchFamily="2" charset="2"/>
              <a:buChar char="Ø"/>
            </a:pPr>
            <a:r>
              <a:rPr lang="ja-JP" altLang="en-US" dirty="0"/>
              <a:t>タイトルや見出しをもとにテキストを読めば答えられるであろう質問を作る。</a:t>
            </a:r>
            <a:endParaRPr lang="en-US" altLang="ja-JP" dirty="0"/>
          </a:p>
          <a:p>
            <a:pPr>
              <a:buFont typeface="Wingdings" pitchFamily="2" charset="2"/>
              <a:buChar char="Ø"/>
            </a:pPr>
            <a:r>
              <a:rPr lang="ja-JP" altLang="en-US" dirty="0"/>
              <a:t>一段落だけ落ちたテキストと落とされた段落を与え元の所に入れる。</a:t>
            </a:r>
            <a:endParaRPr lang="en-US" altLang="ja-JP" dirty="0"/>
          </a:p>
          <a:p>
            <a:pPr>
              <a:buFont typeface="Wingdings" pitchFamily="2" charset="2"/>
              <a:buChar char="Ø"/>
            </a:pPr>
            <a:endParaRPr lang="en-US" altLang="ja-JP" dirty="0"/>
          </a:p>
          <a:p>
            <a:pPr>
              <a:buFont typeface="Wingdings" pitchFamily="2" charset="2"/>
              <a:buChar char="Ø"/>
            </a:pPr>
            <a:r>
              <a:rPr lang="ja-JP" altLang="en-US" dirty="0">
                <a:solidFill>
                  <a:srgbClr val="0070C0"/>
                </a:solidFill>
              </a:rPr>
              <a:t>クローズ法</a:t>
            </a:r>
            <a:r>
              <a:rPr lang="ja-JP" altLang="en-US" dirty="0"/>
              <a:t>：前後関係の文脈やスキーマを活用</a:t>
            </a:r>
            <a:endParaRPr lang="en-US" altLang="ja-JP" dirty="0"/>
          </a:p>
          <a:p>
            <a:pPr>
              <a:buNone/>
            </a:pPr>
            <a:r>
              <a:rPr lang="ja-JP" altLang="en-US" dirty="0"/>
              <a:t>　　これから、じゅぎょうを</a:t>
            </a:r>
            <a:r>
              <a:rPr lang="ja-JP" altLang="en-US"/>
              <a:t>はじ（め）ます。</a:t>
            </a:r>
            <a:r>
              <a:rPr lang="ko-Kore-KR" altLang="en-US" dirty="0"/>
              <a:t>今から出席を（</a:t>
            </a:r>
            <a:r>
              <a:rPr lang="ja-JP" altLang="en-US"/>
              <a:t>　）</a:t>
            </a:r>
            <a:r>
              <a:rPr lang="ko-Kore-KR" altLang="en-US" dirty="0"/>
              <a:t>ります。テストの件です（が</a:t>
            </a:r>
            <a:r>
              <a:rPr lang="ja-JP" altLang="en-US"/>
              <a:t>）、</a:t>
            </a:r>
            <a:r>
              <a:rPr lang="ko-Kore-KR" altLang="en-US" dirty="0"/>
              <a:t>来週の水曜日（</a:t>
            </a:r>
            <a:r>
              <a:rPr lang="ja-JP" altLang="en-US"/>
              <a:t>）３時３０</a:t>
            </a:r>
            <a:endParaRPr lang="en-US" altLang="ja-JP" dirty="0"/>
          </a:p>
          <a:p>
            <a:pPr>
              <a:buNone/>
            </a:pPr>
            <a:r>
              <a:rPr lang="en-US" altLang="ja-JP" dirty="0"/>
              <a:t>①</a:t>
            </a:r>
            <a:r>
              <a:rPr lang="ja-JP" altLang="en-US"/>
              <a:t>めの</a:t>
            </a:r>
            <a:endParaRPr lang="en-US" altLang="ja-JP" dirty="0"/>
          </a:p>
          <a:p>
            <a:pPr>
              <a:buNone/>
            </a:pPr>
            <a:r>
              <a:rPr lang="ko-Kore-KR" altLang="en-US" dirty="0"/>
              <a:t>②ま</a:t>
            </a:r>
            <a:endParaRPr lang="en-US" altLang="ko-Kore-KR" dirty="0"/>
          </a:p>
          <a:p>
            <a:pPr>
              <a:buNone/>
            </a:pPr>
            <a:r>
              <a:rPr lang="ko-Kore-KR" altLang="en-US" dirty="0"/>
              <a:t>③く</a:t>
            </a:r>
            <a:endParaRPr lang="en-US" altLang="ko-Kore-KR" dirty="0"/>
          </a:p>
          <a:p>
            <a:pPr>
              <a:buNone/>
            </a:pPr>
            <a:endParaRPr lang="en-US" altLang="ja-JP" dirty="0"/>
          </a:p>
          <a:p>
            <a:pPr>
              <a:buNone/>
            </a:pPr>
            <a:endParaRPr lang="ko-KR"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t>⇔単語や文字を一つ一つ漠然と追うのではなく、予測を立てながらその予測を検証するために、つまり能動的に読むという読み方</a:t>
            </a:r>
            <a:endParaRPr lang="en-US" altLang="ja-JP" dirty="0"/>
          </a:p>
          <a:p>
            <a:endParaRPr lang="en-US" altLang="ja-JP" dirty="0"/>
          </a:p>
          <a:p>
            <a:r>
              <a:rPr lang="ja-JP" altLang="en-US" dirty="0"/>
              <a:t>以上の活動は先生を中心にクラス全体で進めていくことが多いが、一斉授業ではなく、個々の学習者が自分のことを一つひとつ具体的に報告できるようにグループあるいはペアワークとする方が効果的</a:t>
            </a:r>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57200" y="214290"/>
            <a:ext cx="8229600" cy="1203348"/>
          </a:xfrm>
        </p:spPr>
        <p:txBody>
          <a:bodyPr>
            <a:normAutofit fontScale="90000"/>
          </a:bodyPr>
          <a:lstStyle/>
          <a:p>
            <a:br>
              <a:rPr lang="en-US" altLang="ja-JP" dirty="0"/>
            </a:br>
            <a:r>
              <a:rPr lang="ja-JP" altLang="en-US" dirty="0">
                <a:solidFill>
                  <a:srgbClr val="00B050"/>
                </a:solidFill>
              </a:rPr>
              <a:t>フォローアップ</a:t>
            </a:r>
            <a:br>
              <a:rPr lang="en-US" altLang="ja-JP" dirty="0">
                <a:solidFill>
                  <a:srgbClr val="00B050"/>
                </a:solidFill>
              </a:rPr>
            </a:br>
            <a:r>
              <a:rPr lang="ja-JP" altLang="en-US" sz="3600" dirty="0">
                <a:solidFill>
                  <a:srgbClr val="00B050"/>
                </a:solidFill>
              </a:rPr>
              <a:t>ースキーマの整理・結合、意思決定ー</a:t>
            </a:r>
            <a:br>
              <a:rPr lang="ko-KR" altLang="en-US" dirty="0">
                <a:solidFill>
                  <a:srgbClr val="00B050"/>
                </a:solidFill>
              </a:rPr>
            </a:br>
            <a:endParaRPr lang="ko-KR" altLang="en-US" dirty="0">
              <a:solidFill>
                <a:srgbClr val="00B050"/>
              </a:solidFill>
            </a:endParaRPr>
          </a:p>
        </p:txBody>
      </p:sp>
      <p:sp>
        <p:nvSpPr>
          <p:cNvPr id="3" name="내용 개체 틀 2"/>
          <p:cNvSpPr>
            <a:spLocks noGrp="1"/>
          </p:cNvSpPr>
          <p:nvPr>
            <p:ph idx="1"/>
          </p:nvPr>
        </p:nvSpPr>
        <p:spPr/>
        <p:txBody>
          <a:bodyPr/>
          <a:lstStyle/>
          <a:p>
            <a:r>
              <a:rPr lang="ja-JP" altLang="en-US" dirty="0"/>
              <a:t>各自が読みの過程で行った意思決定を比べる。</a:t>
            </a:r>
            <a:endParaRPr lang="en-US" altLang="ja-JP" dirty="0"/>
          </a:p>
          <a:p>
            <a:r>
              <a:rPr lang="ja-JP" altLang="en-US" dirty="0"/>
              <a:t>理解したものを行動にうつしてみる。</a:t>
            </a:r>
            <a:endParaRPr lang="en-US" altLang="ja-JP" dirty="0"/>
          </a:p>
          <a:p>
            <a:r>
              <a:rPr lang="ja-JP" altLang="en-US" dirty="0"/>
              <a:t>各自の理解を出し合って話し合う。</a:t>
            </a:r>
            <a:endParaRPr lang="en-US" altLang="ja-JP" dirty="0"/>
          </a:p>
          <a:p>
            <a:r>
              <a:rPr lang="ja-JP" altLang="en-US" dirty="0"/>
              <a:t>自分達の解釈を文章にしてみる。</a:t>
            </a:r>
            <a:endParaRPr lang="en-US" altLang="ja-JP" dirty="0"/>
          </a:p>
          <a:p>
            <a:r>
              <a:rPr lang="ja-JP" altLang="en-US" dirty="0"/>
              <a:t>テキストによっては自分が設定した仮説をテキストの内容に照らして検証したり、あるいは自分が設定した結論を証拠だてたりする。</a:t>
            </a:r>
            <a:endParaRPr lang="ko-KR"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テキストの内容を自分の経験やものの考え方の具体例・典型例につなげたり、自分の思考の枠組みを新たに作り直したりする。</a:t>
            </a:r>
            <a:endParaRPr lang="en-US" altLang="ja-JP" dirty="0"/>
          </a:p>
          <a:p>
            <a:r>
              <a:rPr lang="ja-JP" altLang="en-US" dirty="0"/>
              <a:t>読んだものを素材として、ディベートやロールプレイを行う。</a:t>
            </a:r>
            <a:endParaRPr lang="ko-KR"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solidFill>
                  <a:srgbClr val="0070C0"/>
                </a:solidFill>
              </a:rPr>
              <a:t>読解活動を３段階化して行う</a:t>
            </a:r>
            <a:r>
              <a:rPr lang="ja-JP" altLang="en-US" dirty="0"/>
              <a:t>。</a:t>
            </a:r>
            <a:endParaRPr lang="en-US" altLang="ja-JP" dirty="0"/>
          </a:p>
          <a:p>
            <a:endParaRPr lang="en-US" altLang="ja-JP" dirty="0"/>
          </a:p>
          <a:p>
            <a:pPr>
              <a:buFont typeface="Wingdings" pitchFamily="2" charset="2"/>
              <a:buChar char="Ø"/>
            </a:pPr>
            <a:r>
              <a:rPr lang="ja-JP" altLang="en-US" dirty="0"/>
              <a:t>言語知識がそれほどない段階でも読める。</a:t>
            </a:r>
            <a:endParaRPr lang="en-US" altLang="ja-JP" dirty="0"/>
          </a:p>
          <a:p>
            <a:pPr>
              <a:buFont typeface="Wingdings" pitchFamily="2" charset="2"/>
              <a:buChar char="Ø"/>
            </a:pPr>
            <a:r>
              <a:rPr lang="ja-JP" altLang="en-US" dirty="0"/>
              <a:t>読んで何かができるという成功経験を積む</a:t>
            </a:r>
            <a:endParaRPr lang="en-US" altLang="ja-JP" dirty="0"/>
          </a:p>
          <a:p>
            <a:pPr>
              <a:buNone/>
            </a:pPr>
            <a:r>
              <a:rPr lang="ja-JP" altLang="en-US" dirty="0"/>
              <a:t>　　ことが可能となる。</a:t>
            </a:r>
            <a:endParaRPr lang="en-US" altLang="ja-JP" dirty="0"/>
          </a:p>
          <a:p>
            <a:pPr>
              <a:buFont typeface="Wingdings" pitchFamily="2" charset="2"/>
              <a:buChar char="Ø"/>
            </a:pPr>
            <a:r>
              <a:rPr lang="ja-JP" altLang="en-US" dirty="0"/>
              <a:t>読みは孤独で受身的な作業ではなく、他の人間や他の言語行動ともつながりのある、優れて社会的な活動であることを経験できる。</a:t>
            </a:r>
            <a:endParaRPr lang="ko-KR"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ja-JP" altLang="en-US" dirty="0">
                <a:solidFill>
                  <a:srgbClr val="00B050"/>
                </a:solidFill>
              </a:rPr>
              <a:t>タスク</a:t>
            </a:r>
            <a:r>
              <a:rPr lang="en-US" altLang="ja-JP" dirty="0">
                <a:solidFill>
                  <a:srgbClr val="00B050"/>
                </a:solidFill>
              </a:rPr>
              <a:t>7</a:t>
            </a:r>
            <a:endParaRPr lang="ko-KR" altLang="en-US" dirty="0">
              <a:solidFill>
                <a:srgbClr val="00B050"/>
              </a:solidFill>
            </a:endParaRPr>
          </a:p>
        </p:txBody>
      </p:sp>
      <p:sp>
        <p:nvSpPr>
          <p:cNvPr id="3" name="내용 개체 틀 2"/>
          <p:cNvSpPr>
            <a:spLocks noGrp="1"/>
          </p:cNvSpPr>
          <p:nvPr>
            <p:ph idx="1"/>
          </p:nvPr>
        </p:nvSpPr>
        <p:spPr/>
        <p:txBody>
          <a:bodyPr/>
          <a:lstStyle/>
          <a:p>
            <a:endParaRPr lang="en-US" altLang="ja-JP" dirty="0"/>
          </a:p>
          <a:p>
            <a:endParaRPr lang="en-US" altLang="ja-JP" dirty="0"/>
          </a:p>
          <a:p>
            <a:r>
              <a:rPr lang="ja-JP" altLang="en-US" dirty="0"/>
              <a:t>初級レベルの読解タスクを考えてみましょう。</a:t>
            </a:r>
            <a:endParaRPr lang="en-US" altLang="ja-JP"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デパートの売り場案内図から特定の商品の売り場の階を探す。</a:t>
            </a:r>
            <a:endParaRPr lang="en-US" altLang="ja-JP" dirty="0"/>
          </a:p>
          <a:p>
            <a:r>
              <a:rPr lang="ja-JP" altLang="en-US" dirty="0"/>
              <a:t>競合するスーパーのチラシを比べて安いスーパーを探す。</a:t>
            </a:r>
            <a:endParaRPr lang="en-US" altLang="ja-JP" dirty="0"/>
          </a:p>
          <a:p>
            <a:r>
              <a:rPr lang="ja-JP" altLang="en-US" dirty="0"/>
              <a:t>新聞の番組表で特定の番組を探す。</a:t>
            </a:r>
            <a:endParaRPr lang="en-US" altLang="ja-JP" dirty="0"/>
          </a:p>
          <a:p>
            <a:r>
              <a:rPr lang="ja-JP" altLang="en-US" dirty="0"/>
              <a:t>小型電話帳を使って電話番号を探す。</a:t>
            </a:r>
            <a:endParaRPr lang="en-US" altLang="ja-JP" dirty="0"/>
          </a:p>
          <a:p>
            <a:r>
              <a:rPr lang="ja-JP" altLang="en-US" dirty="0"/>
              <a:t>残されたメモをもとに何か行動を起こす。</a:t>
            </a:r>
            <a:endParaRPr lang="en-US" altLang="ja-JP" dirty="0"/>
          </a:p>
          <a:p>
            <a:r>
              <a:rPr lang="ja-JP" altLang="en-US" dirty="0"/>
              <a:t>レシートを見て間違いがないかチェックする。</a:t>
            </a:r>
            <a:endParaRPr lang="en-US" altLang="ja-JP" dirty="0"/>
          </a:p>
          <a:p>
            <a:pPr>
              <a:buNone/>
            </a:pPr>
            <a:endParaRPr lang="ko-KR"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lnSpcReduction="10000"/>
          </a:bodyPr>
          <a:lstStyle/>
          <a:p>
            <a:r>
              <a:rPr lang="ja-JP" altLang="en-US" dirty="0"/>
              <a:t>どんな目的が設定できるでしょうか。</a:t>
            </a:r>
            <a:endParaRPr lang="ko-KR" altLang="en-US" dirty="0"/>
          </a:p>
          <a:p>
            <a:pPr>
              <a:buFont typeface="Wingdings" pitchFamily="2" charset="2"/>
              <a:buChar char="Ø"/>
            </a:pPr>
            <a:r>
              <a:rPr lang="ja-JP" altLang="en-US" dirty="0"/>
              <a:t>初級レベルの読解タスクとしては、簡単な文章をテキストとして文脈の中での文型や語彙の理解を目指す方法が一般的にとられることが多い。</a:t>
            </a:r>
            <a:endParaRPr lang="en-US" altLang="ja-JP" dirty="0"/>
          </a:p>
          <a:p>
            <a:pPr>
              <a:buFont typeface="Wingdings" pitchFamily="2" charset="2"/>
              <a:buChar char="Ø"/>
            </a:pPr>
            <a:r>
              <a:rPr lang="ja-JP" altLang="en-US" dirty="0"/>
              <a:t>しかし、読解とは書かれたものを使ってできることを最大限増やしていくことがゴール。</a:t>
            </a:r>
            <a:endParaRPr lang="en-US" altLang="ja-JP" dirty="0"/>
          </a:p>
          <a:p>
            <a:pPr>
              <a:buFont typeface="Wingdings" pitchFamily="2" charset="2"/>
              <a:buChar char="Ø"/>
            </a:pPr>
            <a:r>
              <a:rPr lang="ja-JP" altLang="en-US" dirty="0"/>
              <a:t>ただよむだけに読解を限定するのは、片手落ち</a:t>
            </a:r>
            <a:endParaRPr lang="ko-KR"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lstStyle/>
          <a:p>
            <a:r>
              <a:rPr lang="ja-JP" altLang="en-US" dirty="0"/>
              <a:t>第２言語で達成できる生活上の課題</a:t>
            </a:r>
            <a:r>
              <a:rPr lang="en-US" altLang="ja-JP" dirty="0"/>
              <a:t>(</a:t>
            </a:r>
            <a:r>
              <a:rPr lang="ja-JP" altLang="en-US" dirty="0"/>
              <a:t>タスク</a:t>
            </a:r>
            <a:r>
              <a:rPr lang="en-US" altLang="ja-JP" dirty="0"/>
              <a:t>)</a:t>
            </a:r>
            <a:r>
              <a:rPr lang="ja-JP" altLang="en-US" dirty="0"/>
              <a:t>のレパートリーを増やしていく必要がある。</a:t>
            </a:r>
            <a:endParaRPr lang="en-US" altLang="ja-JP" dirty="0"/>
          </a:p>
          <a:p>
            <a:endParaRPr lang="en-US" altLang="ja-JP" dirty="0"/>
          </a:p>
          <a:p>
            <a:r>
              <a:rPr lang="ja-JP" altLang="en-US" dirty="0"/>
              <a:t>日常生活場面を一つ一つチェックしていくと、多様な目的で書かれたものを利用して生活を組み立てている。</a:t>
            </a:r>
            <a:endParaRPr lang="en-US" altLang="ja-JP" dirty="0"/>
          </a:p>
          <a:p>
            <a:endParaRPr lang="ko-KR"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00B050"/>
                </a:solidFill>
              </a:rPr>
              <a:t>中・上級レベルの読解教材</a:t>
            </a:r>
            <a:endParaRPr lang="ko-KR" altLang="en-US" dirty="0">
              <a:solidFill>
                <a:srgbClr val="00B050"/>
              </a:solidFill>
            </a:endParaRPr>
          </a:p>
        </p:txBody>
      </p:sp>
      <p:sp>
        <p:nvSpPr>
          <p:cNvPr id="3" name="내용 개체 틀 2"/>
          <p:cNvSpPr>
            <a:spLocks noGrp="1"/>
          </p:cNvSpPr>
          <p:nvPr>
            <p:ph idx="1"/>
          </p:nvPr>
        </p:nvSpPr>
        <p:spPr>
          <a:xfrm>
            <a:off x="457200" y="1600200"/>
            <a:ext cx="8229600" cy="4757758"/>
          </a:xfrm>
        </p:spPr>
        <p:txBody>
          <a:bodyPr>
            <a:normAutofit lnSpcReduction="10000"/>
          </a:bodyPr>
          <a:lstStyle/>
          <a:p>
            <a:r>
              <a:rPr lang="ja-JP" altLang="en-US" dirty="0">
                <a:solidFill>
                  <a:srgbClr val="0070C0"/>
                </a:solidFill>
              </a:rPr>
              <a:t>トピック</a:t>
            </a:r>
            <a:endParaRPr lang="en-US" altLang="ja-JP" dirty="0">
              <a:solidFill>
                <a:srgbClr val="0070C0"/>
              </a:solidFill>
            </a:endParaRPr>
          </a:p>
          <a:p>
            <a:pPr>
              <a:buFont typeface="Wingdings" pitchFamily="2" charset="2"/>
              <a:buChar char="Ø"/>
            </a:pPr>
            <a:r>
              <a:rPr lang="ja-JP" altLang="en-US" dirty="0"/>
              <a:t>学習者が興味がありよく知っているものがよい。→学習者の背景知識を利用することができるから。</a:t>
            </a:r>
            <a:endParaRPr lang="en-US" altLang="ja-JP" dirty="0"/>
          </a:p>
          <a:p>
            <a:pPr>
              <a:buNone/>
            </a:pPr>
            <a:endParaRPr lang="en-US" altLang="ja-JP" dirty="0"/>
          </a:p>
          <a:p>
            <a:r>
              <a:rPr lang="ja-JP" altLang="en-US" dirty="0">
                <a:solidFill>
                  <a:srgbClr val="0070C0"/>
                </a:solidFill>
              </a:rPr>
              <a:t>テキストの構造</a:t>
            </a:r>
            <a:endParaRPr lang="en-US" altLang="ja-JP" dirty="0">
              <a:solidFill>
                <a:srgbClr val="0070C0"/>
              </a:solidFill>
            </a:endParaRPr>
          </a:p>
          <a:p>
            <a:pPr>
              <a:buFont typeface="Wingdings" pitchFamily="2" charset="2"/>
              <a:buChar char="Ø"/>
            </a:pPr>
            <a:r>
              <a:rPr lang="ja-JP" altLang="en-US" dirty="0"/>
              <a:t>記述・列挙型の構造を持ったテキストと比較・対照型・因果型のようにはっきりとした構造を持ったテキストでは後者の方が読みやすい。</a:t>
            </a:r>
            <a:endParaRPr lang="en-US" altLang="ja-JP" dirty="0"/>
          </a:p>
          <a:p>
            <a:endParaRPr lang="en-US" altLang="ja-JP" dirty="0"/>
          </a:p>
          <a:p>
            <a:endParaRPr lang="ko-KR"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ormAutofit/>
          </a:bodyPr>
          <a:lstStyle/>
          <a:p>
            <a:r>
              <a:rPr lang="ja-JP" altLang="en-US" dirty="0">
                <a:solidFill>
                  <a:srgbClr val="00B050"/>
                </a:solidFill>
              </a:rPr>
              <a:t>タスク</a:t>
            </a:r>
            <a:r>
              <a:rPr lang="en-US" altLang="ja-JP" dirty="0">
                <a:solidFill>
                  <a:srgbClr val="00B050"/>
                </a:solidFill>
              </a:rPr>
              <a:t>8</a:t>
            </a:r>
            <a:endParaRPr lang="ko-KR" altLang="en-US" dirty="0"/>
          </a:p>
        </p:txBody>
      </p:sp>
      <p:sp>
        <p:nvSpPr>
          <p:cNvPr id="3" name="내용 개체 틀 2"/>
          <p:cNvSpPr>
            <a:spLocks noGrp="1"/>
          </p:cNvSpPr>
          <p:nvPr>
            <p:ph idx="1"/>
          </p:nvPr>
        </p:nvSpPr>
        <p:spPr/>
        <p:txBody>
          <a:bodyPr/>
          <a:lstStyle/>
          <a:p>
            <a:r>
              <a:rPr lang="ja-JP" altLang="en-US" dirty="0">
                <a:solidFill>
                  <a:srgbClr val="0070C0"/>
                </a:solidFill>
              </a:rPr>
              <a:t>読み書きの導入段階</a:t>
            </a:r>
            <a:endParaRPr lang="en-US" altLang="ja-JP" dirty="0">
              <a:solidFill>
                <a:srgbClr val="0070C0"/>
              </a:solidFill>
            </a:endParaRPr>
          </a:p>
          <a:p>
            <a:endParaRPr lang="en-US" altLang="ja-JP" dirty="0"/>
          </a:p>
          <a:p>
            <a:pPr>
              <a:buFont typeface="Wingdings" pitchFamily="2" charset="2"/>
              <a:buChar char="Ø"/>
            </a:pPr>
            <a:r>
              <a:rPr lang="ja-JP" altLang="en-US" dirty="0"/>
              <a:t>話し言葉を教え口頭能力が十分ついた段階で読み書きを導入するという考え方。</a:t>
            </a:r>
            <a:endParaRPr lang="en-US" altLang="ja-JP" dirty="0"/>
          </a:p>
          <a:p>
            <a:pPr>
              <a:buFont typeface="Wingdings" pitchFamily="2" charset="2"/>
              <a:buChar char="Ø"/>
            </a:pPr>
            <a:r>
              <a:rPr lang="ja-JP" altLang="en-US" dirty="0"/>
              <a:t>読み書きも平行して総合的に言葉を教えるという考え方。</a:t>
            </a:r>
            <a:endParaRPr lang="en-US" altLang="ja-JP" dirty="0"/>
          </a:p>
          <a:p>
            <a:endParaRPr lang="en-US" altLang="ko-KR" dirty="0"/>
          </a:p>
          <a:p>
            <a:r>
              <a:rPr lang="ja-JP" altLang="en-US" dirty="0"/>
              <a:t>どちらがいいでしょうか。</a:t>
            </a:r>
            <a:endParaRPr lang="ko-KR"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endParaRPr lang="ko-KR" altLang="en-US"/>
          </a:p>
        </p:txBody>
      </p:sp>
      <p:sp>
        <p:nvSpPr>
          <p:cNvPr id="3" name="내용 개체 틀 2"/>
          <p:cNvSpPr>
            <a:spLocks noGrp="1"/>
          </p:cNvSpPr>
          <p:nvPr>
            <p:ph idx="1"/>
          </p:nvPr>
        </p:nvSpPr>
        <p:spPr/>
        <p:txBody>
          <a:bodyPr>
            <a:normAutofit fontScale="92500"/>
          </a:bodyPr>
          <a:lstStyle/>
          <a:p>
            <a:r>
              <a:rPr lang="ja-JP" altLang="en-US" dirty="0"/>
              <a:t>成人学習者を対象とする第２言語教育では、主に話</a:t>
            </a:r>
            <a:r>
              <a:rPr lang="en-US" altLang="ja-JP" dirty="0"/>
              <a:t>(</a:t>
            </a:r>
            <a:r>
              <a:rPr lang="ja-JP" altLang="en-US" dirty="0"/>
              <a:t>わ）や聴きを通して行われる語彙や文法の学習と読み書きを平行して総合的に行うメリットは極めて大きい。</a:t>
            </a:r>
            <a:endParaRPr lang="en-US" altLang="ja-JP" dirty="0"/>
          </a:p>
          <a:p>
            <a:endParaRPr lang="en-US" altLang="ja-JP" dirty="0"/>
          </a:p>
          <a:p>
            <a:r>
              <a:rPr lang="ja-JP" altLang="en-US" dirty="0"/>
              <a:t>成人が一般的に備えていると考えられるトップダウン技能を補償的に使って読解を進めながら、他方でボトムアップ技能を軸に語彙力・文法力の向上に努める方が賢明であり、現実的である。</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2547</TotalTime>
  <Words>2039</Words>
  <Application>Microsoft Office PowerPoint</Application>
  <PresentationFormat>화면 슬라이드 쇼(4:3)</PresentationFormat>
  <Paragraphs>189</Paragraphs>
  <Slides>32</Slides>
  <Notes>31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32</vt:i4>
      </vt:variant>
    </vt:vector>
  </HeadingPairs>
  <TitlesOfParts>
    <vt:vector size="36" baseType="lpstr">
      <vt:lpstr>맑은 고딕</vt:lpstr>
      <vt:lpstr>Arial</vt:lpstr>
      <vt:lpstr>Wingdings</vt:lpstr>
      <vt:lpstr>Office 테마</vt:lpstr>
      <vt:lpstr>理解の過程をめぐる研究と現場への示唆</vt:lpstr>
      <vt:lpstr>読みへの熟達 －読むことをどう教えるかｰ</vt:lpstr>
      <vt:lpstr>PowerPoint 프레젠테이션</vt:lpstr>
      <vt:lpstr>PowerPoint 프레젠테이션</vt:lpstr>
      <vt:lpstr>PowerPoint 프레젠테이션</vt:lpstr>
      <vt:lpstr>読解力の養成に向けての青写真</vt:lpstr>
      <vt:lpstr>タスク６</vt:lpstr>
      <vt:lpstr>PowerPoint 프레젠테이션</vt:lpstr>
      <vt:lpstr>個人読解の長所と問題点</vt:lpstr>
      <vt:lpstr>PowerPoint 프레젠테이션</vt:lpstr>
      <vt:lpstr>個人読解の問題点</vt:lpstr>
      <vt:lpstr>グループ読解の長所</vt:lpstr>
      <vt:lpstr>読む量の確保 －個人読解とグループ読解の統合を通してー</vt:lpstr>
      <vt:lpstr>読解に対する見方の一つ</vt:lpstr>
      <vt:lpstr>解決策</vt:lpstr>
      <vt:lpstr>PowerPoint 프레젠테이션</vt:lpstr>
      <vt:lpstr> 先行タスクの活動例 </vt:lpstr>
      <vt:lpstr>ディベート https://nihongodebate.wixsite.com/korea/debate</vt:lpstr>
      <vt:lpstr>新出語彙の指導法(先行タスク）</vt:lpstr>
      <vt:lpstr>読解そのもの ー予測と検証及び未知の語彙・文型の推測ー</vt:lpstr>
      <vt:lpstr>PowerPoint 프레젠테이션</vt:lpstr>
      <vt:lpstr>PowerPoint 프레젠테이션</vt:lpstr>
      <vt:lpstr> フォローアップ ースキーマの整理・結合、意思決定ー </vt:lpstr>
      <vt:lpstr>PowerPoint 프레젠테이션</vt:lpstr>
      <vt:lpstr>PowerPoint 프레젠테이션</vt:lpstr>
      <vt:lpstr>タスク7</vt:lpstr>
      <vt:lpstr>PowerPoint 프레젠테이션</vt:lpstr>
      <vt:lpstr>PowerPoint 프레젠테이션</vt:lpstr>
      <vt:lpstr>PowerPoint 프레젠테이션</vt:lpstr>
      <vt:lpstr>中・上級レベルの読解教材</vt:lpstr>
      <vt:lpstr>タスク8</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理解（読むこと・聴くこと）の過程をめぐる研究と現場への示唆</dc:title>
  <dc:creator>user</dc:creator>
  <cp:lastModifiedBy>영남 조</cp:lastModifiedBy>
  <cp:revision>241</cp:revision>
  <dcterms:created xsi:type="dcterms:W3CDTF">2009-09-09T01:25:59Z</dcterms:created>
  <dcterms:modified xsi:type="dcterms:W3CDTF">2025-11-11T22:31:03Z</dcterms:modified>
</cp:coreProperties>
</file>