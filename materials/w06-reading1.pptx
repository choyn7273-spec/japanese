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handoutMasterIdLst>
    <p:handoutMasterId r:id="rId3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90" r:id="rId25"/>
    <p:sldId id="279" r:id="rId26"/>
    <p:sldId id="280" r:id="rId27"/>
    <p:sldId id="281" r:id="rId28"/>
    <p:sldId id="282" r:id="rId29"/>
    <p:sldId id="283" r:id="rId30"/>
    <p:sldId id="284" r:id="rId31"/>
    <p:sldId id="285" r:id="rId32"/>
    <p:sldId id="286" r:id="rId33"/>
    <p:sldId id="287" r:id="rId34"/>
    <p:sldId id="288" r:id="rId35"/>
    <p:sldId id="289" r:id="rId36"/>
  </p:sldIdLst>
  <p:sldSz cx="9144000" cy="6858000" type="screen4x3"/>
  <p:notesSz cx="6805613" cy="99393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48" autoAdjust="0"/>
    <p:restoredTop sz="86414" autoAdjust="0"/>
  </p:normalViewPr>
  <p:slideViewPr>
    <p:cSldViewPr>
      <p:cViewPr varScale="1">
        <p:scale>
          <a:sx n="110" d="100"/>
          <a:sy n="110" d="100"/>
        </p:scale>
        <p:origin x="596" y="72"/>
      </p:cViewPr>
      <p:guideLst>
        <p:guide orient="horz" pos="2160"/>
        <p:guide pos="2880"/>
      </p:guideLst>
    </p:cSldViewPr>
  </p:slideViewPr>
  <p:outlineViewPr>
    <p:cViewPr>
      <p:scale>
        <a:sx n="33" d="100"/>
        <a:sy n="33" d="100"/>
      </p:scale>
      <p:origin x="0" y="20142"/>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조 영남" userId="87b5e87858b1ae16" providerId="LiveId" clId="{4C290B72-8432-9D4C-894E-2B914550A506}"/>
    <pc:docChg chg="modSld">
      <pc:chgData name="조 영남" userId="87b5e87858b1ae16" providerId="LiveId" clId="{4C290B72-8432-9D4C-894E-2B914550A506}" dt="2020-11-10T05:03:59.655" v="7" actId="20577"/>
      <pc:docMkLst>
        <pc:docMk/>
      </pc:docMkLst>
      <pc:sldChg chg="modSp mod">
        <pc:chgData name="조 영남" userId="87b5e87858b1ae16" providerId="LiveId" clId="{4C290B72-8432-9D4C-894E-2B914550A506}" dt="2020-11-10T05:03:59.655" v="7" actId="20577"/>
        <pc:sldMkLst>
          <pc:docMk/>
          <pc:sldMk cId="0" sldId="278"/>
        </pc:sldMkLst>
        <pc:spChg chg="mod">
          <ac:chgData name="조 영남" userId="87b5e87858b1ae16" providerId="LiveId" clId="{4C290B72-8432-9D4C-894E-2B914550A506}" dt="2020-11-10T05:03:59.655" v="7" actId="20577"/>
          <ac:spMkLst>
            <pc:docMk/>
            <pc:sldMk cId="0" sldId="278"/>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696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54939" y="0"/>
            <a:ext cx="2949099" cy="496967"/>
          </a:xfrm>
          <a:prstGeom prst="rect">
            <a:avLst/>
          </a:prstGeom>
        </p:spPr>
        <p:txBody>
          <a:bodyPr vert="horz" lIns="91440" tIns="45720" rIns="91440" bIns="45720" rtlCol="0"/>
          <a:lstStyle>
            <a:lvl1pPr algn="r">
              <a:defRPr sz="1200"/>
            </a:lvl1pPr>
          </a:lstStyle>
          <a:p>
            <a:fld id="{20EB3314-FDC3-4170-8208-0DFBA5A55FAE}" type="datetimeFigureOut">
              <a:rPr lang="ko-KR" altLang="en-US" smtClean="0"/>
              <a:pPr/>
              <a:t>2025-10-27</a:t>
            </a:fld>
            <a:endParaRPr lang="ko-KR" altLang="en-US"/>
          </a:p>
        </p:txBody>
      </p:sp>
      <p:sp>
        <p:nvSpPr>
          <p:cNvPr id="4" name="바닥글 개체 틀 3"/>
          <p:cNvSpPr>
            <a:spLocks noGrp="1"/>
          </p:cNvSpPr>
          <p:nvPr>
            <p:ph type="ftr" sz="quarter" idx="2"/>
          </p:nvPr>
        </p:nvSpPr>
        <p:spPr>
          <a:xfrm>
            <a:off x="0" y="9440646"/>
            <a:ext cx="2949099" cy="49696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4939" y="9440646"/>
            <a:ext cx="2949099" cy="496967"/>
          </a:xfrm>
          <a:prstGeom prst="rect">
            <a:avLst/>
          </a:prstGeom>
        </p:spPr>
        <p:txBody>
          <a:bodyPr vert="horz" lIns="91440" tIns="45720" rIns="91440" bIns="45720" rtlCol="0" anchor="b"/>
          <a:lstStyle>
            <a:lvl1pPr algn="r">
              <a:defRPr sz="1200"/>
            </a:lvl1pPr>
          </a:lstStyle>
          <a:p>
            <a:fld id="{5A0A69FB-9C27-4AC4-B4AB-FBA119661993}" type="slidenum">
              <a:rPr lang="ko-KR" altLang="en-US" smtClean="0"/>
              <a:pPr/>
              <a:t>‹#›</a:t>
            </a:fld>
            <a:endParaRPr lang="ko-KR" altLang="en-US"/>
          </a:p>
        </p:txBody>
      </p:sp>
    </p:spTree>
    <p:extLst>
      <p:ext uri="{BB962C8B-B14F-4D97-AF65-F5344CB8AC3E}">
        <p14:creationId xmlns:p14="http://schemas.microsoft.com/office/powerpoint/2010/main" val="12766616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696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4939" y="0"/>
            <a:ext cx="2949099" cy="496967"/>
          </a:xfrm>
          <a:prstGeom prst="rect">
            <a:avLst/>
          </a:prstGeom>
        </p:spPr>
        <p:txBody>
          <a:bodyPr vert="horz" lIns="91440" tIns="45720" rIns="91440" bIns="45720" rtlCol="0"/>
          <a:lstStyle>
            <a:lvl1pPr algn="r">
              <a:defRPr sz="1200"/>
            </a:lvl1pPr>
          </a:lstStyle>
          <a:p>
            <a:fld id="{E657EDB4-E51F-41B2-B7CC-34C8224D30B5}" type="datetimeFigureOut">
              <a:rPr lang="ko-KR" altLang="en-US" smtClean="0"/>
              <a:pPr/>
              <a:t>2025-10-27</a:t>
            </a:fld>
            <a:endParaRPr lang="ko-KR" altLang="en-US"/>
          </a:p>
        </p:txBody>
      </p:sp>
      <p:sp>
        <p:nvSpPr>
          <p:cNvPr id="4" name="슬라이드 이미지 개체 틀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0562" y="4721186"/>
            <a:ext cx="5444490" cy="4472702"/>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40646"/>
            <a:ext cx="2949099" cy="49696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4939" y="9440646"/>
            <a:ext cx="2949099" cy="496967"/>
          </a:xfrm>
          <a:prstGeom prst="rect">
            <a:avLst/>
          </a:prstGeom>
        </p:spPr>
        <p:txBody>
          <a:bodyPr vert="horz" lIns="91440" tIns="45720" rIns="91440" bIns="45720" rtlCol="0" anchor="b"/>
          <a:lstStyle>
            <a:lvl1pPr algn="r">
              <a:defRPr sz="1200"/>
            </a:lvl1pPr>
          </a:lstStyle>
          <a:p>
            <a:fld id="{2A229CD0-B662-4524-ADDA-4BD237975AAB}" type="slidenum">
              <a:rPr lang="ko-KR" altLang="en-US" smtClean="0"/>
              <a:pPr/>
              <a:t>‹#›</a:t>
            </a:fld>
            <a:endParaRPr lang="ko-KR" altLang="en-US"/>
          </a:p>
        </p:txBody>
      </p:sp>
    </p:spTree>
    <p:extLst>
      <p:ext uri="{BB962C8B-B14F-4D97-AF65-F5344CB8AC3E}">
        <p14:creationId xmlns:p14="http://schemas.microsoft.com/office/powerpoint/2010/main" val="106351120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ord.yahoo.co.jp/o/dic/RV=1/RE=1474517353/RH=b3JkLnlhaG9vLmNvLmpw/RB=/RU=aHR0cHM6Ly9rb3RvYmFuay5qcC93b3JkLyVFNCVCQSU4OCVFNiVCOCVBQz9kaWM9ZGFpamlyaW4-/RS=%5eADB05LZLb.N0ndVwXfD2G77kt1E3EI-;_ylt=A2RCA9roB.JXvh8AhWVUmfd7"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a:t>
            </a:fld>
            <a:endParaRPr lang="ko-KR"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a:t>
            </a:fld>
            <a:endParaRPr lang="ko-KR"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3</a:t>
            </a:fld>
            <a:endParaRPr lang="ko-KR"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4</a:t>
            </a:fld>
            <a:endParaRPr lang="ko-KR"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5</a:t>
            </a:fld>
            <a:endParaRPr lang="ko-KR"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6</a:t>
            </a:fld>
            <a:endParaRPr lang="ko-KR"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7</a:t>
            </a:fld>
            <a:endParaRPr lang="ko-KR"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8</a:t>
            </a:fld>
            <a:endParaRPr lang="ko-KR"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9</a:t>
            </a:fld>
            <a:endParaRPr lang="ko-KR"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10</a:t>
            </a:fld>
            <a:endParaRPr lang="ko-KR"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11</a:t>
            </a:fld>
            <a:endParaRPr lang="ko-KR"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12</a:t>
            </a:fld>
            <a:endParaRPr lang="ko-KR"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13</a:t>
            </a:fld>
            <a:endParaRPr lang="ko-KR"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14</a:t>
            </a:fld>
            <a:endParaRPr lang="ko-KR"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15</a:t>
            </a:fld>
            <a:endParaRPr lang="ko-KR"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16</a:t>
            </a:fld>
            <a:endParaRPr lang="ko-KR"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17</a:t>
            </a:fld>
            <a:endParaRPr lang="ko-KR"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18</a:t>
            </a:fld>
            <a:endParaRPr lang="ko-KR"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19</a:t>
            </a:fld>
            <a:endParaRPr lang="ko-KR"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20</a:t>
            </a:fld>
            <a:endParaRPr lang="ko-KR"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21</a:t>
            </a:fld>
            <a:endParaRPr lang="ko-KR"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22</a:t>
            </a:fld>
            <a:endParaRPr lang="ko-KR"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23</a:t>
            </a:fld>
            <a:endParaRPr lang="ko-KR"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24</a:t>
            </a:fld>
            <a:endParaRPr lang="ko-KR" altLang="en-US"/>
          </a:p>
        </p:txBody>
      </p:sp>
    </p:spTree>
    <p:extLst>
      <p:ext uri="{BB962C8B-B14F-4D97-AF65-F5344CB8AC3E}">
        <p14:creationId xmlns:p14="http://schemas.microsoft.com/office/powerpoint/2010/main" val="40217910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r>
              <a:rPr lang="ja-JP" altLang="en-US" sz="1200" b="1" u="none" strike="noStrike" kern="1200" dirty="0">
                <a:solidFill>
                  <a:schemeClr val="tx1"/>
                </a:solidFill>
                <a:effectLst/>
                <a:latin typeface="+mn-lt"/>
                <a:ea typeface="+mn-ea"/>
                <a:cs typeface="+mn-cs"/>
              </a:rPr>
              <a:t>推論</a:t>
            </a:r>
            <a:r>
              <a:rPr lang="ja-JP" altLang="en-US" sz="1200" kern="1200" dirty="0">
                <a:solidFill>
                  <a:schemeClr val="tx1"/>
                </a:solidFill>
                <a:effectLst/>
                <a:latin typeface="+mn-lt"/>
                <a:ea typeface="+mn-ea"/>
                <a:cs typeface="+mn-cs"/>
              </a:rPr>
              <a:t>［名］</a:t>
            </a:r>
            <a:r>
              <a:rPr lang="en-US" altLang="ja-JP" sz="1200" kern="1200" dirty="0">
                <a:solidFill>
                  <a:schemeClr val="tx1"/>
                </a:solidFill>
                <a:effectLst/>
                <a:latin typeface="+mn-lt"/>
                <a:ea typeface="+mn-ea"/>
                <a:cs typeface="+mn-cs"/>
              </a:rPr>
              <a:t>(</a:t>
            </a:r>
            <a:r>
              <a:rPr lang="ja-JP" altLang="en-US" sz="1200" kern="1200" dirty="0">
                <a:solidFill>
                  <a:schemeClr val="tx1"/>
                </a:solidFill>
                <a:effectLst/>
                <a:latin typeface="+mn-lt"/>
                <a:ea typeface="+mn-ea"/>
                <a:cs typeface="+mn-cs"/>
              </a:rPr>
              <a:t>スル</a:t>
            </a:r>
            <a:r>
              <a:rPr lang="en-US" altLang="ja-JP" sz="1200" kern="1200" dirty="0">
                <a:solidFill>
                  <a:schemeClr val="tx1"/>
                </a:solidFill>
                <a:effectLst/>
                <a:latin typeface="+mn-lt"/>
                <a:ea typeface="+mn-ea"/>
                <a:cs typeface="+mn-cs"/>
              </a:rPr>
              <a:t>)</a:t>
            </a:r>
            <a:r>
              <a:rPr lang="ja-JP" altLang="en-US" sz="1200" kern="1200" dirty="0">
                <a:solidFill>
                  <a:schemeClr val="tx1"/>
                </a:solidFill>
                <a:effectLst/>
                <a:latin typeface="+mn-lt"/>
                <a:ea typeface="+mn-ea"/>
                <a:cs typeface="+mn-cs"/>
              </a:rPr>
              <a:t>ある事実をもとにして、未知の事柄をおしはかり論じること。「実験の結果から推論する」</a:t>
            </a:r>
            <a:endParaRPr lang="en-US" altLang="ja-JP" sz="1200" kern="1200" dirty="0">
              <a:solidFill>
                <a:schemeClr val="tx1"/>
              </a:solidFill>
              <a:effectLst/>
              <a:latin typeface="+mn-lt"/>
              <a:ea typeface="+mn-ea"/>
              <a:cs typeface="+mn-cs"/>
            </a:endParaRPr>
          </a:p>
          <a:p>
            <a:r>
              <a:rPr lang="ja-JP" altLang="en-US" sz="1200" b="1" i="1" kern="1200" dirty="0">
                <a:solidFill>
                  <a:schemeClr val="tx1"/>
                </a:solidFill>
                <a:effectLst/>
                <a:latin typeface="+mn-lt"/>
                <a:ea typeface="+mn-ea"/>
                <a:cs typeface="+mn-cs"/>
                <a:hlinkClick r:id="rId3"/>
              </a:rPr>
              <a:t>予測</a:t>
            </a:r>
            <a:endParaRPr lang="ja-JP" altLang="en-US" sz="1200" b="1" kern="1200" dirty="0">
              <a:solidFill>
                <a:schemeClr val="tx1"/>
              </a:solidFill>
              <a:effectLst/>
              <a:latin typeface="+mn-lt"/>
              <a:ea typeface="+mn-ea"/>
              <a:cs typeface="+mn-cs"/>
            </a:endParaRPr>
          </a:p>
          <a:p>
            <a:r>
              <a:rPr lang="ja-JP" altLang="en-US" sz="1200" kern="1200" dirty="0">
                <a:solidFill>
                  <a:schemeClr val="tx1"/>
                </a:solidFill>
                <a:effectLst/>
                <a:latin typeface="+mn-lt"/>
                <a:ea typeface="+mn-ea"/>
                <a:cs typeface="+mn-cs"/>
              </a:rPr>
              <a:t>（ 名 ） スル 将来の出来事や状態を前もっておしはかること。また，その内容。</a:t>
            </a:r>
          </a:p>
          <a:p>
            <a:endParaRPr lang="ko-KR" altLang="en-US" dirty="0"/>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25</a:t>
            </a:fld>
            <a:endParaRPr lang="ko-KR"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26</a:t>
            </a:fld>
            <a:endParaRPr lang="ko-KR"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27</a:t>
            </a:fld>
            <a:endParaRPr lang="ko-KR"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28</a:t>
            </a:fld>
            <a:endParaRPr lang="ko-KR"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29</a:t>
            </a:fld>
            <a:endParaRPr lang="ko-KR"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30</a:t>
            </a:fld>
            <a:endParaRPr lang="ko-KR"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31</a:t>
            </a:fld>
            <a:endParaRPr lang="ko-KR"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32</a:t>
            </a:fld>
            <a:endParaRPr lang="ko-KR"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33</a:t>
            </a:fld>
            <a:endParaRPr lang="ko-KR"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34</a:t>
            </a:fld>
            <a:endParaRPr lang="ko-KR"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35</a:t>
            </a:fld>
            <a:endParaRPr lang="ko-K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a:t>마스터 제목 스타일 편집</a:t>
            </a:r>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2025-10-27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2025-10-27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2025-10-27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3B8AA7D4-4A21-41B6-BA68-3D7AEA55F040}" type="datetimeFigureOut">
              <a:rPr lang="ko-KR" altLang="en-US" smtClean="0"/>
              <a:pPr/>
              <a:t>2025-10-27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3B8AA7D4-4A21-41B6-BA68-3D7AEA55F040}" type="datetimeFigureOut">
              <a:rPr lang="ko-KR" altLang="en-US" smtClean="0"/>
              <a:pPr/>
              <a:t>2025-10-27</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3B8AA7D4-4A21-41B6-BA68-3D7AEA55F040}" type="datetimeFigureOut">
              <a:rPr lang="ko-KR" altLang="en-US" smtClean="0"/>
              <a:pPr/>
              <a:t>2025-10-27</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3B8AA7D4-4A21-41B6-BA68-3D7AEA55F040}" type="datetimeFigureOut">
              <a:rPr lang="ko-KR" altLang="en-US" smtClean="0"/>
              <a:pPr/>
              <a:t>2025-10-27</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3B8AA7D4-4A21-41B6-BA68-3D7AEA55F040}" type="datetimeFigureOut">
              <a:rPr lang="ko-KR" altLang="en-US" smtClean="0"/>
              <a:pPr/>
              <a:t>2025-10-27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3B8AA7D4-4A21-41B6-BA68-3D7AEA55F040}" type="datetimeFigureOut">
              <a:rPr lang="ko-KR" altLang="en-US" smtClean="0"/>
              <a:pPr/>
              <a:t>2025-10-27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2025-10-27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2025-10-27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AA7D4-4A21-41B6-BA68-3D7AEA55F040}" type="datetimeFigureOut">
              <a:rPr lang="ko-KR" altLang="en-US" smtClean="0"/>
              <a:pPr/>
              <a:t>2025-10-27</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53B9A5-DE88-4FE2-AED7-B85778A5E063}"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www.weblio.jp/content/%E8%80%83%E3%81%88" TargetMode="External"/><Relationship Id="rId13" Type="http://schemas.openxmlformats.org/officeDocument/2006/relationships/hyperlink" Target="https://www.weblio.jp/content/%E5%86%85%E5%AE%B9" TargetMode="External"/><Relationship Id="rId3" Type="http://schemas.openxmlformats.org/officeDocument/2006/relationships/hyperlink" Target="https://www.weblio.jp/content/%E4%BA%8B%E5%AE%9F" TargetMode="External"/><Relationship Id="rId7" Type="http://schemas.openxmlformats.org/officeDocument/2006/relationships/hyperlink" Target="https://www.weblio.jp/content/%E5%9F%BA%E3%81%A5%E3%81%84%E3%81%A6" TargetMode="External"/><Relationship Id="rId12" Type="http://schemas.openxmlformats.org/officeDocument/2006/relationships/hyperlink" Target="https://www.weblio.jp/content/%E3%81%BE%E3%81%9F%E3%80%81"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www.weblio.jp/content/%E6%83%85%E5%A0%B1" TargetMode="External"/><Relationship Id="rId11" Type="http://schemas.openxmlformats.org/officeDocument/2006/relationships/hyperlink" Target="https://www.weblio.jp/content/%E5%89%8D%E3%82%82%E3%81%A3%E3%81%A6" TargetMode="External"/><Relationship Id="rId5" Type="http://schemas.openxmlformats.org/officeDocument/2006/relationships/hyperlink" Target="https://www.weblio.jp/content/%E4%BA%8B%E6%9F%84" TargetMode="External"/><Relationship Id="rId10" Type="http://schemas.openxmlformats.org/officeDocument/2006/relationships/hyperlink" Target="https://www.weblio.jp/content/%E5%87%BA%E6%9D%A5%E4%BA%8B" TargetMode="External"/><Relationship Id="rId4" Type="http://schemas.openxmlformats.org/officeDocument/2006/relationships/hyperlink" Target="https://www.weblio.jp/content/%E3%81%8A%E3%81%97%E3%81%AF%E3%81%8B%E3%82%8B" TargetMode="External"/><Relationship Id="rId9" Type="http://schemas.openxmlformats.org/officeDocument/2006/relationships/hyperlink" Target="https://www.weblio.jp/content/%E5%B0%86%E6%9D%A5"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323528" y="2130425"/>
            <a:ext cx="8352928" cy="1470025"/>
          </a:xfrm>
        </p:spPr>
        <p:txBody>
          <a:bodyPr/>
          <a:lstStyle/>
          <a:p>
            <a:r>
              <a:rPr lang="ja-JP" altLang="en-US" b="1" dirty="0">
                <a:solidFill>
                  <a:schemeClr val="tx2">
                    <a:lumMod val="75000"/>
                  </a:schemeClr>
                </a:solidFill>
                <a:latin typeface="+mn-ea"/>
                <a:ea typeface="+mn-ea"/>
              </a:rPr>
              <a:t>理解の過程をめぐる研究と現場への示唆</a:t>
            </a:r>
            <a:endParaRPr lang="ko-KR" altLang="en-US" b="1" dirty="0">
              <a:solidFill>
                <a:schemeClr val="tx2">
                  <a:lumMod val="75000"/>
                </a:schemeClr>
              </a:solidFill>
              <a:latin typeface="+mn-ea"/>
              <a:ea typeface="+mn-ea"/>
            </a:endParaRPr>
          </a:p>
        </p:txBody>
      </p:sp>
      <p:sp>
        <p:nvSpPr>
          <p:cNvPr id="3" name="부제목 2"/>
          <p:cNvSpPr>
            <a:spLocks noGrp="1"/>
          </p:cNvSpPr>
          <p:nvPr>
            <p:ph type="subTitle" idx="1"/>
          </p:nvPr>
        </p:nvSpPr>
        <p:spPr/>
        <p:txBody>
          <a:bodyPr>
            <a:normAutofit/>
          </a:bodyPr>
          <a:lstStyle/>
          <a:p>
            <a:r>
              <a:rPr lang="en-US" altLang="ja-JP" sz="4000" b="1" dirty="0">
                <a:solidFill>
                  <a:schemeClr val="tx2">
                    <a:lumMod val="75000"/>
                  </a:schemeClr>
                </a:solidFill>
                <a:latin typeface="+mn-ea"/>
              </a:rPr>
              <a:t>-</a:t>
            </a:r>
            <a:r>
              <a:rPr lang="ja-JP" altLang="en-US" sz="4000" b="1" dirty="0">
                <a:solidFill>
                  <a:schemeClr val="tx2">
                    <a:lumMod val="75000"/>
                  </a:schemeClr>
                </a:solidFill>
                <a:latin typeface="+mn-ea"/>
              </a:rPr>
              <a:t>読むことを中心に</a:t>
            </a:r>
            <a:r>
              <a:rPr lang="en-US" altLang="ja-JP" sz="4000" b="1">
                <a:solidFill>
                  <a:schemeClr val="tx2">
                    <a:lumMod val="75000"/>
                  </a:schemeClr>
                </a:solidFill>
                <a:latin typeface="+mn-ea"/>
              </a:rPr>
              <a:t>-(1)</a:t>
            </a:r>
            <a:endParaRPr lang="ko-KR" altLang="en-US" sz="4000" b="1" dirty="0">
              <a:solidFill>
                <a:schemeClr val="tx2">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latin typeface="+mn-ea"/>
                <a:ea typeface="+mn-ea"/>
              </a:rPr>
              <a:t>タスク１</a:t>
            </a:r>
            <a:endParaRPr lang="ko-KR" altLang="en-US" b="1" dirty="0">
              <a:solidFill>
                <a:srgbClr val="00B050"/>
              </a:solidFill>
              <a:latin typeface="+mn-ea"/>
              <a:ea typeface="+mn-ea"/>
            </a:endParaRPr>
          </a:p>
        </p:txBody>
      </p:sp>
      <p:sp>
        <p:nvSpPr>
          <p:cNvPr id="3" name="내용 개체 틀 2"/>
          <p:cNvSpPr>
            <a:spLocks noGrp="1"/>
          </p:cNvSpPr>
          <p:nvPr>
            <p:ph idx="1"/>
          </p:nvPr>
        </p:nvSpPr>
        <p:spPr/>
        <p:txBody>
          <a:bodyPr/>
          <a:lstStyle/>
          <a:p>
            <a:r>
              <a:rPr lang="ja-JP" altLang="en-US" dirty="0">
                <a:latin typeface="+mn-ea"/>
                <a:ea typeface="+mn-ea"/>
              </a:rPr>
              <a:t>読んだり聞いたりする理解の過程は、言語習得においてどのような役割を果たしていると思いますか。</a:t>
            </a:r>
            <a:endParaRPr lang="en-US" altLang="ja-JP" dirty="0">
              <a:latin typeface="+mn-ea"/>
              <a:ea typeface="+mn-ea"/>
            </a:endParaRPr>
          </a:p>
          <a:p>
            <a:pPr>
              <a:buNone/>
            </a:pPr>
            <a:endParaRPr lang="en-US" altLang="ko-KR" dirty="0">
              <a:latin typeface="+mn-ea"/>
              <a:ea typeface="+mn-ea"/>
            </a:endParaRPr>
          </a:p>
          <a:p>
            <a:r>
              <a:rPr lang="ja-JP" altLang="en-US" dirty="0">
                <a:solidFill>
                  <a:schemeClr val="accent6">
                    <a:lumMod val="75000"/>
                  </a:schemeClr>
                </a:solidFill>
                <a:latin typeface="+mn-ea"/>
                <a:ea typeface="+mn-ea"/>
              </a:rPr>
              <a:t>観点１</a:t>
            </a:r>
            <a:r>
              <a:rPr lang="ja-JP" altLang="en-US" dirty="0">
                <a:latin typeface="+mn-ea"/>
                <a:ea typeface="+mn-ea"/>
              </a:rPr>
              <a:t>：話すこと・書くことと比較</a:t>
            </a:r>
            <a:endParaRPr lang="en-US" altLang="ja-JP" dirty="0">
              <a:latin typeface="+mn-ea"/>
              <a:ea typeface="+mn-ea"/>
            </a:endParaRPr>
          </a:p>
          <a:p>
            <a:r>
              <a:rPr lang="ja-JP" altLang="en-US" dirty="0">
                <a:solidFill>
                  <a:schemeClr val="accent6">
                    <a:lumMod val="75000"/>
                  </a:schemeClr>
                </a:solidFill>
                <a:latin typeface="+mn-ea"/>
                <a:ea typeface="+mn-ea"/>
              </a:rPr>
              <a:t>観点２</a:t>
            </a:r>
            <a:r>
              <a:rPr lang="ja-JP" altLang="en-US" dirty="0">
                <a:latin typeface="+mn-ea"/>
                <a:ea typeface="+mn-ea"/>
              </a:rPr>
              <a:t>：子供の言語習得と第２言語話者の場合</a:t>
            </a:r>
            <a:endParaRPr lang="ko-KR" altLang="en-US" dirty="0">
              <a:latin typeface="+mn-ea"/>
              <a:ea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latin typeface="+mn-ea"/>
                <a:ea typeface="+mn-ea"/>
              </a:rPr>
              <a:t>読解・聴解の理解過程</a:t>
            </a:r>
            <a:endParaRPr lang="ko-KR" altLang="en-US" b="1" dirty="0">
              <a:solidFill>
                <a:srgbClr val="00B050"/>
              </a:solidFill>
              <a:latin typeface="+mn-ea"/>
              <a:ea typeface="+mn-ea"/>
            </a:endParaRPr>
          </a:p>
        </p:txBody>
      </p:sp>
      <p:sp>
        <p:nvSpPr>
          <p:cNvPr id="3" name="내용 개체 틀 2"/>
          <p:cNvSpPr>
            <a:spLocks noGrp="1"/>
          </p:cNvSpPr>
          <p:nvPr>
            <p:ph idx="1"/>
          </p:nvPr>
        </p:nvSpPr>
        <p:spPr/>
        <p:txBody>
          <a:bodyPr>
            <a:normAutofit/>
          </a:bodyPr>
          <a:lstStyle/>
          <a:p>
            <a:r>
              <a:rPr lang="ja-JP" altLang="en-US" dirty="0">
                <a:latin typeface="+mn-ea"/>
                <a:ea typeface="+mn-ea"/>
              </a:rPr>
              <a:t>話すことと書くことと比べ、受身的で付随的な過程として見られる傾向。</a:t>
            </a:r>
            <a:endParaRPr lang="en-US" altLang="ja-JP" dirty="0">
              <a:latin typeface="+mn-ea"/>
              <a:ea typeface="+mn-ea"/>
            </a:endParaRPr>
          </a:p>
          <a:p>
            <a:r>
              <a:rPr lang="ja-JP" altLang="en-US" dirty="0">
                <a:latin typeface="+mn-ea"/>
                <a:ea typeface="+mn-ea"/>
              </a:rPr>
              <a:t>第１言語、第２言語を問わず、言語能力は理解力が産出力に先行する。</a:t>
            </a:r>
            <a:endParaRPr lang="en-US" altLang="ja-JP" dirty="0">
              <a:latin typeface="+mn-ea"/>
              <a:ea typeface="+mn-ea"/>
            </a:endParaRPr>
          </a:p>
          <a:p>
            <a:pPr>
              <a:buNone/>
            </a:pPr>
            <a:endParaRPr lang="en-US" altLang="ja-JP" dirty="0">
              <a:latin typeface="+mn-ea"/>
              <a:ea typeface="+mn-ea"/>
            </a:endParaRPr>
          </a:p>
          <a:p>
            <a:pPr>
              <a:buNone/>
            </a:pPr>
            <a:r>
              <a:rPr lang="ja-JP" altLang="en-US" dirty="0">
                <a:latin typeface="+mn-ea"/>
                <a:ea typeface="+mn-ea"/>
              </a:rPr>
              <a:t>→言語習得を促進するように、理解力を充分につけることによってその上に産出力を作り出すという考え方が普及してきている。</a:t>
            </a:r>
            <a:endParaRPr lang="en-US" altLang="ja-JP" dirty="0">
              <a:latin typeface="+mn-ea"/>
              <a:ea typeface="+mn-ea"/>
            </a:endParaRPr>
          </a:p>
          <a:p>
            <a:pPr>
              <a:buNone/>
            </a:pPr>
            <a:endParaRPr lang="en-US" altLang="ja-JP" dirty="0">
              <a:latin typeface="+mn-ea"/>
              <a:ea typeface="+mn-ea"/>
            </a:endParaRPr>
          </a:p>
          <a:p>
            <a:pPr>
              <a:buNone/>
            </a:pPr>
            <a:endParaRPr lang="en-US" altLang="ja-JP" dirty="0">
              <a:latin typeface="+mn-ea"/>
              <a:ea typeface="+mn-ea"/>
            </a:endParaRPr>
          </a:p>
          <a:p>
            <a:pPr>
              <a:buNone/>
            </a:pPr>
            <a:endParaRPr lang="ko-KR" altLang="en-US" dirty="0">
              <a:latin typeface="+mn-ea"/>
              <a:ea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b="1" dirty="0">
                <a:solidFill>
                  <a:srgbClr val="00B050"/>
                </a:solidFill>
                <a:latin typeface="+mn-ea"/>
              </a:rPr>
              <a:t>理解優先のアプローチ</a:t>
            </a:r>
            <a:endParaRPr lang="ko-KR" altLang="en-US" b="1" dirty="0">
              <a:solidFill>
                <a:srgbClr val="00B050"/>
              </a:solidFill>
              <a:latin typeface="+mn-ea"/>
              <a:ea typeface="+mn-ea"/>
            </a:endParaRPr>
          </a:p>
        </p:txBody>
      </p:sp>
      <p:sp>
        <p:nvSpPr>
          <p:cNvPr id="3" name="내용 개체 틀 2"/>
          <p:cNvSpPr>
            <a:spLocks noGrp="1"/>
          </p:cNvSpPr>
          <p:nvPr>
            <p:ph idx="1"/>
          </p:nvPr>
        </p:nvSpPr>
        <p:spPr/>
        <p:txBody>
          <a:bodyPr/>
          <a:lstStyle/>
          <a:p>
            <a:endParaRPr lang="en-US" altLang="ja-JP" dirty="0">
              <a:latin typeface="+mn-ea"/>
            </a:endParaRPr>
          </a:p>
          <a:p>
            <a:r>
              <a:rPr lang="ja-JP" altLang="en-US" dirty="0">
                <a:latin typeface="+mn-ea"/>
              </a:rPr>
              <a:t>理解の過程は</a:t>
            </a:r>
            <a:r>
              <a:rPr lang="en-US" altLang="ja-JP" dirty="0">
                <a:latin typeface="+mn-ea"/>
              </a:rPr>
              <a:t>1970</a:t>
            </a:r>
            <a:r>
              <a:rPr lang="ja-JP" altLang="en-US" dirty="0">
                <a:latin typeface="+mn-ea"/>
              </a:rPr>
              <a:t>年代後半からクラッシェンによって言語習得の鍵を構成するものとして注目・重視。</a:t>
            </a:r>
            <a:endParaRPr lang="en-US" altLang="ja-JP" dirty="0">
              <a:latin typeface="+mn-ea"/>
            </a:endParaRPr>
          </a:p>
          <a:p>
            <a:endParaRPr lang="en-US" altLang="ja-JP" dirty="0">
              <a:latin typeface="+mn-ea"/>
            </a:endParaRPr>
          </a:p>
          <a:p>
            <a:r>
              <a:rPr lang="ja-JP" altLang="en-US" dirty="0">
                <a:latin typeface="+mn-ea"/>
              </a:rPr>
              <a:t>理解力をつけることは、目に見えない氷山の水面下の土台部分を築くことに等しいという言語教育観を支えにしている。</a:t>
            </a:r>
            <a:endParaRPr lang="en-US" altLang="ja-JP" dirty="0">
              <a:latin typeface="+mn-ea"/>
            </a:endParaRPr>
          </a:p>
          <a:p>
            <a:pPr>
              <a:buNone/>
            </a:pPr>
            <a:endParaRPr lang="ko-KR" altLang="en-US" dirty="0">
              <a:latin typeface="+mn-ea"/>
              <a:ea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b="1" dirty="0">
                <a:solidFill>
                  <a:srgbClr val="7030A0"/>
                </a:solidFill>
                <a:latin typeface="+mn-ea"/>
                <a:ea typeface="+mn-ea"/>
              </a:rPr>
              <a:t>具体的な教授法</a:t>
            </a:r>
            <a:endParaRPr lang="ko-KR" altLang="en-US" b="1" dirty="0">
              <a:solidFill>
                <a:srgbClr val="7030A0"/>
              </a:solidFill>
              <a:latin typeface="+mn-ea"/>
              <a:ea typeface="+mn-ea"/>
            </a:endParaRPr>
          </a:p>
        </p:txBody>
      </p:sp>
      <p:sp>
        <p:nvSpPr>
          <p:cNvPr id="3" name="내용 개체 틀 2"/>
          <p:cNvSpPr>
            <a:spLocks noGrp="1"/>
          </p:cNvSpPr>
          <p:nvPr>
            <p:ph idx="1"/>
          </p:nvPr>
        </p:nvSpPr>
        <p:spPr>
          <a:xfrm>
            <a:off x="179512" y="1600200"/>
            <a:ext cx="8712968" cy="4525963"/>
          </a:xfrm>
        </p:spPr>
        <p:txBody>
          <a:bodyPr/>
          <a:lstStyle/>
          <a:p>
            <a:pPr>
              <a:buFont typeface="Wingdings" pitchFamily="2" charset="2"/>
              <a:buChar char="Ø"/>
            </a:pPr>
            <a:r>
              <a:rPr lang="en-US" altLang="ja-JP" dirty="0">
                <a:solidFill>
                  <a:srgbClr val="0070C0"/>
                </a:solidFill>
                <a:latin typeface="+mn-ea"/>
                <a:ea typeface="+mn-ea"/>
              </a:rPr>
              <a:t>TPR</a:t>
            </a:r>
            <a:r>
              <a:rPr lang="ja-JP" altLang="en-US" dirty="0">
                <a:solidFill>
                  <a:srgbClr val="0070C0"/>
                </a:solidFill>
                <a:latin typeface="+mn-ea"/>
                <a:ea typeface="+mn-ea"/>
              </a:rPr>
              <a:t>（</a:t>
            </a:r>
            <a:r>
              <a:rPr lang="en-US" altLang="ja-JP" dirty="0">
                <a:solidFill>
                  <a:srgbClr val="0070C0"/>
                </a:solidFill>
                <a:latin typeface="+mn-ea"/>
                <a:ea typeface="+mn-ea"/>
              </a:rPr>
              <a:t>Total Physical Response)</a:t>
            </a:r>
          </a:p>
          <a:p>
            <a:pPr>
              <a:buNone/>
            </a:pPr>
            <a:r>
              <a:rPr lang="ja-JP" altLang="en-US" dirty="0">
                <a:latin typeface="+mn-ea"/>
                <a:ea typeface="+mn-ea"/>
              </a:rPr>
              <a:t>　学習の初期段階で聴解に重きがおかれる。</a:t>
            </a:r>
            <a:endParaRPr lang="en-US" altLang="ja-JP" dirty="0">
              <a:latin typeface="+mn-ea"/>
              <a:ea typeface="+mn-ea"/>
            </a:endParaRPr>
          </a:p>
          <a:p>
            <a:pPr>
              <a:buNone/>
            </a:pPr>
            <a:endParaRPr lang="en-US" altLang="ja-JP" dirty="0">
              <a:latin typeface="+mn-ea"/>
              <a:ea typeface="+mn-ea"/>
            </a:endParaRPr>
          </a:p>
          <a:p>
            <a:pPr>
              <a:buFont typeface="Wingdings" pitchFamily="2" charset="2"/>
              <a:buChar char="Ø"/>
            </a:pPr>
            <a:r>
              <a:rPr lang="ja-JP" altLang="en-US" dirty="0">
                <a:solidFill>
                  <a:srgbClr val="0070C0"/>
                </a:solidFill>
                <a:latin typeface="+mn-ea"/>
                <a:ea typeface="+mn-ea"/>
              </a:rPr>
              <a:t>ナチュラルアプローチ</a:t>
            </a:r>
            <a:r>
              <a:rPr lang="en-US" altLang="ko-KR" dirty="0">
                <a:solidFill>
                  <a:srgbClr val="0070C0"/>
                </a:solidFill>
                <a:latin typeface="+mn-ea"/>
                <a:ea typeface="+mn-ea"/>
              </a:rPr>
              <a:t>(the Natural</a:t>
            </a:r>
            <a:r>
              <a:rPr lang="ja-JP" altLang="en-US" dirty="0">
                <a:solidFill>
                  <a:srgbClr val="0070C0"/>
                </a:solidFill>
                <a:latin typeface="+mn-ea"/>
                <a:ea typeface="+mn-ea"/>
              </a:rPr>
              <a:t>　</a:t>
            </a:r>
            <a:r>
              <a:rPr lang="en-US" altLang="ko-KR" dirty="0">
                <a:solidFill>
                  <a:srgbClr val="0070C0"/>
                </a:solidFill>
                <a:latin typeface="+mn-ea"/>
                <a:ea typeface="+mn-ea"/>
              </a:rPr>
              <a:t>Approach)</a:t>
            </a:r>
            <a:r>
              <a:rPr lang="ja-JP" altLang="en-US" dirty="0">
                <a:latin typeface="+mn-ea"/>
                <a:ea typeface="+mn-ea"/>
              </a:rPr>
              <a:t>（テリル：</a:t>
            </a:r>
            <a:r>
              <a:rPr lang="en-US" altLang="ja-JP" dirty="0" err="1">
                <a:latin typeface="+mn-ea"/>
                <a:ea typeface="+mn-ea"/>
              </a:rPr>
              <a:t>T.D.Terrel</a:t>
            </a:r>
            <a:r>
              <a:rPr lang="en-US" altLang="ja-JP" dirty="0">
                <a:latin typeface="+mn-ea"/>
                <a:ea typeface="+mn-ea"/>
              </a:rPr>
              <a:t>)</a:t>
            </a:r>
            <a:endParaRPr lang="en-US" altLang="ko-KR" dirty="0">
              <a:latin typeface="+mn-ea"/>
              <a:ea typeface="+mn-ea"/>
            </a:endParaRPr>
          </a:p>
          <a:p>
            <a:pPr>
              <a:buNone/>
            </a:pPr>
            <a:r>
              <a:rPr lang="ja-JP" altLang="en-US" dirty="0">
                <a:latin typeface="+mn-ea"/>
                <a:ea typeface="+mn-ea"/>
              </a:rPr>
              <a:t>　クラッシェンの言語習得仮説に基づき、学習者の現在の能力より少し上のレベルのインプットの聴解から始まる。（</a:t>
            </a:r>
            <a:r>
              <a:rPr lang="en-US" altLang="ja-JP" dirty="0" err="1">
                <a:latin typeface="+mn-ea"/>
                <a:ea typeface="+mn-ea"/>
              </a:rPr>
              <a:t>i</a:t>
            </a:r>
            <a:r>
              <a:rPr lang="ja-JP" altLang="en-US" dirty="0">
                <a:latin typeface="+mn-ea"/>
                <a:ea typeface="+mn-ea"/>
              </a:rPr>
              <a:t>＋</a:t>
            </a:r>
            <a:r>
              <a:rPr lang="en-US" altLang="ja-JP" dirty="0">
                <a:latin typeface="+mn-ea"/>
                <a:ea typeface="+mn-ea"/>
              </a:rPr>
              <a:t>1</a:t>
            </a:r>
            <a:r>
              <a:rPr lang="ja-JP" altLang="en-US" dirty="0">
                <a:latin typeface="+mn-ea"/>
                <a:ea typeface="+mn-ea"/>
              </a:rPr>
              <a:t>）</a:t>
            </a:r>
            <a:endParaRPr lang="ko-KR" altLang="en-US" dirty="0">
              <a:latin typeface="+mn-ea"/>
              <a:ea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b="1" dirty="0">
                <a:solidFill>
                  <a:srgbClr val="00B050"/>
                </a:solidFill>
                <a:latin typeface="+mn-ea"/>
                <a:ea typeface="+mn-ea"/>
              </a:rPr>
              <a:t>1. </a:t>
            </a:r>
            <a:r>
              <a:rPr lang="ja-JP" altLang="en-US" b="1" dirty="0">
                <a:solidFill>
                  <a:srgbClr val="00B050"/>
                </a:solidFill>
                <a:latin typeface="+mn-ea"/>
                <a:ea typeface="+mn-ea"/>
              </a:rPr>
              <a:t>読むこと</a:t>
            </a:r>
            <a:endParaRPr lang="ko-KR" altLang="en-US" b="1" dirty="0">
              <a:solidFill>
                <a:srgbClr val="00B050"/>
              </a:solidFill>
              <a:latin typeface="+mn-ea"/>
              <a:ea typeface="+mn-ea"/>
            </a:endParaRPr>
          </a:p>
        </p:txBody>
      </p:sp>
      <p:sp>
        <p:nvSpPr>
          <p:cNvPr id="3" name="내용 개체 틀 2"/>
          <p:cNvSpPr>
            <a:spLocks noGrp="1"/>
          </p:cNvSpPr>
          <p:nvPr>
            <p:ph idx="1"/>
          </p:nvPr>
        </p:nvSpPr>
        <p:spPr/>
        <p:txBody>
          <a:bodyPr/>
          <a:lstStyle/>
          <a:p>
            <a:r>
              <a:rPr lang="ja-JP" altLang="en-US" dirty="0">
                <a:latin typeface="+mn-ea"/>
                <a:ea typeface="+mn-ea"/>
              </a:rPr>
              <a:t>論点</a:t>
            </a:r>
            <a:endParaRPr lang="en-US" altLang="ja-JP" dirty="0">
              <a:latin typeface="+mn-ea"/>
              <a:ea typeface="+mn-ea"/>
            </a:endParaRPr>
          </a:p>
          <a:p>
            <a:endParaRPr lang="en-US" altLang="ja-JP" dirty="0">
              <a:latin typeface="+mn-ea"/>
              <a:ea typeface="+mn-ea"/>
            </a:endParaRPr>
          </a:p>
          <a:p>
            <a:pPr>
              <a:buNone/>
            </a:pPr>
            <a:r>
              <a:rPr lang="ja-JP" altLang="en-US" dirty="0">
                <a:latin typeface="+mn-ea"/>
                <a:ea typeface="+mn-ea"/>
              </a:rPr>
              <a:t>（１）読解過程をどのように考えればよいか。</a:t>
            </a:r>
            <a:endParaRPr lang="en-US" altLang="ja-JP" dirty="0">
              <a:latin typeface="+mn-ea"/>
              <a:ea typeface="+mn-ea"/>
            </a:endParaRPr>
          </a:p>
          <a:p>
            <a:pPr>
              <a:buNone/>
            </a:pPr>
            <a:endParaRPr lang="en-US" altLang="ja-JP" dirty="0">
              <a:latin typeface="+mn-ea"/>
              <a:ea typeface="+mn-ea"/>
            </a:endParaRPr>
          </a:p>
          <a:p>
            <a:pPr>
              <a:buNone/>
            </a:pPr>
            <a:r>
              <a:rPr lang="ja-JP" altLang="en-US" dirty="0">
                <a:latin typeface="+mn-ea"/>
                <a:ea typeface="+mn-ea"/>
              </a:rPr>
              <a:t>（２）そこから読解の教室活動・教材作成のためにどのような示唆が導き出されるか。</a:t>
            </a:r>
            <a:endParaRPr lang="ko-KR" altLang="en-US" dirty="0">
              <a:latin typeface="+mn-ea"/>
              <a:ea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latin typeface="+mn-ea"/>
                <a:ea typeface="+mn-ea"/>
              </a:rPr>
              <a:t>タスク２</a:t>
            </a:r>
            <a:endParaRPr lang="ko-KR" altLang="en-US" b="1" dirty="0">
              <a:solidFill>
                <a:srgbClr val="00B050"/>
              </a:solidFill>
              <a:latin typeface="+mn-ea"/>
              <a:ea typeface="+mn-ea"/>
            </a:endParaRPr>
          </a:p>
        </p:txBody>
      </p:sp>
      <p:sp>
        <p:nvSpPr>
          <p:cNvPr id="3" name="내용 개체 틀 2"/>
          <p:cNvSpPr>
            <a:spLocks noGrp="1"/>
          </p:cNvSpPr>
          <p:nvPr>
            <p:ph idx="1"/>
          </p:nvPr>
        </p:nvSpPr>
        <p:spPr/>
        <p:txBody>
          <a:bodyPr/>
          <a:lstStyle/>
          <a:p>
            <a:r>
              <a:rPr lang="ja-JP" altLang="en-US" dirty="0">
                <a:latin typeface="+mn-ea"/>
                <a:ea typeface="+mn-ea"/>
              </a:rPr>
              <a:t>外国語で読む場合</a:t>
            </a:r>
            <a:r>
              <a:rPr lang="en-US" altLang="ja-JP" dirty="0">
                <a:latin typeface="+mn-ea"/>
                <a:ea typeface="+mn-ea"/>
              </a:rPr>
              <a:t>(</a:t>
            </a:r>
            <a:r>
              <a:rPr lang="ja-JP" altLang="en-US" dirty="0">
                <a:latin typeface="+mn-ea"/>
                <a:ea typeface="+mn-ea"/>
              </a:rPr>
              <a:t>文献購読など）、みんなの前で声に出して読む場合</a:t>
            </a:r>
            <a:r>
              <a:rPr lang="en-US" altLang="ja-JP" dirty="0">
                <a:latin typeface="+mn-ea"/>
                <a:ea typeface="+mn-ea"/>
              </a:rPr>
              <a:t>(</a:t>
            </a:r>
            <a:r>
              <a:rPr lang="ja-JP" altLang="en-US" dirty="0">
                <a:latin typeface="+mn-ea"/>
                <a:ea typeface="+mn-ea"/>
              </a:rPr>
              <a:t>音読</a:t>
            </a:r>
            <a:r>
              <a:rPr lang="en-US" altLang="ja-JP" dirty="0">
                <a:latin typeface="+mn-ea"/>
                <a:ea typeface="+mn-ea"/>
              </a:rPr>
              <a:t>)</a:t>
            </a:r>
            <a:r>
              <a:rPr lang="ja-JP" altLang="en-US" dirty="0">
                <a:latin typeface="+mn-ea"/>
                <a:ea typeface="+mn-ea"/>
              </a:rPr>
              <a:t>と、一人で読む場合</a:t>
            </a:r>
            <a:r>
              <a:rPr lang="en-US" altLang="ja-JP" dirty="0">
                <a:latin typeface="+mn-ea"/>
                <a:ea typeface="+mn-ea"/>
              </a:rPr>
              <a:t>(</a:t>
            </a:r>
            <a:r>
              <a:rPr lang="ja-JP" altLang="en-US" dirty="0">
                <a:latin typeface="+mn-ea"/>
                <a:ea typeface="+mn-ea"/>
              </a:rPr>
              <a:t>黙読</a:t>
            </a:r>
            <a:r>
              <a:rPr lang="en-US" altLang="ja-JP" dirty="0">
                <a:latin typeface="+mn-ea"/>
                <a:ea typeface="+mn-ea"/>
              </a:rPr>
              <a:t>)</a:t>
            </a:r>
            <a:r>
              <a:rPr lang="ja-JP" altLang="en-US" dirty="0">
                <a:latin typeface="+mn-ea"/>
                <a:ea typeface="+mn-ea"/>
              </a:rPr>
              <a:t>とでは、内容の理解に差があるでしょうか。あるとすれば、音読と黙読とでは何が違うのでしょうか。</a:t>
            </a:r>
            <a:endParaRPr lang="ko-KR" altLang="en-US" dirty="0">
              <a:latin typeface="+mn-ea"/>
              <a:ea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dirty="0">
              <a:latin typeface="+mn-ea"/>
              <a:ea typeface="+mn-ea"/>
            </a:endParaRPr>
          </a:p>
        </p:txBody>
      </p:sp>
      <p:sp>
        <p:nvSpPr>
          <p:cNvPr id="3" name="내용 개체 틀 2"/>
          <p:cNvSpPr>
            <a:spLocks noGrp="1"/>
          </p:cNvSpPr>
          <p:nvPr>
            <p:ph idx="1"/>
          </p:nvPr>
        </p:nvSpPr>
        <p:spPr/>
        <p:txBody>
          <a:bodyPr>
            <a:normAutofit fontScale="92500" lnSpcReduction="20000"/>
          </a:bodyPr>
          <a:lstStyle/>
          <a:p>
            <a:r>
              <a:rPr lang="ja-JP" altLang="en-US" dirty="0">
                <a:solidFill>
                  <a:srgbClr val="0070C0"/>
                </a:solidFill>
                <a:latin typeface="+mn-ea"/>
                <a:ea typeface="+mn-ea"/>
              </a:rPr>
              <a:t>音読</a:t>
            </a:r>
            <a:endParaRPr lang="en-US" altLang="ja-JP" dirty="0">
              <a:solidFill>
                <a:srgbClr val="0070C0"/>
              </a:solidFill>
              <a:latin typeface="+mn-ea"/>
              <a:ea typeface="+mn-ea"/>
            </a:endParaRPr>
          </a:p>
          <a:p>
            <a:pPr>
              <a:buFont typeface="Wingdings" pitchFamily="2" charset="2"/>
              <a:buChar char="Ø"/>
            </a:pPr>
            <a:r>
              <a:rPr lang="ja-JP" altLang="en-US" dirty="0">
                <a:latin typeface="+mn-ea"/>
                <a:ea typeface="+mn-ea"/>
              </a:rPr>
              <a:t>発音やイントネーションに集中。</a:t>
            </a:r>
            <a:endParaRPr lang="en-US" altLang="ja-JP" dirty="0">
              <a:latin typeface="+mn-ea"/>
              <a:ea typeface="+mn-ea"/>
            </a:endParaRPr>
          </a:p>
          <a:p>
            <a:pPr>
              <a:buFont typeface="Wingdings" pitchFamily="2" charset="2"/>
              <a:buChar char="Ø"/>
            </a:pPr>
            <a:r>
              <a:rPr lang="ja-JP" altLang="en-US" dirty="0">
                <a:latin typeface="+mn-ea"/>
                <a:ea typeface="+mn-ea"/>
              </a:rPr>
              <a:t>声に出す都合上、どの語を発音するにもほぼ同じ時間をかける。</a:t>
            </a:r>
            <a:endParaRPr lang="en-US" altLang="ja-JP" dirty="0">
              <a:latin typeface="+mn-ea"/>
              <a:ea typeface="+mn-ea"/>
            </a:endParaRPr>
          </a:p>
          <a:p>
            <a:pPr>
              <a:buNone/>
            </a:pPr>
            <a:endParaRPr lang="en-US" altLang="ja-JP" dirty="0">
              <a:latin typeface="+mn-ea"/>
              <a:ea typeface="+mn-ea"/>
            </a:endParaRPr>
          </a:p>
          <a:p>
            <a:r>
              <a:rPr lang="ja-JP" altLang="en-US" dirty="0">
                <a:solidFill>
                  <a:srgbClr val="0070C0"/>
                </a:solidFill>
                <a:latin typeface="+mn-ea"/>
                <a:ea typeface="+mn-ea"/>
              </a:rPr>
              <a:t>黙読</a:t>
            </a:r>
            <a:endParaRPr lang="en-US" altLang="ja-JP" dirty="0">
              <a:solidFill>
                <a:srgbClr val="0070C0"/>
              </a:solidFill>
              <a:latin typeface="+mn-ea"/>
              <a:ea typeface="+mn-ea"/>
            </a:endParaRPr>
          </a:p>
          <a:p>
            <a:pPr>
              <a:buFont typeface="Wingdings" pitchFamily="2" charset="2"/>
              <a:buChar char="Ø"/>
            </a:pPr>
            <a:r>
              <a:rPr lang="ja-JP" altLang="en-US" dirty="0">
                <a:latin typeface="+mn-ea"/>
                <a:ea typeface="+mn-ea"/>
              </a:rPr>
              <a:t>音声面は不必要であり、意味理解に集中できる。</a:t>
            </a:r>
            <a:endParaRPr lang="en-US" altLang="ja-JP" dirty="0">
              <a:latin typeface="+mn-ea"/>
              <a:ea typeface="+mn-ea"/>
            </a:endParaRPr>
          </a:p>
          <a:p>
            <a:pPr>
              <a:buFont typeface="Wingdings" pitchFamily="2" charset="2"/>
              <a:buChar char="Ø"/>
            </a:pPr>
            <a:r>
              <a:rPr lang="ja-JP" altLang="en-US" dirty="0">
                <a:latin typeface="+mn-ea"/>
                <a:ea typeface="+mn-ea"/>
              </a:rPr>
              <a:t>時間をかける必要はなく、飛ばして読んだりすることもできる。</a:t>
            </a:r>
            <a:endParaRPr lang="en-US" altLang="ja-JP" dirty="0">
              <a:latin typeface="+mn-ea"/>
              <a:ea typeface="+mn-ea"/>
            </a:endParaRPr>
          </a:p>
          <a:p>
            <a:pPr>
              <a:buFont typeface="Wingdings" pitchFamily="2" charset="2"/>
              <a:buChar char="Ø"/>
            </a:pPr>
            <a:r>
              <a:rPr lang="ja-JP" altLang="en-US" dirty="0">
                <a:latin typeface="+mn-ea"/>
                <a:ea typeface="+mn-ea"/>
              </a:rPr>
              <a:t>読む速度が早い。</a:t>
            </a:r>
            <a:endParaRPr lang="ko-KR" altLang="en-US" dirty="0">
              <a:latin typeface="+mn-ea"/>
              <a:ea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329642" cy="1143000"/>
          </a:xfrm>
        </p:spPr>
        <p:txBody>
          <a:bodyPr>
            <a:normAutofit fontScale="90000"/>
          </a:bodyPr>
          <a:lstStyle/>
          <a:p>
            <a:r>
              <a:rPr lang="ja-JP" altLang="en-US" b="1" dirty="0">
                <a:solidFill>
                  <a:srgbClr val="00B050"/>
                </a:solidFill>
                <a:latin typeface="+mn-ea"/>
                <a:ea typeface="+mn-ea"/>
              </a:rPr>
              <a:t>読解過程をどのように考えればよいか</a:t>
            </a:r>
            <a:endParaRPr lang="ko-KR" altLang="en-US" b="1" dirty="0">
              <a:solidFill>
                <a:srgbClr val="00B050"/>
              </a:solidFill>
              <a:latin typeface="+mn-ea"/>
              <a:ea typeface="+mn-ea"/>
            </a:endParaRPr>
          </a:p>
        </p:txBody>
      </p:sp>
      <p:sp>
        <p:nvSpPr>
          <p:cNvPr id="3" name="내용 개체 틀 2"/>
          <p:cNvSpPr>
            <a:spLocks noGrp="1"/>
          </p:cNvSpPr>
          <p:nvPr>
            <p:ph idx="1"/>
          </p:nvPr>
        </p:nvSpPr>
        <p:spPr/>
        <p:txBody>
          <a:bodyPr/>
          <a:lstStyle/>
          <a:p>
            <a:r>
              <a:rPr lang="ja-JP" altLang="en-US" dirty="0">
                <a:latin typeface="+mn-ea"/>
                <a:ea typeface="+mn-ea"/>
              </a:rPr>
              <a:t>読解過程を３つの異なった視点から捉えてモデル化したもの。</a:t>
            </a:r>
            <a:endParaRPr lang="en-US" altLang="ja-JP" dirty="0">
              <a:latin typeface="+mn-ea"/>
              <a:ea typeface="+mn-ea"/>
            </a:endParaRPr>
          </a:p>
          <a:p>
            <a:endParaRPr lang="en-US" altLang="ja-JP" dirty="0">
              <a:latin typeface="+mn-ea"/>
              <a:ea typeface="+mn-ea"/>
            </a:endParaRPr>
          </a:p>
          <a:p>
            <a:pPr>
              <a:buFont typeface="Wingdings" pitchFamily="2" charset="2"/>
              <a:buChar char="Ø"/>
            </a:pPr>
            <a:r>
              <a:rPr lang="ja-JP" altLang="en-US" dirty="0">
                <a:solidFill>
                  <a:srgbClr val="7030A0"/>
                </a:solidFill>
                <a:latin typeface="+mn-ea"/>
                <a:ea typeface="+mn-ea"/>
              </a:rPr>
              <a:t>ボトムアップモデル</a:t>
            </a:r>
            <a:endParaRPr lang="en-US" altLang="ja-JP" dirty="0">
              <a:solidFill>
                <a:srgbClr val="7030A0"/>
              </a:solidFill>
              <a:latin typeface="+mn-ea"/>
              <a:ea typeface="+mn-ea"/>
            </a:endParaRPr>
          </a:p>
          <a:p>
            <a:pPr>
              <a:buFont typeface="Wingdings" pitchFamily="2" charset="2"/>
              <a:buChar char="Ø"/>
            </a:pPr>
            <a:r>
              <a:rPr lang="ja-JP" altLang="en-US" dirty="0">
                <a:solidFill>
                  <a:srgbClr val="7030A0"/>
                </a:solidFill>
                <a:latin typeface="+mn-ea"/>
                <a:ea typeface="+mn-ea"/>
              </a:rPr>
              <a:t>トップダウンモデル</a:t>
            </a:r>
            <a:endParaRPr lang="en-US" altLang="ja-JP" dirty="0">
              <a:solidFill>
                <a:srgbClr val="7030A0"/>
              </a:solidFill>
              <a:latin typeface="+mn-ea"/>
              <a:ea typeface="+mn-ea"/>
            </a:endParaRPr>
          </a:p>
          <a:p>
            <a:pPr>
              <a:buFont typeface="Wingdings" pitchFamily="2" charset="2"/>
              <a:buChar char="Ø"/>
            </a:pPr>
            <a:r>
              <a:rPr lang="ja-JP" altLang="en-US" dirty="0">
                <a:solidFill>
                  <a:srgbClr val="7030A0"/>
                </a:solidFill>
                <a:latin typeface="+mn-ea"/>
                <a:ea typeface="+mn-ea"/>
              </a:rPr>
              <a:t>相互交流モデル</a:t>
            </a:r>
            <a:endParaRPr lang="en-US" altLang="ja-JP" dirty="0">
              <a:solidFill>
                <a:srgbClr val="7030A0"/>
              </a:solidFill>
              <a:latin typeface="+mn-ea"/>
              <a:ea typeface="+mn-ea"/>
            </a:endParaRPr>
          </a:p>
          <a:p>
            <a:pPr>
              <a:buNone/>
            </a:pPr>
            <a:endParaRPr lang="ko-KR" altLang="en-US" dirty="0">
              <a:latin typeface="+mn-ea"/>
              <a:ea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latin typeface="+mn-ea"/>
                <a:ea typeface="+mn-ea"/>
              </a:rPr>
              <a:t>ボトムアップモデル</a:t>
            </a:r>
            <a:endParaRPr lang="ko-KR" altLang="en-US" b="1" dirty="0">
              <a:solidFill>
                <a:srgbClr val="00B050"/>
              </a:solidFill>
              <a:latin typeface="+mn-ea"/>
              <a:ea typeface="+mn-ea"/>
            </a:endParaRPr>
          </a:p>
        </p:txBody>
      </p:sp>
      <p:sp>
        <p:nvSpPr>
          <p:cNvPr id="3" name="내용 개체 틀 2"/>
          <p:cNvSpPr>
            <a:spLocks noGrp="1"/>
          </p:cNvSpPr>
          <p:nvPr>
            <p:ph idx="1"/>
          </p:nvPr>
        </p:nvSpPr>
        <p:spPr>
          <a:xfrm>
            <a:off x="251520" y="1600200"/>
            <a:ext cx="8784976" cy="4525963"/>
          </a:xfrm>
        </p:spPr>
        <p:txBody>
          <a:bodyPr>
            <a:normAutofit/>
          </a:bodyPr>
          <a:lstStyle/>
          <a:p>
            <a:r>
              <a:rPr lang="ja-JP" altLang="en-US" dirty="0">
                <a:latin typeface="+mn-ea"/>
                <a:ea typeface="+mn-ea"/>
              </a:rPr>
              <a:t>伝統的な読解活動が依拠してきた読解のモデル。</a:t>
            </a:r>
            <a:endParaRPr lang="en-US" altLang="ja-JP" dirty="0">
              <a:latin typeface="+mn-ea"/>
              <a:ea typeface="+mn-ea"/>
            </a:endParaRPr>
          </a:p>
          <a:p>
            <a:endParaRPr lang="en-US" altLang="ja-JP" dirty="0">
              <a:latin typeface="+mn-ea"/>
              <a:ea typeface="+mn-ea"/>
            </a:endParaRPr>
          </a:p>
          <a:p>
            <a:r>
              <a:rPr lang="ja-JP" altLang="en-US" dirty="0">
                <a:solidFill>
                  <a:srgbClr val="0070C0"/>
                </a:solidFill>
                <a:latin typeface="+mn-ea"/>
                <a:ea typeface="+mn-ea"/>
              </a:rPr>
              <a:t>読解の過程</a:t>
            </a:r>
            <a:endParaRPr lang="en-US" altLang="ja-JP" dirty="0">
              <a:solidFill>
                <a:srgbClr val="0070C0"/>
              </a:solidFill>
              <a:latin typeface="+mn-ea"/>
              <a:ea typeface="+mn-ea"/>
            </a:endParaRPr>
          </a:p>
          <a:p>
            <a:pPr>
              <a:buNone/>
            </a:pPr>
            <a:r>
              <a:rPr lang="ja-JP" altLang="en-US" dirty="0">
                <a:latin typeface="+mn-ea"/>
                <a:ea typeface="+mn-ea"/>
              </a:rPr>
              <a:t>　文字から単語、単語か句、句から文、文から段落へと解読を進め、最終的に書き手が言おうとした意味を正しく再生していく過程。</a:t>
            </a:r>
            <a:endParaRPr lang="en-US" altLang="ja-JP" dirty="0">
              <a:latin typeface="+mn-ea"/>
              <a:ea typeface="+mn-ea"/>
            </a:endParaRPr>
          </a:p>
          <a:p>
            <a:pPr>
              <a:buNone/>
            </a:pPr>
            <a:r>
              <a:rPr lang="ja-JP" altLang="en-US" dirty="0">
                <a:latin typeface="+mn-ea"/>
                <a:ea typeface="+mn-ea"/>
              </a:rPr>
              <a:t>　</a:t>
            </a:r>
            <a:endParaRPr lang="en-US" altLang="ja-JP" dirty="0">
              <a:latin typeface="+mn-ea"/>
              <a:ea typeface="+mn-ea"/>
            </a:endParaRPr>
          </a:p>
          <a:p>
            <a:pPr>
              <a:buNone/>
            </a:pPr>
            <a:endParaRPr lang="ko-KR" altLang="en-US" dirty="0">
              <a:latin typeface="+mn-ea"/>
              <a:ea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dirty="0">
              <a:latin typeface="+mn-ea"/>
              <a:ea typeface="+mn-ea"/>
            </a:endParaRPr>
          </a:p>
        </p:txBody>
      </p:sp>
      <p:sp>
        <p:nvSpPr>
          <p:cNvPr id="3" name="내용 개체 틀 2"/>
          <p:cNvSpPr>
            <a:spLocks noGrp="1"/>
          </p:cNvSpPr>
          <p:nvPr>
            <p:ph idx="1"/>
          </p:nvPr>
        </p:nvSpPr>
        <p:spPr/>
        <p:txBody>
          <a:bodyPr/>
          <a:lstStyle/>
          <a:p>
            <a:r>
              <a:rPr lang="ja-JP" altLang="en-US" dirty="0">
                <a:latin typeface="+mn-ea"/>
                <a:ea typeface="+mn-ea"/>
              </a:rPr>
              <a:t>文字から段落まで１段ずつ上りながら解読作業を進めていくという点に着目してボトムアップ</a:t>
            </a:r>
            <a:r>
              <a:rPr lang="en-US" altLang="ja-JP" dirty="0">
                <a:latin typeface="+mn-ea"/>
                <a:ea typeface="+mn-ea"/>
              </a:rPr>
              <a:t>(</a:t>
            </a:r>
            <a:r>
              <a:rPr lang="ja-JP" altLang="en-US" dirty="0">
                <a:latin typeface="+mn-ea"/>
                <a:ea typeface="+mn-ea"/>
              </a:rPr>
              <a:t>下から上へ）モデルと名付けられている。</a:t>
            </a:r>
            <a:endParaRPr lang="en-US" altLang="ja-JP" dirty="0">
              <a:latin typeface="+mn-ea"/>
              <a:ea typeface="+mn-ea"/>
            </a:endParaRPr>
          </a:p>
          <a:p>
            <a:endParaRPr lang="en-US" altLang="ja-JP" dirty="0">
              <a:latin typeface="+mn-ea"/>
              <a:ea typeface="+mn-ea"/>
            </a:endParaRPr>
          </a:p>
          <a:p>
            <a:r>
              <a:rPr lang="ja-JP" altLang="en-US" dirty="0">
                <a:latin typeface="+mn-ea"/>
                <a:ea typeface="+mn-ea"/>
              </a:rPr>
              <a:t>目に見える具体的なもの</a:t>
            </a:r>
            <a:r>
              <a:rPr lang="en-US" altLang="ja-JP" dirty="0">
                <a:latin typeface="+mn-ea"/>
                <a:ea typeface="+mn-ea"/>
              </a:rPr>
              <a:t>(</a:t>
            </a:r>
            <a:r>
              <a:rPr lang="ja-JP" altLang="en-US" dirty="0">
                <a:latin typeface="+mn-ea"/>
                <a:ea typeface="+mn-ea"/>
              </a:rPr>
              <a:t>印刷された文字</a:t>
            </a:r>
            <a:r>
              <a:rPr lang="en-US" altLang="ja-JP" dirty="0">
                <a:latin typeface="+mn-ea"/>
                <a:ea typeface="+mn-ea"/>
              </a:rPr>
              <a:t>)</a:t>
            </a:r>
            <a:r>
              <a:rPr lang="ja-JP" altLang="en-US" dirty="0">
                <a:latin typeface="+mn-ea"/>
                <a:ea typeface="+mn-ea"/>
              </a:rPr>
              <a:t>から目に見えない抽象的な意味</a:t>
            </a:r>
            <a:r>
              <a:rPr lang="en-US" altLang="ja-JP" dirty="0">
                <a:latin typeface="+mn-ea"/>
                <a:ea typeface="+mn-ea"/>
              </a:rPr>
              <a:t>(</a:t>
            </a:r>
            <a:r>
              <a:rPr lang="ja-JP" altLang="en-US" dirty="0">
                <a:latin typeface="+mn-ea"/>
                <a:ea typeface="+mn-ea"/>
              </a:rPr>
              <a:t>書き手の意図）に至る一方向性の線状的なモデル。</a:t>
            </a:r>
            <a:endParaRPr lang="ko-KR" altLang="en-US" dirty="0">
              <a:latin typeface="+mn-ea"/>
              <a:ea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70C0"/>
                </a:solidFill>
                <a:latin typeface="+mn-ea"/>
                <a:ea typeface="+mn-ea"/>
              </a:rPr>
              <a:t>具体的な読解指導</a:t>
            </a:r>
            <a:endParaRPr lang="ko-KR" altLang="en-US" b="1" dirty="0">
              <a:solidFill>
                <a:srgbClr val="0070C0"/>
              </a:solidFill>
              <a:latin typeface="+mn-ea"/>
              <a:ea typeface="+mn-ea"/>
            </a:endParaRPr>
          </a:p>
        </p:txBody>
      </p:sp>
      <p:sp>
        <p:nvSpPr>
          <p:cNvPr id="3" name="내용 개체 틀 2"/>
          <p:cNvSpPr>
            <a:spLocks noGrp="1"/>
          </p:cNvSpPr>
          <p:nvPr>
            <p:ph idx="1"/>
          </p:nvPr>
        </p:nvSpPr>
        <p:spPr/>
        <p:txBody>
          <a:bodyPr>
            <a:normAutofit fontScale="92500" lnSpcReduction="10000"/>
          </a:bodyPr>
          <a:lstStyle/>
          <a:p>
            <a:r>
              <a:rPr lang="ja-JP" altLang="en-US" dirty="0">
                <a:latin typeface="+mn-ea"/>
                <a:ea typeface="+mn-ea"/>
              </a:rPr>
              <a:t>一番小さい単位である語彙に焦点</a:t>
            </a:r>
            <a:endParaRPr lang="en-US" altLang="ja-JP" dirty="0">
              <a:latin typeface="+mn-ea"/>
              <a:ea typeface="+mn-ea"/>
            </a:endParaRPr>
          </a:p>
          <a:p>
            <a:r>
              <a:rPr lang="ja-JP" altLang="en-US" dirty="0">
                <a:latin typeface="+mn-ea"/>
                <a:ea typeface="+mn-ea"/>
              </a:rPr>
              <a:t>句レベル（慣用句など）</a:t>
            </a:r>
            <a:endParaRPr lang="en-US" altLang="ja-JP" dirty="0">
              <a:latin typeface="+mn-ea"/>
              <a:ea typeface="+mn-ea"/>
            </a:endParaRPr>
          </a:p>
          <a:p>
            <a:r>
              <a:rPr lang="ja-JP" altLang="en-US" dirty="0">
                <a:latin typeface="+mn-ea"/>
                <a:ea typeface="+mn-ea"/>
              </a:rPr>
              <a:t>文レベル</a:t>
            </a:r>
            <a:r>
              <a:rPr lang="en-US" altLang="ja-JP" dirty="0">
                <a:latin typeface="+mn-ea"/>
                <a:ea typeface="+mn-ea"/>
              </a:rPr>
              <a:t>(</a:t>
            </a:r>
            <a:r>
              <a:rPr lang="ja-JP" altLang="en-US" dirty="0">
                <a:latin typeface="+mn-ea"/>
                <a:ea typeface="+mn-ea"/>
              </a:rPr>
              <a:t>修飾関係や指示詞が指すもの）</a:t>
            </a:r>
            <a:endParaRPr lang="en-US" altLang="ja-JP" dirty="0">
              <a:latin typeface="+mn-ea"/>
              <a:ea typeface="+mn-ea"/>
            </a:endParaRPr>
          </a:p>
          <a:p>
            <a:r>
              <a:rPr lang="ja-JP" altLang="en-US" dirty="0">
                <a:latin typeface="+mn-ea"/>
                <a:ea typeface="+mn-ea"/>
              </a:rPr>
              <a:t>段落</a:t>
            </a:r>
            <a:endParaRPr lang="en-US" altLang="ja-JP" dirty="0">
              <a:latin typeface="+mn-ea"/>
              <a:ea typeface="+mn-ea"/>
            </a:endParaRPr>
          </a:p>
          <a:p>
            <a:r>
              <a:rPr lang="ja-JP" altLang="en-US" dirty="0">
                <a:latin typeface="+mn-ea"/>
                <a:ea typeface="+mn-ea"/>
              </a:rPr>
              <a:t>意味解釈が完成</a:t>
            </a:r>
            <a:endParaRPr lang="en-US" altLang="ja-JP" dirty="0">
              <a:latin typeface="+mn-ea"/>
              <a:ea typeface="+mn-ea"/>
            </a:endParaRPr>
          </a:p>
          <a:p>
            <a:r>
              <a:rPr lang="ja-JP" altLang="en-US" dirty="0">
                <a:latin typeface="+mn-ea"/>
                <a:ea typeface="+mn-ea"/>
              </a:rPr>
              <a:t>以上の過程が理解できているか、チェック</a:t>
            </a:r>
            <a:endParaRPr lang="en-US" altLang="ja-JP" dirty="0">
              <a:latin typeface="+mn-ea"/>
              <a:ea typeface="+mn-ea"/>
            </a:endParaRPr>
          </a:p>
          <a:p>
            <a:pPr>
              <a:buNone/>
            </a:pPr>
            <a:r>
              <a:rPr lang="ja-JP" altLang="en-US" dirty="0">
                <a:latin typeface="+mn-ea"/>
                <a:ea typeface="+mn-ea"/>
              </a:rPr>
              <a:t>　（語や句の意味、文や段落全体の関係について各種の質問）</a:t>
            </a:r>
            <a:endParaRPr lang="en-US" altLang="ja-JP" dirty="0">
              <a:latin typeface="+mn-ea"/>
              <a:ea typeface="+mn-ea"/>
            </a:endParaRPr>
          </a:p>
          <a:p>
            <a:pPr>
              <a:buNone/>
            </a:pPr>
            <a:r>
              <a:rPr lang="ja-JP" altLang="en-US" dirty="0">
                <a:latin typeface="+mn-ea"/>
                <a:ea typeface="+mn-ea"/>
              </a:rPr>
              <a:t>　</a:t>
            </a:r>
            <a:endParaRPr lang="ko-KR" altLang="en-US" dirty="0">
              <a:latin typeface="+mn-ea"/>
              <a:ea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dirty="0">
              <a:latin typeface="+mn-ea"/>
              <a:ea typeface="+mn-ea"/>
            </a:endParaRPr>
          </a:p>
        </p:txBody>
      </p:sp>
      <p:sp>
        <p:nvSpPr>
          <p:cNvPr id="3" name="내용 개체 틀 2"/>
          <p:cNvSpPr>
            <a:spLocks noGrp="1"/>
          </p:cNvSpPr>
          <p:nvPr>
            <p:ph idx="1"/>
          </p:nvPr>
        </p:nvSpPr>
        <p:spPr>
          <a:xfrm>
            <a:off x="457200" y="1600200"/>
            <a:ext cx="8229600" cy="5069160"/>
          </a:xfrm>
        </p:spPr>
        <p:txBody>
          <a:bodyPr>
            <a:normAutofit fontScale="92500"/>
          </a:bodyPr>
          <a:lstStyle/>
          <a:p>
            <a:r>
              <a:rPr lang="ja-JP" altLang="en-US" dirty="0">
                <a:latin typeface="+mn-ea"/>
                <a:ea typeface="+mn-ea"/>
              </a:rPr>
              <a:t>熟達した読み手になるには、語彙を増やすこと、文法をおさらいすること、接続関係を復習することが強調される。</a:t>
            </a:r>
            <a:endParaRPr lang="en-US" altLang="ja-JP" dirty="0">
              <a:latin typeface="+mn-ea"/>
              <a:ea typeface="+mn-ea"/>
            </a:endParaRPr>
          </a:p>
          <a:p>
            <a:endParaRPr lang="en-US" altLang="ja-JP" dirty="0">
              <a:latin typeface="+mn-ea"/>
              <a:ea typeface="+mn-ea"/>
            </a:endParaRPr>
          </a:p>
          <a:p>
            <a:r>
              <a:rPr lang="ja-JP" altLang="en-US" dirty="0">
                <a:solidFill>
                  <a:srgbClr val="0070C0"/>
                </a:solidFill>
                <a:latin typeface="+mn-ea"/>
                <a:ea typeface="+mn-ea"/>
              </a:rPr>
              <a:t>読みは基本的に受身的</a:t>
            </a:r>
            <a:endParaRPr lang="en-US" altLang="ja-JP" dirty="0">
              <a:solidFill>
                <a:srgbClr val="0070C0"/>
              </a:solidFill>
              <a:latin typeface="+mn-ea"/>
              <a:ea typeface="+mn-ea"/>
            </a:endParaRPr>
          </a:p>
          <a:p>
            <a:pPr>
              <a:buFont typeface="Wingdings" pitchFamily="2" charset="2"/>
              <a:buChar char="Ø"/>
            </a:pPr>
            <a:r>
              <a:rPr lang="ja-JP" altLang="en-US" dirty="0">
                <a:latin typeface="+mn-ea"/>
                <a:ea typeface="+mn-ea"/>
              </a:rPr>
              <a:t>意味は書かれた文字の連なりの中に存在するのであり、意味解釈に読み手の関与する余地は認められていない。</a:t>
            </a:r>
            <a:endParaRPr lang="en-US" altLang="ja-JP" dirty="0">
              <a:latin typeface="+mn-ea"/>
              <a:ea typeface="+mn-ea"/>
            </a:endParaRPr>
          </a:p>
          <a:p>
            <a:pPr>
              <a:buFont typeface="Wingdings" pitchFamily="2" charset="2"/>
              <a:buChar char="Ø"/>
            </a:pPr>
            <a:r>
              <a:rPr lang="ja-JP" altLang="en-US" dirty="0">
                <a:latin typeface="+mn-ea"/>
                <a:ea typeface="+mn-ea"/>
              </a:rPr>
              <a:t>読み手が主体的な役割・一定の幅を持った意味が成立するという可能性は考えられていない。</a:t>
            </a:r>
            <a:endParaRPr lang="ko-KR" altLang="en-US" dirty="0">
              <a:latin typeface="+mn-ea"/>
              <a:ea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latin typeface="+mn-ea"/>
                <a:ea typeface="+mn-ea"/>
              </a:rPr>
              <a:t>タスク３</a:t>
            </a:r>
            <a:endParaRPr lang="ko-KR" altLang="en-US" b="1" dirty="0">
              <a:solidFill>
                <a:srgbClr val="00B050"/>
              </a:solidFill>
              <a:latin typeface="+mn-ea"/>
              <a:ea typeface="+mn-ea"/>
            </a:endParaRPr>
          </a:p>
        </p:txBody>
      </p:sp>
      <p:sp>
        <p:nvSpPr>
          <p:cNvPr id="3" name="내용 개체 틀 2"/>
          <p:cNvSpPr>
            <a:spLocks noGrp="1"/>
          </p:cNvSpPr>
          <p:nvPr>
            <p:ph idx="1"/>
          </p:nvPr>
        </p:nvSpPr>
        <p:spPr>
          <a:xfrm>
            <a:off x="457200" y="1600200"/>
            <a:ext cx="8229600" cy="4997152"/>
          </a:xfrm>
        </p:spPr>
        <p:txBody>
          <a:bodyPr>
            <a:normAutofit lnSpcReduction="10000"/>
          </a:bodyPr>
          <a:lstStyle/>
          <a:p>
            <a:r>
              <a:rPr lang="ja-JP" altLang="en-US" dirty="0">
                <a:latin typeface="+mn-ea"/>
                <a:ea typeface="+mn-ea"/>
              </a:rPr>
              <a:t>第１言語で書かれたものを読む場合と第２言語で書かれたものを読む場合で比べてみましょう。</a:t>
            </a:r>
            <a:endParaRPr lang="en-US" altLang="ja-JP" dirty="0">
              <a:latin typeface="+mn-ea"/>
              <a:ea typeface="+mn-ea"/>
            </a:endParaRPr>
          </a:p>
          <a:p>
            <a:endParaRPr lang="en-US" altLang="ja-JP" dirty="0">
              <a:latin typeface="+mn-ea"/>
              <a:ea typeface="+mn-ea"/>
            </a:endParaRPr>
          </a:p>
          <a:p>
            <a:r>
              <a:rPr lang="ja-JP" altLang="en-US" dirty="0">
                <a:latin typeface="+mn-ea"/>
                <a:ea typeface="+mn-ea"/>
              </a:rPr>
              <a:t>第１言語で違った種類の読み物を読む場合で比べてみましょう。（新聞、広告、ちらし、雑誌、献立、手紙、小説、専門書</a:t>
            </a:r>
            <a:r>
              <a:rPr lang="en-US" altLang="ja-JP" dirty="0">
                <a:latin typeface="+mn-ea"/>
                <a:ea typeface="+mn-ea"/>
              </a:rPr>
              <a:t>)</a:t>
            </a:r>
          </a:p>
          <a:p>
            <a:endParaRPr lang="en-US" altLang="ja-JP" dirty="0">
              <a:latin typeface="+mn-ea"/>
              <a:ea typeface="+mn-ea"/>
            </a:endParaRPr>
          </a:p>
          <a:p>
            <a:r>
              <a:rPr lang="ja-JP" altLang="en-US" dirty="0">
                <a:solidFill>
                  <a:schemeClr val="accent6">
                    <a:lumMod val="75000"/>
                  </a:schemeClr>
                </a:solidFill>
                <a:latin typeface="+mn-ea"/>
                <a:ea typeface="+mn-ea"/>
              </a:rPr>
              <a:t>観点</a:t>
            </a:r>
            <a:r>
              <a:rPr lang="ja-JP" altLang="en-US" dirty="0">
                <a:latin typeface="+mn-ea"/>
                <a:ea typeface="+mn-ea"/>
              </a:rPr>
              <a:t>：ボトムアップ式の読み方で読んでいるかどうか。</a:t>
            </a:r>
            <a:endParaRPr lang="en-US" altLang="ja-JP" dirty="0">
              <a:latin typeface="+mn-ea"/>
              <a:ea typeface="+mn-ea"/>
            </a:endParaRPr>
          </a:p>
          <a:p>
            <a:pPr>
              <a:buNone/>
            </a:pPr>
            <a:endParaRPr lang="en-US" altLang="ko-KR" dirty="0">
              <a:latin typeface="+mn-ea"/>
              <a:ea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latin typeface="+mn-ea"/>
                <a:ea typeface="+mn-ea"/>
              </a:rPr>
              <a:t>トップダウンモデル</a:t>
            </a:r>
            <a:endParaRPr lang="ko-KR" altLang="en-US" b="1" dirty="0">
              <a:solidFill>
                <a:srgbClr val="00B050"/>
              </a:solidFill>
              <a:latin typeface="+mn-ea"/>
              <a:ea typeface="+mn-ea"/>
            </a:endParaRPr>
          </a:p>
        </p:txBody>
      </p:sp>
      <p:sp>
        <p:nvSpPr>
          <p:cNvPr id="3" name="내용 개체 틀 2"/>
          <p:cNvSpPr>
            <a:spLocks noGrp="1"/>
          </p:cNvSpPr>
          <p:nvPr>
            <p:ph idx="1"/>
          </p:nvPr>
        </p:nvSpPr>
        <p:spPr/>
        <p:txBody>
          <a:bodyPr/>
          <a:lstStyle/>
          <a:p>
            <a:r>
              <a:rPr lang="ja-JP" altLang="en-US" dirty="0">
                <a:latin typeface="+mn-ea"/>
                <a:ea typeface="+mn-ea"/>
              </a:rPr>
              <a:t>グットマン（</a:t>
            </a:r>
            <a:r>
              <a:rPr lang="en-US" altLang="ja-JP" dirty="0" err="1">
                <a:latin typeface="+mn-ea"/>
                <a:ea typeface="+mn-ea"/>
              </a:rPr>
              <a:t>Goodman,K</a:t>
            </a:r>
            <a:r>
              <a:rPr lang="en-US" altLang="ja-JP" dirty="0">
                <a:latin typeface="+mn-ea"/>
                <a:ea typeface="+mn-ea"/>
              </a:rPr>
              <a:t>)</a:t>
            </a:r>
            <a:r>
              <a:rPr lang="ja-JP" altLang="en-US" dirty="0">
                <a:latin typeface="+mn-ea"/>
                <a:ea typeface="+mn-ea"/>
              </a:rPr>
              <a:t>、アメリカの心理学者。</a:t>
            </a:r>
            <a:endParaRPr lang="en-US" altLang="ja-JP" dirty="0">
              <a:latin typeface="+mn-ea"/>
              <a:ea typeface="+mn-ea"/>
            </a:endParaRPr>
          </a:p>
          <a:p>
            <a:pPr>
              <a:buNone/>
            </a:pPr>
            <a:endParaRPr lang="en-US" altLang="ja-JP" dirty="0">
              <a:latin typeface="+mn-ea"/>
              <a:ea typeface="+mn-ea"/>
            </a:endParaRPr>
          </a:p>
          <a:p>
            <a:r>
              <a:rPr lang="ja-JP" altLang="en-US" dirty="0">
                <a:latin typeface="+mn-ea"/>
                <a:ea typeface="+mn-ea"/>
              </a:rPr>
              <a:t>読み手の側からの能動的なかかわり、特に、予測と検証によって初めて可能（心理的な推測ゲーム）。</a:t>
            </a:r>
            <a:endParaRPr lang="en-US" altLang="ja-JP" dirty="0">
              <a:latin typeface="+mn-ea"/>
              <a:ea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dirty="0">
              <a:latin typeface="+mn-ea"/>
              <a:ea typeface="+mn-ea"/>
            </a:endParaRPr>
          </a:p>
        </p:txBody>
      </p:sp>
      <p:sp>
        <p:nvSpPr>
          <p:cNvPr id="3" name="내용 개체 틀 2"/>
          <p:cNvSpPr>
            <a:spLocks noGrp="1"/>
          </p:cNvSpPr>
          <p:nvPr>
            <p:ph idx="1"/>
          </p:nvPr>
        </p:nvSpPr>
        <p:spPr/>
        <p:txBody>
          <a:bodyPr>
            <a:normAutofit fontScale="92500" lnSpcReduction="10000"/>
          </a:bodyPr>
          <a:lstStyle/>
          <a:p>
            <a:r>
              <a:rPr lang="ja-JP" altLang="en-US" dirty="0">
                <a:latin typeface="+mn-ea"/>
                <a:ea typeface="+mn-ea"/>
              </a:rPr>
              <a:t>特定の言語情報</a:t>
            </a:r>
            <a:r>
              <a:rPr lang="en-US" altLang="ja-JP" dirty="0">
                <a:latin typeface="+mn-ea"/>
                <a:ea typeface="+mn-ea"/>
              </a:rPr>
              <a:t>(</a:t>
            </a:r>
            <a:r>
              <a:rPr lang="ja-JP" altLang="en-US" dirty="0">
                <a:latin typeface="+mn-ea"/>
                <a:ea typeface="+mn-ea"/>
              </a:rPr>
              <a:t>タイトル、見出し、キーワード、写真や図など）をヒントにしてテキストの内容を予測する。</a:t>
            </a:r>
            <a:endParaRPr lang="en-US" altLang="ja-JP" dirty="0">
              <a:latin typeface="+mn-ea"/>
              <a:ea typeface="+mn-ea"/>
            </a:endParaRPr>
          </a:p>
          <a:p>
            <a:r>
              <a:rPr lang="ja-JP" altLang="en-US" dirty="0">
                <a:latin typeface="+mn-ea"/>
                <a:ea typeface="+mn-ea"/>
              </a:rPr>
              <a:t>その予測をテキストが持っている言語情報</a:t>
            </a:r>
            <a:r>
              <a:rPr lang="en-US" altLang="ja-JP" dirty="0">
                <a:latin typeface="+mn-ea"/>
                <a:ea typeface="+mn-ea"/>
              </a:rPr>
              <a:t>(</a:t>
            </a:r>
            <a:r>
              <a:rPr lang="ja-JP" altLang="en-US" dirty="0">
                <a:latin typeface="+mn-ea"/>
                <a:ea typeface="+mn-ea"/>
              </a:rPr>
              <a:t>語彙、統語、意味の３領域）に照らして検証する。（確認、修正などを通して意味を作り上げる）</a:t>
            </a:r>
            <a:endParaRPr lang="en-US" altLang="ja-JP" dirty="0">
              <a:latin typeface="+mn-ea"/>
              <a:ea typeface="+mn-ea"/>
            </a:endParaRPr>
          </a:p>
          <a:p>
            <a:endParaRPr lang="en-US" altLang="ja-JP" dirty="0">
              <a:latin typeface="+mn-ea"/>
              <a:ea typeface="+mn-ea"/>
            </a:endParaRPr>
          </a:p>
          <a:p>
            <a:pPr>
              <a:buFont typeface="Wingdings" pitchFamily="2" charset="2"/>
              <a:buChar char="Ø"/>
            </a:pPr>
            <a:r>
              <a:rPr lang="ja-JP" altLang="en-US" dirty="0">
                <a:latin typeface="+mn-ea"/>
                <a:ea typeface="+mn-ea"/>
              </a:rPr>
              <a:t>読解は、読み手が持っている様々な知識に依拠した</a:t>
            </a:r>
            <a:r>
              <a:rPr lang="ja-JP" altLang="en-US" u="sng" dirty="0">
                <a:latin typeface="+mn-ea"/>
                <a:ea typeface="+mn-ea"/>
              </a:rPr>
              <a:t>予測から始まって</a:t>
            </a:r>
            <a:r>
              <a:rPr lang="ja-JP" altLang="en-US" dirty="0">
                <a:latin typeface="+mn-ea"/>
                <a:ea typeface="+mn-ea"/>
              </a:rPr>
              <a:t>、その予測を</a:t>
            </a:r>
            <a:r>
              <a:rPr lang="ja-JP" altLang="en-US" u="sng" dirty="0">
                <a:latin typeface="+mn-ea"/>
                <a:ea typeface="+mn-ea"/>
              </a:rPr>
              <a:t>テキストに照らして確認する過程。</a:t>
            </a:r>
            <a:endParaRPr lang="ko-KR" altLang="en-US" u="sng" dirty="0">
              <a:latin typeface="+mn-ea"/>
              <a:ea typeface="+mn-ea"/>
            </a:endParaRPr>
          </a:p>
          <a:p>
            <a:endParaRPr lang="ko-KR" altLang="en-US" dirty="0">
              <a:latin typeface="+mn-ea"/>
              <a:ea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dirty="0">
              <a:latin typeface="+mn-ea"/>
              <a:ea typeface="+mn-ea"/>
            </a:endParaRPr>
          </a:p>
        </p:txBody>
      </p:sp>
      <p:sp>
        <p:nvSpPr>
          <p:cNvPr id="3" name="내용 개체 틀 2"/>
          <p:cNvSpPr>
            <a:spLocks noGrp="1"/>
          </p:cNvSpPr>
          <p:nvPr>
            <p:ph idx="1"/>
          </p:nvPr>
        </p:nvSpPr>
        <p:spPr>
          <a:xfrm>
            <a:off x="457200" y="1600200"/>
            <a:ext cx="8229600" cy="5069160"/>
          </a:xfrm>
        </p:spPr>
        <p:txBody>
          <a:bodyPr>
            <a:normAutofit lnSpcReduction="10000"/>
          </a:bodyPr>
          <a:lstStyle/>
          <a:p>
            <a:r>
              <a:rPr lang="ja-JP" altLang="en-US" dirty="0">
                <a:latin typeface="+mn-ea"/>
                <a:ea typeface="+mn-ea"/>
              </a:rPr>
              <a:t>書かれているすべての言語情報に逐一当たるというような読み方は非効率的。</a:t>
            </a:r>
            <a:endParaRPr lang="en-US" altLang="ja-JP" dirty="0">
              <a:latin typeface="+mn-ea"/>
              <a:ea typeface="+mn-ea"/>
            </a:endParaRPr>
          </a:p>
          <a:p>
            <a:endParaRPr lang="en-US" altLang="ja-JP" dirty="0">
              <a:latin typeface="+mn-ea"/>
              <a:ea typeface="+mn-ea"/>
            </a:endParaRPr>
          </a:p>
          <a:p>
            <a:r>
              <a:rPr lang="ja-JP" altLang="en-US" dirty="0">
                <a:latin typeface="+mn-ea"/>
                <a:ea typeface="+mn-ea"/>
              </a:rPr>
              <a:t>読み飛ばしても目的に合致した内容がつかまればそれがよい読み方。</a:t>
            </a:r>
            <a:endParaRPr lang="en-US" altLang="ja-JP" dirty="0">
              <a:latin typeface="+mn-ea"/>
              <a:ea typeface="+mn-ea"/>
            </a:endParaRPr>
          </a:p>
          <a:p>
            <a:endParaRPr lang="en-US" altLang="ja-JP" dirty="0">
              <a:latin typeface="+mn-ea"/>
              <a:ea typeface="+mn-ea"/>
            </a:endParaRPr>
          </a:p>
          <a:p>
            <a:r>
              <a:rPr lang="ja-JP" altLang="en-US" dirty="0">
                <a:latin typeface="+mn-ea"/>
                <a:ea typeface="+mn-ea"/>
              </a:rPr>
              <a:t>読み手の頭の中にある予測、推測という抽象的なもの</a:t>
            </a:r>
            <a:r>
              <a:rPr lang="en-US" altLang="ja-JP" dirty="0">
                <a:latin typeface="+mn-ea"/>
                <a:ea typeface="+mn-ea"/>
              </a:rPr>
              <a:t>(</a:t>
            </a:r>
            <a:r>
              <a:rPr lang="ja-JP" altLang="en-US" dirty="0">
                <a:latin typeface="+mn-ea"/>
                <a:ea typeface="+mn-ea"/>
              </a:rPr>
              <a:t>トップ</a:t>
            </a:r>
            <a:r>
              <a:rPr lang="en-US" altLang="ja-JP" dirty="0">
                <a:latin typeface="+mn-ea"/>
                <a:ea typeface="+mn-ea"/>
              </a:rPr>
              <a:t>)</a:t>
            </a:r>
            <a:r>
              <a:rPr lang="ja-JP" altLang="en-US" dirty="0">
                <a:latin typeface="+mn-ea"/>
                <a:ea typeface="+mn-ea"/>
              </a:rPr>
              <a:t>からテキストの文字に下りていく（ダウン</a:t>
            </a:r>
            <a:r>
              <a:rPr lang="en-US" altLang="ja-JP" dirty="0">
                <a:latin typeface="+mn-ea"/>
                <a:ea typeface="+mn-ea"/>
              </a:rPr>
              <a:t>)</a:t>
            </a:r>
            <a:r>
              <a:rPr lang="ja-JP" altLang="en-US" dirty="0">
                <a:latin typeface="+mn-ea"/>
                <a:ea typeface="+mn-ea"/>
              </a:rPr>
              <a:t>という点に注目してトップダウンと名付けられている。</a:t>
            </a:r>
            <a:endParaRPr lang="ko-KR" altLang="en-US" dirty="0">
              <a:latin typeface="+mn-ea"/>
              <a:ea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latin typeface="+mn-ea"/>
                <a:ea typeface="+mn-ea"/>
              </a:rPr>
              <a:t>スキーマ理論と読解ストラテジー</a:t>
            </a:r>
            <a:endParaRPr lang="ko-KR" altLang="en-US" b="1" dirty="0">
              <a:solidFill>
                <a:srgbClr val="00B050"/>
              </a:solidFill>
              <a:latin typeface="+mn-ea"/>
              <a:ea typeface="+mn-ea"/>
            </a:endParaRPr>
          </a:p>
        </p:txBody>
      </p:sp>
      <p:sp>
        <p:nvSpPr>
          <p:cNvPr id="3" name="내용 개체 틀 2"/>
          <p:cNvSpPr>
            <a:spLocks noGrp="1"/>
          </p:cNvSpPr>
          <p:nvPr>
            <p:ph idx="1"/>
          </p:nvPr>
        </p:nvSpPr>
        <p:spPr/>
        <p:txBody>
          <a:bodyPr/>
          <a:lstStyle/>
          <a:p>
            <a:r>
              <a:rPr lang="ja-JP" altLang="en-US" dirty="0">
                <a:latin typeface="+mn-ea"/>
                <a:ea typeface="+mn-ea"/>
              </a:rPr>
              <a:t>トップダウンモデルの展開と合わせて、盛んになった。</a:t>
            </a:r>
            <a:endParaRPr lang="en-US" altLang="ja-JP" dirty="0">
              <a:latin typeface="+mn-ea"/>
              <a:ea typeface="+mn-ea"/>
            </a:endParaRPr>
          </a:p>
          <a:p>
            <a:endParaRPr lang="en-US" altLang="ja-JP" dirty="0">
              <a:latin typeface="+mn-ea"/>
              <a:ea typeface="+mn-ea"/>
            </a:endParaRPr>
          </a:p>
          <a:p>
            <a:r>
              <a:rPr lang="ja-JP" altLang="en-US" dirty="0">
                <a:latin typeface="+mn-ea"/>
                <a:ea typeface="+mn-ea"/>
              </a:rPr>
              <a:t>「意味」はテキスト自体はなく、その読み手が作り出す」という観点から読み手に焦点を当てている。</a:t>
            </a:r>
            <a:endParaRPr lang="en-US" altLang="ja-JP" dirty="0">
              <a:latin typeface="+mn-ea"/>
              <a:ea typeface="+mn-ea"/>
            </a:endParaRPr>
          </a:p>
          <a:p>
            <a:pPr>
              <a:buNone/>
            </a:pPr>
            <a:endParaRPr lang="ko-KR" altLang="en-US" dirty="0">
              <a:latin typeface="+mn-ea"/>
              <a:ea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dirty="0">
              <a:latin typeface="+mn-ea"/>
              <a:ea typeface="+mn-ea"/>
            </a:endParaRPr>
          </a:p>
        </p:txBody>
      </p:sp>
      <p:sp>
        <p:nvSpPr>
          <p:cNvPr id="3" name="내용 개체 틀 2"/>
          <p:cNvSpPr>
            <a:spLocks noGrp="1"/>
          </p:cNvSpPr>
          <p:nvPr>
            <p:ph idx="1"/>
          </p:nvPr>
        </p:nvSpPr>
        <p:spPr/>
        <p:txBody>
          <a:bodyPr/>
          <a:lstStyle/>
          <a:p>
            <a:r>
              <a:rPr lang="ja-JP" altLang="en-US" dirty="0">
                <a:latin typeface="+mn-ea"/>
                <a:ea typeface="+mn-ea"/>
              </a:rPr>
              <a:t>読み手は予測をたて、その予測を検証するのがトップダウンモデルであるが、</a:t>
            </a:r>
            <a:r>
              <a:rPr lang="ja-JP" altLang="en-US" u="sng" dirty="0">
                <a:latin typeface="+mn-ea"/>
                <a:ea typeface="+mn-ea"/>
              </a:rPr>
              <a:t>何をもとに予測を立てるのか</a:t>
            </a:r>
            <a:r>
              <a:rPr lang="ja-JP" altLang="en-US" dirty="0">
                <a:latin typeface="+mn-ea"/>
                <a:ea typeface="+mn-ea"/>
              </a:rPr>
              <a:t>。</a:t>
            </a:r>
            <a:endParaRPr lang="en-US" altLang="ja-JP" dirty="0">
              <a:latin typeface="+mn-ea"/>
              <a:ea typeface="+mn-ea"/>
            </a:endParaRPr>
          </a:p>
          <a:p>
            <a:r>
              <a:rPr lang="ja-JP" altLang="en-US" dirty="0">
                <a:latin typeface="+mn-ea"/>
                <a:ea typeface="+mn-ea"/>
              </a:rPr>
              <a:t>→言語についての知識＋</a:t>
            </a:r>
            <a:r>
              <a:rPr lang="ja-JP" altLang="en-US" u="sng" dirty="0">
                <a:latin typeface="+mn-ea"/>
                <a:ea typeface="+mn-ea"/>
              </a:rPr>
              <a:t>それまでの経験や学習の結果、獲得した</a:t>
            </a:r>
            <a:r>
              <a:rPr lang="ja-JP" altLang="en-US" u="sng" dirty="0">
                <a:solidFill>
                  <a:srgbClr val="0070C0"/>
                </a:solidFill>
                <a:latin typeface="+mn-ea"/>
                <a:ea typeface="+mn-ea"/>
              </a:rPr>
              <a:t>背景知識。</a:t>
            </a:r>
            <a:endParaRPr lang="en-US" altLang="ja-JP" u="sng" dirty="0">
              <a:solidFill>
                <a:srgbClr val="0070C0"/>
              </a:solidFill>
              <a:latin typeface="+mn-ea"/>
              <a:ea typeface="+mn-ea"/>
            </a:endParaRPr>
          </a:p>
          <a:p>
            <a:r>
              <a:rPr lang="ja-JP" altLang="en-US" dirty="0">
                <a:latin typeface="+mn-ea"/>
                <a:ea typeface="+mn-ea"/>
              </a:rPr>
              <a:t>背景知識は、図式化され構造化された知識の枠組みという形で存在し、その知識の構造化された枠組みを</a:t>
            </a:r>
            <a:r>
              <a:rPr lang="ja-JP" altLang="en-US" u="sng" dirty="0">
                <a:solidFill>
                  <a:srgbClr val="0070C0"/>
                </a:solidFill>
                <a:latin typeface="+mn-ea"/>
                <a:ea typeface="+mn-ea"/>
              </a:rPr>
              <a:t>スキーマ</a:t>
            </a:r>
            <a:r>
              <a:rPr lang="ja-JP" altLang="en-US" dirty="0">
                <a:latin typeface="+mn-ea"/>
                <a:ea typeface="+mn-ea"/>
              </a:rPr>
              <a:t>と言う。</a:t>
            </a:r>
            <a:endParaRPr lang="ko-KR" altLang="en-US" dirty="0">
              <a:latin typeface="+mn-ea"/>
              <a:ea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dirty="0">
              <a:latin typeface="+mn-ea"/>
              <a:ea typeface="+mn-ea"/>
            </a:endParaRPr>
          </a:p>
        </p:txBody>
      </p:sp>
      <p:sp>
        <p:nvSpPr>
          <p:cNvPr id="3" name="내용 개체 틀 2"/>
          <p:cNvSpPr>
            <a:spLocks noGrp="1"/>
          </p:cNvSpPr>
          <p:nvPr>
            <p:ph idx="1"/>
          </p:nvPr>
        </p:nvSpPr>
        <p:spPr/>
        <p:txBody>
          <a:bodyPr>
            <a:normAutofit fontScale="92500"/>
          </a:bodyPr>
          <a:lstStyle/>
          <a:p>
            <a:r>
              <a:rPr lang="ja-JP" altLang="en-US" dirty="0">
                <a:latin typeface="+mn-ea"/>
                <a:ea typeface="+mn-ea"/>
              </a:rPr>
              <a:t>トップダウンの鍵である</a:t>
            </a:r>
            <a:r>
              <a:rPr lang="ja-JP" altLang="en-US" u="sng" dirty="0">
                <a:latin typeface="+mn-ea"/>
                <a:ea typeface="+mn-ea"/>
              </a:rPr>
              <a:t>予測</a:t>
            </a:r>
            <a:r>
              <a:rPr lang="ja-JP" altLang="en-US" dirty="0">
                <a:latin typeface="+mn-ea"/>
                <a:ea typeface="+mn-ea"/>
              </a:rPr>
              <a:t>は、その読み手が持っている</a:t>
            </a:r>
            <a:r>
              <a:rPr lang="ja-JP" altLang="en-US" u="sng" dirty="0">
                <a:latin typeface="+mn-ea"/>
                <a:ea typeface="+mn-ea"/>
              </a:rPr>
              <a:t>スキーマに沿って行われる</a:t>
            </a:r>
            <a:r>
              <a:rPr lang="ja-JP" altLang="en-US" dirty="0">
                <a:latin typeface="+mn-ea"/>
                <a:ea typeface="+mn-ea"/>
              </a:rPr>
              <a:t>。</a:t>
            </a:r>
            <a:endParaRPr lang="en-US" altLang="ja-JP" dirty="0">
              <a:latin typeface="+mn-ea"/>
              <a:ea typeface="+mn-ea"/>
            </a:endParaRPr>
          </a:p>
          <a:p>
            <a:endParaRPr lang="en-US" altLang="ja-JP" dirty="0">
              <a:latin typeface="+mn-ea"/>
              <a:ea typeface="+mn-ea"/>
            </a:endParaRPr>
          </a:p>
          <a:p>
            <a:r>
              <a:rPr lang="ja-JP" altLang="en-US" dirty="0">
                <a:latin typeface="+mn-ea"/>
                <a:ea typeface="+mn-ea"/>
              </a:rPr>
              <a:t>読解に関係してくるスキーマ</a:t>
            </a:r>
            <a:endParaRPr lang="en-US" altLang="ja-JP" dirty="0">
              <a:latin typeface="+mn-ea"/>
              <a:ea typeface="+mn-ea"/>
            </a:endParaRPr>
          </a:p>
          <a:p>
            <a:pPr>
              <a:buNone/>
            </a:pPr>
            <a:r>
              <a:rPr lang="ja-JP" altLang="en-US" dirty="0">
                <a:latin typeface="+mn-ea"/>
                <a:ea typeface="+mn-ea"/>
              </a:rPr>
              <a:t>　言語自体、テキストの内容、テキストの構造</a:t>
            </a:r>
            <a:endParaRPr lang="en-US" altLang="ja-JP" dirty="0">
              <a:latin typeface="+mn-ea"/>
              <a:ea typeface="+mn-ea"/>
            </a:endParaRPr>
          </a:p>
          <a:p>
            <a:pPr>
              <a:buNone/>
            </a:pPr>
            <a:endParaRPr lang="en-US" altLang="ja-JP" dirty="0">
              <a:latin typeface="+mn-ea"/>
              <a:ea typeface="+mn-ea"/>
            </a:endParaRPr>
          </a:p>
          <a:p>
            <a:pPr>
              <a:buNone/>
            </a:pPr>
            <a:r>
              <a:rPr lang="ja-JP" altLang="en-US" dirty="0">
                <a:latin typeface="+mn-ea"/>
                <a:ea typeface="+mn-ea"/>
              </a:rPr>
              <a:t>＊行間を読むとよく言われるが、この行間などは</a:t>
            </a:r>
            <a:endParaRPr lang="en-US" altLang="ja-JP" dirty="0">
              <a:latin typeface="+mn-ea"/>
              <a:ea typeface="+mn-ea"/>
            </a:endParaRPr>
          </a:p>
          <a:p>
            <a:pPr>
              <a:buNone/>
            </a:pPr>
            <a:r>
              <a:rPr lang="ja-JP" altLang="en-US" dirty="0">
                <a:latin typeface="+mn-ea"/>
                <a:ea typeface="+mn-ea"/>
              </a:rPr>
              <a:t>　スキーマを利用して初めて理解が可能になる。</a:t>
            </a:r>
            <a:endParaRPr lang="en-US" altLang="ja-JP" dirty="0">
              <a:latin typeface="+mn-ea"/>
              <a:ea typeface="+mn-ea"/>
            </a:endParaRPr>
          </a:p>
          <a:p>
            <a:pPr>
              <a:buNone/>
            </a:pPr>
            <a:endParaRPr lang="en-US" altLang="ja-JP" dirty="0">
              <a:latin typeface="+mn-ea"/>
              <a:ea typeface="+mn-ea"/>
            </a:endParaRPr>
          </a:p>
          <a:p>
            <a:pPr>
              <a:buNone/>
            </a:pPr>
            <a:endParaRPr lang="ko-KR" altLang="en-US" dirty="0">
              <a:latin typeface="+mn-ea"/>
              <a:ea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latin typeface="+mn-ea"/>
                <a:ea typeface="+mn-ea"/>
              </a:rPr>
              <a:t>タスク４</a:t>
            </a:r>
            <a:endParaRPr lang="ko-KR" altLang="en-US" b="1" dirty="0">
              <a:solidFill>
                <a:srgbClr val="00B050"/>
              </a:solidFill>
              <a:latin typeface="+mn-ea"/>
              <a:ea typeface="+mn-ea"/>
            </a:endParaRPr>
          </a:p>
        </p:txBody>
      </p:sp>
      <p:sp>
        <p:nvSpPr>
          <p:cNvPr id="3" name="내용 개체 틀 2"/>
          <p:cNvSpPr>
            <a:spLocks noGrp="1"/>
          </p:cNvSpPr>
          <p:nvPr>
            <p:ph idx="1"/>
          </p:nvPr>
        </p:nvSpPr>
        <p:spPr/>
        <p:txBody>
          <a:bodyPr/>
          <a:lstStyle/>
          <a:p>
            <a:pPr marL="0" indent="0">
              <a:buNone/>
            </a:pPr>
            <a:endParaRPr lang="en-US" altLang="ja-JP" dirty="0">
              <a:latin typeface="+mn-ea"/>
              <a:ea typeface="+mn-ea"/>
            </a:endParaRPr>
          </a:p>
          <a:p>
            <a:r>
              <a:rPr lang="ja-JP" altLang="en-US" dirty="0">
                <a:latin typeface="+mn-ea"/>
                <a:ea typeface="+mn-ea"/>
              </a:rPr>
              <a:t>日本のレストランと韓国のレストランを比較してみましょう。</a:t>
            </a:r>
            <a:endParaRPr lang="ko-KR" altLang="en-US" dirty="0">
              <a:latin typeface="+mn-ea"/>
              <a:ea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latin typeface="+mn-ea"/>
              </a:rPr>
              <a:t>スキーマの獲得</a:t>
            </a:r>
            <a:endParaRPr lang="ko-KR" altLang="en-US" b="1" dirty="0">
              <a:latin typeface="+mn-ea"/>
              <a:ea typeface="+mn-ea"/>
            </a:endParaRPr>
          </a:p>
        </p:txBody>
      </p:sp>
      <p:sp>
        <p:nvSpPr>
          <p:cNvPr id="3" name="내용 개체 틀 2"/>
          <p:cNvSpPr>
            <a:spLocks noGrp="1"/>
          </p:cNvSpPr>
          <p:nvPr>
            <p:ph idx="1"/>
          </p:nvPr>
        </p:nvSpPr>
        <p:spPr/>
        <p:txBody>
          <a:bodyPr/>
          <a:lstStyle/>
          <a:p>
            <a:r>
              <a:rPr lang="ja-JP" altLang="en-US" dirty="0">
                <a:latin typeface="+mn-ea"/>
                <a:ea typeface="+mn-ea"/>
              </a:rPr>
              <a:t>スキーマは社会的・文化的なものであり、人はある社会の中で社会化し文化的自己同一性を獲得していく中で、この社会的・文化的に認められたスキーマを学習し自分のものにしていく。</a:t>
            </a:r>
            <a:endParaRPr lang="en-US" altLang="ja-JP" dirty="0">
              <a:latin typeface="+mn-ea"/>
              <a:ea typeface="+mn-ea"/>
            </a:endParaRPr>
          </a:p>
          <a:p>
            <a:r>
              <a:rPr lang="ja-JP" altLang="en-US" dirty="0">
                <a:latin typeface="+mn-ea"/>
                <a:ea typeface="+mn-ea"/>
              </a:rPr>
              <a:t>第２言語の学習者はその多くが成人であり、目標言語・文化の持つスキーマとは違うスキーマを既に持っている。</a:t>
            </a:r>
            <a:endParaRPr lang="ko-KR" altLang="en-US" dirty="0">
              <a:latin typeface="+mn-ea"/>
              <a:ea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dirty="0">
              <a:latin typeface="+mn-ea"/>
              <a:ea typeface="+mn-ea"/>
            </a:endParaRPr>
          </a:p>
        </p:txBody>
      </p:sp>
      <p:sp>
        <p:nvSpPr>
          <p:cNvPr id="3" name="내용 개체 틀 2"/>
          <p:cNvSpPr>
            <a:spLocks noGrp="1"/>
          </p:cNvSpPr>
          <p:nvPr>
            <p:ph idx="1"/>
          </p:nvPr>
        </p:nvSpPr>
        <p:spPr/>
        <p:txBody>
          <a:bodyPr>
            <a:normAutofit fontScale="92500"/>
          </a:bodyPr>
          <a:lstStyle/>
          <a:p>
            <a:r>
              <a:rPr lang="ja-JP" altLang="en-US" dirty="0">
                <a:latin typeface="+mn-ea"/>
                <a:ea typeface="+mn-ea"/>
              </a:rPr>
              <a:t>このため、第２言語の読解において読み手が持つスキーマと書き手が持つスキーマとの間にある違いやズレによる問題が起こる可能性がある。</a:t>
            </a:r>
            <a:endParaRPr lang="en-US" altLang="ja-JP" dirty="0">
              <a:latin typeface="+mn-ea"/>
              <a:ea typeface="+mn-ea"/>
            </a:endParaRPr>
          </a:p>
          <a:p>
            <a:r>
              <a:rPr lang="ja-JP" altLang="en-US" dirty="0">
                <a:latin typeface="+mn-ea"/>
                <a:ea typeface="+mn-ea"/>
              </a:rPr>
              <a:t>例）みんな笑って</a:t>
            </a:r>
            <a:r>
              <a:rPr lang="ja-JP" altLang="en-US">
                <a:latin typeface="+mn-ea"/>
                <a:ea typeface="+mn-ea"/>
              </a:rPr>
              <a:t>いるけれど、</a:t>
            </a:r>
            <a:r>
              <a:rPr lang="ja-JP" altLang="en-US" dirty="0">
                <a:latin typeface="+mn-ea"/>
                <a:ea typeface="+mn-ea"/>
              </a:rPr>
              <a:t>なぜ笑いが起こるか分からない経験。</a:t>
            </a:r>
            <a:endParaRPr lang="en-US" altLang="ja-JP" dirty="0">
              <a:latin typeface="+mn-ea"/>
              <a:ea typeface="+mn-ea"/>
            </a:endParaRPr>
          </a:p>
          <a:p>
            <a:endParaRPr lang="en-US" altLang="ja-JP" dirty="0">
              <a:latin typeface="+mn-ea"/>
              <a:ea typeface="+mn-ea"/>
            </a:endParaRPr>
          </a:p>
          <a:p>
            <a:r>
              <a:rPr lang="ja-JP" altLang="en-US" dirty="0">
                <a:latin typeface="+mn-ea"/>
                <a:ea typeface="+mn-ea"/>
              </a:rPr>
              <a:t>第２言語の読解においてはスキーマを活性化してスキーマを十分に適用することを学習することが重要。</a:t>
            </a:r>
            <a:endParaRPr lang="ko-KR" altLang="en-US" dirty="0">
              <a:latin typeface="+mn-ea"/>
              <a:ea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pic>
        <p:nvPicPr>
          <p:cNvPr id="4" name="내용 개체 틀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rot="5400000">
            <a:off x="1403647" y="-675454"/>
            <a:ext cx="6408712" cy="8280920"/>
          </a:xfrm>
        </p:spPr>
      </p:pic>
    </p:spTree>
    <p:extLst>
      <p:ext uri="{BB962C8B-B14F-4D97-AF65-F5344CB8AC3E}">
        <p14:creationId xmlns:p14="http://schemas.microsoft.com/office/powerpoint/2010/main" val="983515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latin typeface="+mn-ea"/>
                <a:ea typeface="+mn-ea"/>
              </a:rPr>
              <a:t>読解ストラテジー</a:t>
            </a:r>
            <a:endParaRPr lang="ko-KR" altLang="en-US" b="1" dirty="0">
              <a:solidFill>
                <a:srgbClr val="00B050"/>
              </a:solidFill>
              <a:latin typeface="+mn-ea"/>
              <a:ea typeface="+mn-ea"/>
            </a:endParaRPr>
          </a:p>
        </p:txBody>
      </p:sp>
      <p:sp>
        <p:nvSpPr>
          <p:cNvPr id="3" name="내용 개체 틀 2"/>
          <p:cNvSpPr>
            <a:spLocks noGrp="1"/>
          </p:cNvSpPr>
          <p:nvPr>
            <p:ph idx="1"/>
          </p:nvPr>
        </p:nvSpPr>
        <p:spPr/>
        <p:txBody>
          <a:bodyPr>
            <a:normAutofit fontScale="92500" lnSpcReduction="10000"/>
          </a:bodyPr>
          <a:lstStyle/>
          <a:p>
            <a:r>
              <a:rPr lang="ja-JP" altLang="en-US" dirty="0">
                <a:solidFill>
                  <a:srgbClr val="7030A0"/>
                </a:solidFill>
                <a:latin typeface="+mn-ea"/>
                <a:ea typeface="+mn-ea"/>
              </a:rPr>
              <a:t>スキミング</a:t>
            </a:r>
            <a:r>
              <a:rPr lang="ja-JP" altLang="en-US" dirty="0">
                <a:latin typeface="+mn-ea"/>
                <a:ea typeface="+mn-ea"/>
              </a:rPr>
              <a:t>：大意をとる読み</a:t>
            </a:r>
            <a:endParaRPr lang="en-US" altLang="ja-JP" dirty="0">
              <a:latin typeface="+mn-ea"/>
              <a:ea typeface="+mn-ea"/>
            </a:endParaRPr>
          </a:p>
          <a:p>
            <a:r>
              <a:rPr lang="ja-JP" altLang="en-US" dirty="0">
                <a:solidFill>
                  <a:srgbClr val="7030A0"/>
                </a:solidFill>
                <a:latin typeface="+mn-ea"/>
                <a:ea typeface="+mn-ea"/>
              </a:rPr>
              <a:t>スキャニング</a:t>
            </a:r>
            <a:r>
              <a:rPr lang="ja-JP" altLang="en-US" dirty="0">
                <a:latin typeface="+mn-ea"/>
                <a:ea typeface="+mn-ea"/>
              </a:rPr>
              <a:t>：特定の情報だけをとる読み</a:t>
            </a:r>
            <a:endParaRPr lang="en-US" altLang="ja-JP" dirty="0">
              <a:latin typeface="+mn-ea"/>
              <a:ea typeface="+mn-ea"/>
            </a:endParaRPr>
          </a:p>
          <a:p>
            <a:r>
              <a:rPr lang="ja-JP" altLang="en-US" dirty="0">
                <a:solidFill>
                  <a:srgbClr val="7030A0"/>
                </a:solidFill>
                <a:latin typeface="+mn-ea"/>
                <a:ea typeface="+mn-ea"/>
              </a:rPr>
              <a:t>推論</a:t>
            </a:r>
            <a:r>
              <a:rPr lang="en-US" altLang="ja-JP" dirty="0">
                <a:solidFill>
                  <a:srgbClr val="7030A0"/>
                </a:solidFill>
                <a:latin typeface="+mn-ea"/>
                <a:ea typeface="+mn-ea"/>
              </a:rPr>
              <a:t>:</a:t>
            </a:r>
            <a:r>
              <a:rPr lang="ja-JP" altLang="ko-KR" dirty="0"/>
              <a:t>ある</a:t>
            </a:r>
            <a:r>
              <a:rPr lang="ja-JP" altLang="ko-KR" dirty="0">
                <a:hlinkClick r:id="rId3" tooltip="事実の意味"/>
              </a:rPr>
              <a:t>事実</a:t>
            </a:r>
            <a:r>
              <a:rPr lang="ja-JP" altLang="ko-KR" dirty="0"/>
              <a:t>をもとにして、他の事を</a:t>
            </a:r>
            <a:r>
              <a:rPr lang="ja-JP" altLang="ko-KR" dirty="0">
                <a:hlinkClick r:id="rId4" tooltip="おしはかるの意味"/>
              </a:rPr>
              <a:t>おしはかる</a:t>
            </a:r>
            <a:r>
              <a:rPr lang="ja-JP" altLang="ko-KR" dirty="0"/>
              <a:t>こと。</a:t>
            </a:r>
            <a:endParaRPr lang="en-US" altLang="ja-JP" dirty="0">
              <a:solidFill>
                <a:srgbClr val="7030A0"/>
              </a:solidFill>
              <a:latin typeface="+mn-ea"/>
              <a:ea typeface="+mn-ea"/>
            </a:endParaRPr>
          </a:p>
          <a:p>
            <a:r>
              <a:rPr lang="ja-JP" altLang="en-US" dirty="0">
                <a:solidFill>
                  <a:srgbClr val="7030A0"/>
                </a:solidFill>
                <a:latin typeface="+mn-ea"/>
                <a:ea typeface="+mn-ea"/>
              </a:rPr>
              <a:t>文脈的推測</a:t>
            </a:r>
            <a:r>
              <a:rPr lang="en-US" altLang="ja-JP" dirty="0">
                <a:solidFill>
                  <a:srgbClr val="7030A0"/>
                </a:solidFill>
                <a:latin typeface="+mn-ea"/>
                <a:ea typeface="+mn-ea"/>
              </a:rPr>
              <a:t>:</a:t>
            </a:r>
            <a:r>
              <a:rPr lang="ja-JP" altLang="ko-KR" dirty="0"/>
              <a:t>ある</a:t>
            </a:r>
            <a:r>
              <a:rPr lang="ja-JP" altLang="ko-KR" dirty="0">
                <a:hlinkClick r:id="rId5" tooltip="事柄の意味"/>
              </a:rPr>
              <a:t>事柄</a:t>
            </a:r>
            <a:r>
              <a:rPr lang="ja-JP" altLang="ko-KR" dirty="0"/>
              <a:t>や</a:t>
            </a:r>
            <a:r>
              <a:rPr lang="ja-JP" altLang="ko-KR" dirty="0">
                <a:hlinkClick r:id="rId6" tooltip="情報の意味"/>
              </a:rPr>
              <a:t>情報</a:t>
            </a:r>
            <a:r>
              <a:rPr lang="ja-JP" altLang="ko-KR" dirty="0"/>
              <a:t>に</a:t>
            </a:r>
            <a:r>
              <a:rPr lang="ja-JP" altLang="ko-KR" dirty="0">
                <a:hlinkClick r:id="rId7" tooltip="基づいての意味"/>
              </a:rPr>
              <a:t>基づいて</a:t>
            </a:r>
            <a:r>
              <a:rPr lang="ja-JP" altLang="ko-KR" dirty="0"/>
              <a:t>、おしはかって</a:t>
            </a:r>
            <a:r>
              <a:rPr lang="ja-JP" altLang="ko-KR" dirty="0">
                <a:hlinkClick r:id="rId8" tooltip="考えの意味"/>
              </a:rPr>
              <a:t>考え</a:t>
            </a:r>
            <a:r>
              <a:rPr lang="ja-JP" altLang="ko-KR" dirty="0"/>
              <a:t>ること。</a:t>
            </a:r>
            <a:endParaRPr lang="en-US" altLang="ja-JP" dirty="0">
              <a:solidFill>
                <a:srgbClr val="7030A0"/>
              </a:solidFill>
              <a:latin typeface="+mn-ea"/>
              <a:ea typeface="+mn-ea"/>
            </a:endParaRPr>
          </a:p>
          <a:p>
            <a:r>
              <a:rPr lang="ja-JP" altLang="en-US" dirty="0">
                <a:solidFill>
                  <a:srgbClr val="7030A0"/>
                </a:solidFill>
                <a:latin typeface="+mn-ea"/>
                <a:ea typeface="+mn-ea"/>
              </a:rPr>
              <a:t>予測</a:t>
            </a:r>
            <a:r>
              <a:rPr lang="en-US" altLang="ja-JP" dirty="0">
                <a:solidFill>
                  <a:srgbClr val="7030A0"/>
                </a:solidFill>
                <a:latin typeface="+mn-ea"/>
                <a:ea typeface="+mn-ea"/>
              </a:rPr>
              <a:t>:</a:t>
            </a:r>
            <a:r>
              <a:rPr lang="ja-JP" altLang="ko-KR" dirty="0">
                <a:hlinkClick r:id="rId9"/>
              </a:rPr>
              <a:t>将来</a:t>
            </a:r>
            <a:r>
              <a:rPr lang="ja-JP" altLang="ko-KR" dirty="0"/>
              <a:t>の</a:t>
            </a:r>
            <a:r>
              <a:rPr lang="ja-JP" altLang="ko-KR" dirty="0">
                <a:hlinkClick r:id="rId10"/>
              </a:rPr>
              <a:t>出来事</a:t>
            </a:r>
            <a:r>
              <a:rPr lang="ja-JP" altLang="ko-KR" dirty="0"/>
              <a:t>や状態を</a:t>
            </a:r>
            <a:r>
              <a:rPr lang="ja-JP" altLang="ko-KR" dirty="0">
                <a:hlinkClick r:id="rId11"/>
              </a:rPr>
              <a:t>前もって</a:t>
            </a:r>
            <a:r>
              <a:rPr lang="ja-JP" altLang="ko-KR" dirty="0">
                <a:hlinkClick r:id="rId4"/>
              </a:rPr>
              <a:t>おしはかる</a:t>
            </a:r>
            <a:r>
              <a:rPr lang="ja-JP" altLang="ko-KR" dirty="0"/>
              <a:t>こと。</a:t>
            </a:r>
            <a:r>
              <a:rPr lang="ja-JP" altLang="ko-KR" dirty="0">
                <a:hlinkClick r:id="rId12"/>
              </a:rPr>
              <a:t>また、</a:t>
            </a:r>
            <a:r>
              <a:rPr lang="ja-JP" altLang="ko-KR" dirty="0"/>
              <a:t>その</a:t>
            </a:r>
            <a:r>
              <a:rPr lang="ja-JP" altLang="ko-KR" dirty="0">
                <a:hlinkClick r:id="rId13"/>
              </a:rPr>
              <a:t>内容</a:t>
            </a:r>
            <a:r>
              <a:rPr lang="ja-JP" altLang="ko-KR" dirty="0"/>
              <a:t>。</a:t>
            </a:r>
            <a:endParaRPr lang="en-US" altLang="ja-JP" dirty="0">
              <a:latin typeface="+mn-ea"/>
            </a:endParaRPr>
          </a:p>
          <a:p>
            <a:r>
              <a:rPr lang="ja-JP" altLang="en-US" dirty="0">
                <a:solidFill>
                  <a:srgbClr val="7030A0"/>
                </a:solidFill>
                <a:latin typeface="+mn-ea"/>
                <a:ea typeface="+mn-ea"/>
              </a:rPr>
              <a:t>スキーマの活性化</a:t>
            </a:r>
            <a:endParaRPr lang="ko-KR" altLang="en-US" dirty="0">
              <a:solidFill>
                <a:srgbClr val="7030A0"/>
              </a:solidFill>
              <a:latin typeface="+mn-ea"/>
              <a:ea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dirty="0">
              <a:latin typeface="+mn-ea"/>
              <a:ea typeface="+mn-ea"/>
            </a:endParaRPr>
          </a:p>
        </p:txBody>
      </p:sp>
      <p:sp>
        <p:nvSpPr>
          <p:cNvPr id="3" name="내용 개체 틀 2"/>
          <p:cNvSpPr>
            <a:spLocks noGrp="1"/>
          </p:cNvSpPr>
          <p:nvPr>
            <p:ph idx="1"/>
          </p:nvPr>
        </p:nvSpPr>
        <p:spPr/>
        <p:txBody>
          <a:bodyPr>
            <a:normAutofit/>
          </a:bodyPr>
          <a:lstStyle/>
          <a:p>
            <a:r>
              <a:rPr lang="ja-JP" altLang="en-US" dirty="0">
                <a:solidFill>
                  <a:srgbClr val="7030A0"/>
                </a:solidFill>
                <a:latin typeface="+mn-ea"/>
                <a:ea typeface="+mn-ea"/>
              </a:rPr>
              <a:t>学習ストラテジー</a:t>
            </a:r>
            <a:endParaRPr lang="en-US" altLang="ja-JP" dirty="0">
              <a:solidFill>
                <a:srgbClr val="7030A0"/>
              </a:solidFill>
              <a:latin typeface="+mn-ea"/>
              <a:ea typeface="+mn-ea"/>
            </a:endParaRPr>
          </a:p>
          <a:p>
            <a:pPr>
              <a:buFont typeface="Wingdings" pitchFamily="2" charset="2"/>
              <a:buChar char="Ø"/>
            </a:pPr>
            <a:r>
              <a:rPr lang="ja-JP" altLang="en-US" dirty="0">
                <a:latin typeface="+mn-ea"/>
                <a:ea typeface="+mn-ea"/>
              </a:rPr>
              <a:t>認知ストラテジー：スキミング、推論など。</a:t>
            </a:r>
            <a:endParaRPr lang="en-US" altLang="ja-JP" dirty="0">
              <a:latin typeface="+mn-ea"/>
              <a:ea typeface="+mn-ea"/>
            </a:endParaRPr>
          </a:p>
          <a:p>
            <a:pPr>
              <a:buFont typeface="Wingdings" pitchFamily="2" charset="2"/>
              <a:buChar char="Ø"/>
            </a:pPr>
            <a:r>
              <a:rPr lang="ja-JP" altLang="en-US" dirty="0">
                <a:latin typeface="+mn-ea"/>
                <a:ea typeface="+mn-ea"/>
              </a:rPr>
              <a:t>メタ認知ストラテジー</a:t>
            </a:r>
            <a:endParaRPr lang="en-US" altLang="ja-JP" dirty="0">
              <a:latin typeface="+mn-ea"/>
              <a:ea typeface="+mn-ea"/>
            </a:endParaRPr>
          </a:p>
          <a:p>
            <a:pPr lvl="1">
              <a:buFont typeface="Wingdings" pitchFamily="2" charset="2"/>
              <a:buChar char="§"/>
            </a:pPr>
            <a:r>
              <a:rPr lang="ja-JP" altLang="en-US" dirty="0">
                <a:latin typeface="+mn-ea"/>
                <a:ea typeface="+mn-ea"/>
              </a:rPr>
              <a:t>認知のあり方を認知するという意味で使われ、認知ストラテジーを操作するストラテジー。</a:t>
            </a:r>
            <a:endParaRPr lang="en-US" altLang="ja-JP" dirty="0">
              <a:latin typeface="+mn-ea"/>
              <a:ea typeface="+mn-ea"/>
            </a:endParaRPr>
          </a:p>
          <a:p>
            <a:pPr lvl="1">
              <a:buFont typeface="Wingdings" pitchFamily="2" charset="2"/>
              <a:buChar char="§"/>
            </a:pPr>
            <a:r>
              <a:rPr lang="ja-JP" altLang="en-US" dirty="0">
                <a:latin typeface="+mn-ea"/>
                <a:ea typeface="+mn-ea"/>
              </a:rPr>
              <a:t>どの読み方をするのが自分の目的に合致しているかを判断し、モニターしたり、その結果を評価したりするストラテジー。</a:t>
            </a:r>
            <a:endParaRPr lang="ko-KR" altLang="en-US" dirty="0">
              <a:latin typeface="+mn-ea"/>
              <a:ea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latin typeface="+mn-ea"/>
                <a:ea typeface="+mn-ea"/>
              </a:rPr>
              <a:t>タスク５</a:t>
            </a:r>
            <a:endParaRPr lang="ko-KR" altLang="en-US" b="1" dirty="0">
              <a:solidFill>
                <a:srgbClr val="00B050"/>
              </a:solidFill>
              <a:latin typeface="+mn-ea"/>
              <a:ea typeface="+mn-ea"/>
            </a:endParaRPr>
          </a:p>
        </p:txBody>
      </p:sp>
      <p:sp>
        <p:nvSpPr>
          <p:cNvPr id="3" name="내용 개체 틀 2"/>
          <p:cNvSpPr>
            <a:spLocks noGrp="1"/>
          </p:cNvSpPr>
          <p:nvPr>
            <p:ph idx="1"/>
          </p:nvPr>
        </p:nvSpPr>
        <p:spPr/>
        <p:txBody>
          <a:bodyPr/>
          <a:lstStyle/>
          <a:p>
            <a:r>
              <a:rPr lang="ja-JP" altLang="en-US" dirty="0">
                <a:latin typeface="+mn-ea"/>
                <a:ea typeface="+mn-ea"/>
              </a:rPr>
              <a:t>初級レベルの学習者を対象として読解指導をする場合、トップダウンモデルを採用して進めることは可能でしょうか。</a:t>
            </a:r>
            <a:endParaRPr lang="en-US" altLang="ja-JP" dirty="0">
              <a:latin typeface="+mn-ea"/>
              <a:ea typeface="+mn-ea"/>
            </a:endParaRPr>
          </a:p>
          <a:p>
            <a:endParaRPr lang="en-US" altLang="ja-JP" dirty="0">
              <a:latin typeface="+mn-ea"/>
              <a:ea typeface="+mn-ea"/>
            </a:endParaRPr>
          </a:p>
          <a:p>
            <a:r>
              <a:rPr lang="ja-JP" altLang="en-US" dirty="0">
                <a:latin typeface="+mn-ea"/>
                <a:ea typeface="+mn-ea"/>
              </a:rPr>
              <a:t>もし難しいとすればどんな問題が生じてくるからだと思われますか。あるいは可能とするためにはどのような手立てが必要でしょうか。</a:t>
            </a:r>
            <a:endParaRPr lang="ko-KR" altLang="en-US" dirty="0">
              <a:latin typeface="+mn-ea"/>
              <a:ea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dirty="0">
              <a:latin typeface="+mn-ea"/>
              <a:ea typeface="+mn-ea"/>
            </a:endParaRPr>
          </a:p>
        </p:txBody>
      </p:sp>
      <p:sp>
        <p:nvSpPr>
          <p:cNvPr id="3" name="내용 개체 틀 2"/>
          <p:cNvSpPr>
            <a:spLocks noGrp="1"/>
          </p:cNvSpPr>
          <p:nvPr>
            <p:ph idx="1"/>
          </p:nvPr>
        </p:nvSpPr>
        <p:spPr/>
        <p:txBody>
          <a:bodyPr/>
          <a:lstStyle/>
          <a:p>
            <a:r>
              <a:rPr lang="ja-JP" altLang="en-US" dirty="0">
                <a:latin typeface="+mn-ea"/>
                <a:ea typeface="+mn-ea"/>
              </a:rPr>
              <a:t>文字以外の情報（図表、写真、絵など）</a:t>
            </a:r>
            <a:endParaRPr lang="en-US" altLang="ja-JP" dirty="0">
              <a:latin typeface="+mn-ea"/>
              <a:ea typeface="+mn-ea"/>
            </a:endParaRPr>
          </a:p>
          <a:p>
            <a:pPr>
              <a:buNone/>
            </a:pPr>
            <a:endParaRPr lang="en-US" altLang="ja-JP" dirty="0">
              <a:latin typeface="+mn-ea"/>
              <a:ea typeface="+mn-ea"/>
            </a:endParaRPr>
          </a:p>
          <a:p>
            <a:r>
              <a:rPr lang="ja-JP" altLang="en-US" dirty="0">
                <a:latin typeface="+mn-ea"/>
                <a:ea typeface="+mn-ea"/>
              </a:rPr>
              <a:t>日常生活で馴染みのあるもの、デパートの広告、スーパーのちらしなどを利用。</a:t>
            </a:r>
            <a:endParaRPr lang="en-US" altLang="ja-JP" dirty="0">
              <a:latin typeface="+mn-ea"/>
              <a:ea typeface="+mn-ea"/>
            </a:endParaRPr>
          </a:p>
          <a:p>
            <a:pPr>
              <a:buNone/>
            </a:pPr>
            <a:endParaRPr lang="ko-KR" altLang="en-US" dirty="0">
              <a:latin typeface="+mn-ea"/>
              <a:ea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ja-JP" altLang="en-US" sz="6000" b="1" dirty="0">
                <a:solidFill>
                  <a:srgbClr val="00B050"/>
                </a:solidFill>
                <a:latin typeface="+mn-ea"/>
              </a:rPr>
              <a:t>トップダウンモデルの限界</a:t>
            </a:r>
            <a:endParaRPr lang="en-US" altLang="ja-JP" sz="6000" b="1" dirty="0">
              <a:solidFill>
                <a:srgbClr val="00B050"/>
              </a:solidFill>
              <a:latin typeface="+mn-ea"/>
            </a:endParaRPr>
          </a:p>
        </p:txBody>
      </p:sp>
      <p:sp>
        <p:nvSpPr>
          <p:cNvPr id="3" name="내용 개체 틀 2"/>
          <p:cNvSpPr>
            <a:spLocks noGrp="1"/>
          </p:cNvSpPr>
          <p:nvPr>
            <p:ph idx="1"/>
          </p:nvPr>
        </p:nvSpPr>
        <p:spPr/>
        <p:txBody>
          <a:bodyPr>
            <a:normAutofit/>
          </a:bodyPr>
          <a:lstStyle/>
          <a:p>
            <a:endParaRPr lang="en-US" altLang="ja-JP" dirty="0">
              <a:solidFill>
                <a:srgbClr val="0070C0"/>
              </a:solidFill>
              <a:latin typeface="+mn-ea"/>
              <a:ea typeface="+mn-ea"/>
            </a:endParaRPr>
          </a:p>
          <a:p>
            <a:pPr>
              <a:buFont typeface="Wingdings" pitchFamily="2" charset="2"/>
              <a:buChar char="Ø"/>
            </a:pPr>
            <a:r>
              <a:rPr lang="ja-JP" altLang="en-US" dirty="0">
                <a:latin typeface="+mn-ea"/>
                <a:ea typeface="+mn-ea"/>
              </a:rPr>
              <a:t>第２言語学習者の場合、限られた語彙力、文法力が前提となる。</a:t>
            </a:r>
            <a:endParaRPr lang="en-US" altLang="ja-JP" dirty="0">
              <a:latin typeface="+mn-ea"/>
              <a:ea typeface="+mn-ea"/>
            </a:endParaRPr>
          </a:p>
          <a:p>
            <a:pPr>
              <a:buFont typeface="Wingdings" pitchFamily="2" charset="2"/>
              <a:buChar char="Ø"/>
            </a:pPr>
            <a:endParaRPr lang="en-US" altLang="ja-JP" dirty="0">
              <a:latin typeface="+mn-ea"/>
              <a:ea typeface="+mn-ea"/>
            </a:endParaRPr>
          </a:p>
          <a:p>
            <a:pPr>
              <a:buFont typeface="Wingdings" pitchFamily="2" charset="2"/>
              <a:buChar char="Ø"/>
            </a:pPr>
            <a:r>
              <a:rPr lang="ja-JP" altLang="en-US" dirty="0">
                <a:latin typeface="+mn-ea"/>
                <a:ea typeface="+mn-ea"/>
              </a:rPr>
              <a:t>そのためトップダウンモデルは語彙や文型レベルでは何ら問題のなくなったレベルの上級学習者や母語話者のための読解のモデルという疑問。</a:t>
            </a:r>
            <a:endParaRPr lang="en-US" altLang="ja-JP" dirty="0">
              <a:latin typeface="+mn-ea"/>
              <a:ea typeface="+mn-ea"/>
            </a:endParaRPr>
          </a:p>
          <a:p>
            <a:endParaRPr lang="ko-KR" altLang="en-US" dirty="0">
              <a:latin typeface="+mn-ea"/>
              <a:ea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dirty="0">
              <a:latin typeface="+mn-ea"/>
              <a:ea typeface="+mn-ea"/>
            </a:endParaRPr>
          </a:p>
        </p:txBody>
      </p:sp>
      <p:sp>
        <p:nvSpPr>
          <p:cNvPr id="3" name="내용 개체 틀 2"/>
          <p:cNvSpPr>
            <a:spLocks noGrp="1"/>
          </p:cNvSpPr>
          <p:nvPr>
            <p:ph idx="1"/>
          </p:nvPr>
        </p:nvSpPr>
        <p:spPr/>
        <p:txBody>
          <a:bodyPr>
            <a:normAutofit fontScale="92500" lnSpcReduction="20000"/>
          </a:bodyPr>
          <a:lstStyle/>
          <a:p>
            <a:pPr>
              <a:buFont typeface="Wingdings" pitchFamily="2" charset="2"/>
              <a:buChar char="Ø"/>
            </a:pPr>
            <a:r>
              <a:rPr lang="ja-JP" altLang="en-US" dirty="0">
                <a:latin typeface="+mn-ea"/>
                <a:ea typeface="+mn-ea"/>
              </a:rPr>
              <a:t>読解が成功するには、一定程度の文構造上の知識と語彙量が獲得されていなければならないことの認識の必要。</a:t>
            </a:r>
            <a:endParaRPr lang="en-US" altLang="ja-JP" dirty="0">
              <a:latin typeface="+mn-ea"/>
              <a:ea typeface="+mn-ea"/>
            </a:endParaRPr>
          </a:p>
          <a:p>
            <a:pPr>
              <a:buFont typeface="Wingdings" pitchFamily="2" charset="2"/>
              <a:buChar char="Ø"/>
            </a:pPr>
            <a:endParaRPr lang="en-US" altLang="ja-JP" dirty="0">
              <a:latin typeface="+mn-ea"/>
              <a:ea typeface="+mn-ea"/>
            </a:endParaRPr>
          </a:p>
          <a:p>
            <a:pPr>
              <a:buFont typeface="Wingdings" pitchFamily="2" charset="2"/>
              <a:buChar char="Ø"/>
            </a:pPr>
            <a:r>
              <a:rPr lang="ja-JP" altLang="en-US" dirty="0">
                <a:latin typeface="+mn-ea"/>
                <a:ea typeface="+mn-ea"/>
              </a:rPr>
              <a:t>やさしい文型しか使われていなくても、未知の語彙が一定量以上含まれた文章はそれだけで理解不可能。</a:t>
            </a:r>
            <a:endParaRPr lang="en-US" altLang="ja-JP" dirty="0">
              <a:latin typeface="+mn-ea"/>
              <a:ea typeface="+mn-ea"/>
            </a:endParaRPr>
          </a:p>
          <a:p>
            <a:pPr>
              <a:buFont typeface="Wingdings" pitchFamily="2" charset="2"/>
              <a:buChar char="Ø"/>
            </a:pPr>
            <a:endParaRPr lang="en-US" altLang="ja-JP" dirty="0">
              <a:latin typeface="+mn-ea"/>
            </a:endParaRPr>
          </a:p>
          <a:p>
            <a:pPr>
              <a:buFont typeface="Wingdings" pitchFamily="2" charset="2"/>
              <a:buChar char="Ø"/>
            </a:pPr>
            <a:r>
              <a:rPr lang="ja-JP" altLang="en-US" dirty="0">
                <a:latin typeface="+mn-ea"/>
                <a:ea typeface="+mn-ea"/>
              </a:rPr>
              <a:t>語彙や文法というボトムアップに関係する力が読むことにおいても無視できない存在であることが分かる。</a:t>
            </a:r>
            <a:endParaRPr lang="en-US" altLang="ja-JP" dirty="0">
              <a:latin typeface="+mn-ea"/>
              <a:ea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dirty="0">
              <a:latin typeface="+mn-ea"/>
              <a:ea typeface="+mn-ea"/>
            </a:endParaRPr>
          </a:p>
        </p:txBody>
      </p:sp>
      <p:sp>
        <p:nvSpPr>
          <p:cNvPr id="3" name="내용 개체 틀 2"/>
          <p:cNvSpPr>
            <a:spLocks noGrp="1"/>
          </p:cNvSpPr>
          <p:nvPr>
            <p:ph idx="1"/>
          </p:nvPr>
        </p:nvSpPr>
        <p:spPr/>
        <p:txBody>
          <a:bodyPr/>
          <a:lstStyle/>
          <a:p>
            <a:r>
              <a:rPr lang="ja-JP" altLang="en-US" dirty="0">
                <a:latin typeface="+mn-ea"/>
                <a:ea typeface="+mn-ea"/>
              </a:rPr>
              <a:t>トップダウンモデルでは軽視されがちなボトムアップ的な技能を読解モデルの中に正当に位置づけることを目指し、特に第２言語の読解のモデルとして、相互交流モデル</a:t>
            </a:r>
            <a:r>
              <a:rPr lang="en-US" altLang="ja-JP" dirty="0">
                <a:latin typeface="+mn-ea"/>
                <a:ea typeface="+mn-ea"/>
              </a:rPr>
              <a:t>(interactive model)</a:t>
            </a:r>
            <a:r>
              <a:rPr lang="ja-JP" altLang="en-US" dirty="0">
                <a:latin typeface="+mn-ea"/>
                <a:ea typeface="+mn-ea"/>
              </a:rPr>
              <a:t>が主張される。</a:t>
            </a:r>
            <a:endParaRPr lang="ko-KR" altLang="en-US" dirty="0">
              <a:latin typeface="+mn-ea"/>
              <a:ea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rPr>
              <a:t>相互交流モデルの登場</a:t>
            </a:r>
            <a:endParaRPr lang="ko-KR" altLang="en-US" b="1" dirty="0">
              <a:solidFill>
                <a:srgbClr val="00B050"/>
              </a:solidFill>
            </a:endParaRPr>
          </a:p>
        </p:txBody>
      </p:sp>
      <p:sp>
        <p:nvSpPr>
          <p:cNvPr id="3" name="내용 개체 틀 2"/>
          <p:cNvSpPr>
            <a:spLocks noGrp="1"/>
          </p:cNvSpPr>
          <p:nvPr>
            <p:ph idx="1"/>
          </p:nvPr>
        </p:nvSpPr>
        <p:spPr/>
        <p:txBody>
          <a:bodyPr>
            <a:normAutofit lnSpcReduction="10000"/>
          </a:bodyPr>
          <a:lstStyle/>
          <a:p>
            <a:r>
              <a:rPr lang="ja-JP" altLang="en-US" dirty="0"/>
              <a:t>テキストに書かれた文章と読み手の認知的活動が同時に相互に交流し合うことによって読解の過程が構成されるというとらえ方。</a:t>
            </a:r>
            <a:endParaRPr lang="en-US" altLang="ja-JP" dirty="0"/>
          </a:p>
          <a:p>
            <a:endParaRPr lang="en-US" altLang="ja-JP" dirty="0"/>
          </a:p>
          <a:p>
            <a:r>
              <a:rPr lang="ja-JP" altLang="en-US" dirty="0"/>
              <a:t>つまり、読解をボトムアップ</a:t>
            </a:r>
            <a:r>
              <a:rPr lang="en-US" altLang="ja-JP" dirty="0"/>
              <a:t>(</a:t>
            </a:r>
            <a:r>
              <a:rPr lang="ja-JP" altLang="en-US" dirty="0"/>
              <a:t>書かれた文章から認知活動へ）かトップダウン（認知活動から書かれた文章へ）かというように、いずれかの一方向的な過程と考えず、その両者の相互交流による過程と考えるのが特徴的。</a:t>
            </a:r>
            <a:endParaRPr lang="ko-KR"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rPr>
              <a:t>補償モデル</a:t>
            </a:r>
            <a:endParaRPr lang="ko-KR" altLang="en-US" b="1" dirty="0">
              <a:solidFill>
                <a:srgbClr val="00B050"/>
              </a:solidFill>
            </a:endParaRPr>
          </a:p>
        </p:txBody>
      </p:sp>
      <p:sp>
        <p:nvSpPr>
          <p:cNvPr id="3" name="내용 개체 틀 2"/>
          <p:cNvSpPr>
            <a:spLocks noGrp="1"/>
          </p:cNvSpPr>
          <p:nvPr>
            <p:ph idx="1"/>
          </p:nvPr>
        </p:nvSpPr>
        <p:spPr>
          <a:xfrm>
            <a:off x="500034" y="1500150"/>
            <a:ext cx="8229600" cy="5000684"/>
          </a:xfrm>
        </p:spPr>
        <p:txBody>
          <a:bodyPr>
            <a:normAutofit fontScale="92500" lnSpcReduction="20000"/>
          </a:bodyPr>
          <a:lstStyle/>
          <a:p>
            <a:r>
              <a:rPr lang="ja-JP" altLang="en-US" dirty="0"/>
              <a:t>言語能力が低い段階</a:t>
            </a:r>
            <a:endParaRPr lang="en-US" altLang="ja-JP" dirty="0"/>
          </a:p>
          <a:p>
            <a:pPr>
              <a:buNone/>
            </a:pPr>
            <a:r>
              <a:rPr lang="ja-JP" altLang="en-US" dirty="0"/>
              <a:t>　　ー言葉の力が全般的に不足しているので、代わりにトップダウンで補うことによって読解を成功に導く。</a:t>
            </a:r>
            <a:endParaRPr lang="en-US" altLang="ja-JP" dirty="0"/>
          </a:p>
          <a:p>
            <a:pPr>
              <a:buNone/>
            </a:pPr>
            <a:endParaRPr lang="en-US" altLang="ja-JP" dirty="0"/>
          </a:p>
          <a:p>
            <a:r>
              <a:rPr lang="ja-JP" altLang="en-US" dirty="0"/>
              <a:t>第１言語の読み手だが、内容に全く通じていない場合</a:t>
            </a:r>
            <a:endParaRPr lang="en-US" altLang="ja-JP" dirty="0"/>
          </a:p>
          <a:p>
            <a:pPr>
              <a:buNone/>
            </a:pPr>
            <a:r>
              <a:rPr lang="ja-JP" altLang="en-US" dirty="0"/>
              <a:t>　　ートップダウンではなく、言語情報にもっぱら依拠して読む。</a:t>
            </a:r>
            <a:endParaRPr lang="en-US" altLang="ja-JP" dirty="0"/>
          </a:p>
          <a:p>
            <a:endParaRPr lang="en-US" altLang="ja-JP" dirty="0"/>
          </a:p>
          <a:p>
            <a:pPr>
              <a:buNone/>
            </a:pPr>
            <a:r>
              <a:rPr lang="ja-JP" altLang="en-US" dirty="0"/>
              <a:t>　</a:t>
            </a:r>
            <a:endParaRPr lang="en-US" altLang="ja-JP" dirty="0"/>
          </a:p>
          <a:p>
            <a:pPr>
              <a:buNone/>
            </a:pPr>
            <a:endParaRPr lang="en-US" altLang="ja-JP" dirty="0"/>
          </a:p>
          <a:p>
            <a:pPr>
              <a:buNone/>
            </a:pPr>
            <a:endParaRPr lang="ko-KR"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rPr>
              <a:t>相互モデル</a:t>
            </a:r>
            <a:endParaRPr lang="ko-KR" altLang="en-US" b="1" dirty="0">
              <a:solidFill>
                <a:srgbClr val="00B050"/>
              </a:solidFill>
            </a:endParaRPr>
          </a:p>
        </p:txBody>
      </p:sp>
      <p:sp>
        <p:nvSpPr>
          <p:cNvPr id="3" name="내용 개체 틀 2"/>
          <p:cNvSpPr>
            <a:spLocks noGrp="1"/>
          </p:cNvSpPr>
          <p:nvPr>
            <p:ph idx="1"/>
          </p:nvPr>
        </p:nvSpPr>
        <p:spPr/>
        <p:txBody>
          <a:bodyPr/>
          <a:lstStyle/>
          <a:p>
            <a:r>
              <a:rPr lang="ja-JP" altLang="en-US" dirty="0"/>
              <a:t>どのレベルにおいても、どの要素・どの領域の間においても、相互交流、あるいは強いものが弱いものを補償しながら読解が行われる。</a:t>
            </a:r>
            <a:endParaRPr lang="en-US" altLang="ja-JP" dirty="0"/>
          </a:p>
          <a:p>
            <a:r>
              <a:rPr lang="ja-JP" altLang="en-US" dirty="0"/>
              <a:t>例）語彙と統語のレベルで相互にフィードバックし合うことによって、仮説の検証、修正、再設定といったような行き来がある。</a:t>
            </a:r>
            <a:endParaRPr lang="ko-KR"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00B050"/>
                </a:solidFill>
              </a:rPr>
              <a:t>読解は。。。</a:t>
            </a:r>
            <a:endParaRPr lang="ko-KR" altLang="en-US" b="1" dirty="0">
              <a:solidFill>
                <a:srgbClr val="00B050"/>
              </a:solidFill>
            </a:endParaRPr>
          </a:p>
        </p:txBody>
      </p:sp>
      <p:sp>
        <p:nvSpPr>
          <p:cNvPr id="3" name="내용 개체 틀 2"/>
          <p:cNvSpPr>
            <a:spLocks noGrp="1"/>
          </p:cNvSpPr>
          <p:nvPr>
            <p:ph idx="1"/>
          </p:nvPr>
        </p:nvSpPr>
        <p:spPr/>
        <p:txBody>
          <a:bodyPr/>
          <a:lstStyle/>
          <a:p>
            <a:endParaRPr lang="en-US" altLang="ja-JP" dirty="0"/>
          </a:p>
          <a:p>
            <a:pPr>
              <a:buNone/>
            </a:pPr>
            <a:r>
              <a:rPr lang="ja-JP" altLang="en-US" dirty="0"/>
              <a:t>　</a:t>
            </a:r>
            <a:r>
              <a:rPr lang="en-US" altLang="ja-JP" dirty="0"/>
              <a:t>(1)</a:t>
            </a:r>
            <a:r>
              <a:rPr lang="ja-JP" altLang="en-US" dirty="0"/>
              <a:t>書かれた文字、統語、文章、語彙について</a:t>
            </a:r>
            <a:endParaRPr lang="en-US" altLang="ja-JP" dirty="0"/>
          </a:p>
          <a:p>
            <a:pPr>
              <a:buNone/>
            </a:pPr>
            <a:r>
              <a:rPr lang="ja-JP" altLang="en-US" dirty="0"/>
              <a:t>　　　の知識</a:t>
            </a:r>
            <a:endParaRPr lang="en-US" altLang="ja-JP" dirty="0"/>
          </a:p>
          <a:p>
            <a:pPr>
              <a:buNone/>
            </a:pPr>
            <a:r>
              <a:rPr lang="ja-JP" altLang="en-US" dirty="0"/>
              <a:t>　</a:t>
            </a:r>
            <a:r>
              <a:rPr lang="en-US" altLang="ja-JP" dirty="0"/>
              <a:t>(2)</a:t>
            </a:r>
            <a:r>
              <a:rPr lang="ja-JP" altLang="en-US" dirty="0"/>
              <a:t>ストラテジー</a:t>
            </a:r>
            <a:r>
              <a:rPr lang="en-US" altLang="ja-JP" dirty="0"/>
              <a:t>(</a:t>
            </a:r>
            <a:r>
              <a:rPr lang="ja-JP" altLang="en-US" dirty="0"/>
              <a:t>認知及びメタ認知</a:t>
            </a:r>
            <a:r>
              <a:rPr lang="en-US" altLang="ja-JP" dirty="0"/>
              <a:t>)</a:t>
            </a:r>
          </a:p>
          <a:p>
            <a:pPr>
              <a:buNone/>
            </a:pPr>
            <a:r>
              <a:rPr lang="ja-JP" altLang="en-US" dirty="0"/>
              <a:t>　</a:t>
            </a:r>
            <a:r>
              <a:rPr lang="en-US" altLang="ja-JP" dirty="0"/>
              <a:t>(3)</a:t>
            </a:r>
            <a:r>
              <a:rPr lang="ja-JP" altLang="en-US" dirty="0"/>
              <a:t>読む目的、特に社会的な観点からの目的</a:t>
            </a:r>
            <a:endParaRPr lang="en-US" altLang="ja-JP" dirty="0"/>
          </a:p>
          <a:p>
            <a:pPr>
              <a:buNone/>
            </a:pPr>
            <a:r>
              <a:rPr lang="ja-JP" altLang="en-US" dirty="0"/>
              <a:t>　の三つのそれぞれが相互に関連し合う形で進められるものである。</a:t>
            </a:r>
            <a:endParaRPr lang="ko-KR" altLang="en-US"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2530</TotalTime>
  <Words>2083</Words>
  <Application>Microsoft Office PowerPoint</Application>
  <PresentationFormat>화면 슬라이드 쇼(4:3)</PresentationFormat>
  <Paragraphs>202</Paragraphs>
  <Slides>35</Slides>
  <Notes>35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맑은 고딕</vt:lpstr>
      <vt:lpstr>Arial</vt:lpstr>
      <vt:lpstr>Wingdings</vt:lpstr>
      <vt:lpstr>Office 테마</vt:lpstr>
      <vt:lpstr>理解の過程をめぐる研究と現場への示唆</vt:lpstr>
      <vt:lpstr>タスク１</vt:lpstr>
      <vt:lpstr>読解・聴解の理解過程</vt:lpstr>
      <vt:lpstr>理解優先のアプローチ</vt:lpstr>
      <vt:lpstr>具体的な教授法</vt:lpstr>
      <vt:lpstr>1. 読むこと</vt:lpstr>
      <vt:lpstr>タスク２</vt:lpstr>
      <vt:lpstr>PowerPoint 프레젠테이션</vt:lpstr>
      <vt:lpstr>読解過程をどのように考えればよいか</vt:lpstr>
      <vt:lpstr>ボトムアップモデル</vt:lpstr>
      <vt:lpstr>PowerPoint 프레젠테이션</vt:lpstr>
      <vt:lpstr>具体的な読解指導</vt:lpstr>
      <vt:lpstr>PowerPoint 프레젠테이션</vt:lpstr>
      <vt:lpstr>タスク３</vt:lpstr>
      <vt:lpstr>トップダウンモデル</vt:lpstr>
      <vt:lpstr>PowerPoint 프레젠테이션</vt:lpstr>
      <vt:lpstr>PowerPoint 프레젠테이션</vt:lpstr>
      <vt:lpstr>スキーマ理論と読解ストラテジー</vt:lpstr>
      <vt:lpstr>PowerPoint 프레젠테이션</vt:lpstr>
      <vt:lpstr>PowerPoint 프레젠테이션</vt:lpstr>
      <vt:lpstr>タスク４</vt:lpstr>
      <vt:lpstr>スキーマの獲得</vt:lpstr>
      <vt:lpstr>PowerPoint 프레젠테이션</vt:lpstr>
      <vt:lpstr>PowerPoint 프레젠테이션</vt:lpstr>
      <vt:lpstr>読解ストラテジー</vt:lpstr>
      <vt:lpstr>PowerPoint 프레젠테이션</vt:lpstr>
      <vt:lpstr>タスク５</vt:lpstr>
      <vt:lpstr>PowerPoint 프레젠테이션</vt:lpstr>
      <vt:lpstr>トップダウンモデルの限界</vt:lpstr>
      <vt:lpstr>PowerPoint 프레젠테이션</vt:lpstr>
      <vt:lpstr>PowerPoint 프레젠테이션</vt:lpstr>
      <vt:lpstr>相互交流モデルの登場</vt:lpstr>
      <vt:lpstr>補償モデル</vt:lpstr>
      <vt:lpstr>相互モデル</vt:lpstr>
      <vt:lpstr>読解は。。。</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理解（読むこと・聴くこと）の過程をめぐる研究と現場への示唆</dc:title>
  <dc:creator>user</dc:creator>
  <cp:lastModifiedBy>영남 조</cp:lastModifiedBy>
  <cp:revision>237</cp:revision>
  <dcterms:created xsi:type="dcterms:W3CDTF">2009-09-09T01:25:59Z</dcterms:created>
  <dcterms:modified xsi:type="dcterms:W3CDTF">2025-10-27T03:31:58Z</dcterms:modified>
</cp:coreProperties>
</file>