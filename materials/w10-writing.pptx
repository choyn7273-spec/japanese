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2" r:id="rId6"/>
    <p:sldId id="260" r:id="rId7"/>
    <p:sldId id="261" r:id="rId8"/>
    <p:sldId id="262" r:id="rId9"/>
    <p:sldId id="287" r:id="rId10"/>
    <p:sldId id="284" r:id="rId11"/>
    <p:sldId id="285" r:id="rId12"/>
    <p:sldId id="283" r:id="rId13"/>
    <p:sldId id="286"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1" r:id="rId32"/>
    <p:sldId id="280" r:id="rId33"/>
  </p:sldIdLst>
  <p:sldSz cx="9144000" cy="6858000" type="screen4x3"/>
  <p:notesSz cx="9144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57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684F1F-A0BA-46C1-8BB6-ACBDCAD72F7A}" type="datetimeFigureOut">
              <a:rPr lang="ko-KR" altLang="en-US" smtClean="0"/>
              <a:pPr/>
              <a:t>2024-12-01</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AAB676-2082-4247-9465-50EE092FC528}"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forms/d/e/1FAIpQLSfssuBeRqhGcQMOiFmPouU2tJFdZ593Tt5GjwjnPOndEjchFA/viewform?usp=sf_link" TargetMode="External"/><Relationship Id="rId2" Type="http://schemas.openxmlformats.org/officeDocument/2006/relationships/hyperlink" Target="https://kaken.nii.ac.jp/ja/grant/KAKENHI-PROJECT-19K02875/"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ja-JP" altLang="en-US" b="1" dirty="0">
                <a:solidFill>
                  <a:schemeClr val="accent6"/>
                </a:solidFill>
              </a:rPr>
              <a:t>書くこと</a:t>
            </a:r>
            <a:r>
              <a:rPr lang="en-US" altLang="ja-JP" b="1" dirty="0">
                <a:solidFill>
                  <a:schemeClr val="accent6"/>
                </a:solidFill>
              </a:rPr>
              <a:t>: </a:t>
            </a:r>
            <a:r>
              <a:rPr lang="ja-JP" altLang="en-US" b="1" dirty="0">
                <a:solidFill>
                  <a:schemeClr val="accent6"/>
                </a:solidFill>
              </a:rPr>
              <a:t>作文</a:t>
            </a:r>
            <a:endParaRPr lang="ko-KR" altLang="en-US" b="1" dirty="0">
              <a:solidFill>
                <a:schemeClr val="accent6"/>
              </a:solidFill>
            </a:endParaRPr>
          </a:p>
        </p:txBody>
      </p:sp>
      <p:sp>
        <p:nvSpPr>
          <p:cNvPr id="3" name="부제목 2"/>
          <p:cNvSpPr>
            <a:spLocks noGrp="1"/>
          </p:cNvSpPr>
          <p:nvPr>
            <p:ph type="subTitle" idx="1"/>
          </p:nvPr>
        </p:nvSpPr>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作文教育と言語教育</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solidFill>
                  <a:srgbClr val="00B050"/>
                </a:solidFill>
              </a:rPr>
              <a:t>第</a:t>
            </a:r>
            <a:r>
              <a:rPr lang="en-US" altLang="ja-JP" dirty="0">
                <a:solidFill>
                  <a:srgbClr val="00B050"/>
                </a:solidFill>
              </a:rPr>
              <a:t>1</a:t>
            </a:r>
            <a:r>
              <a:rPr lang="ja-JP" altLang="en-US" dirty="0">
                <a:solidFill>
                  <a:srgbClr val="00B050"/>
                </a:solidFill>
              </a:rPr>
              <a:t>言語の場合</a:t>
            </a:r>
            <a:endParaRPr lang="en-US" altLang="ja-JP" dirty="0">
              <a:solidFill>
                <a:srgbClr val="00B050"/>
              </a:solidFill>
            </a:endParaRPr>
          </a:p>
          <a:p>
            <a:pPr>
              <a:buNone/>
            </a:pPr>
            <a:r>
              <a:rPr lang="ja-JP" altLang="en-US" dirty="0"/>
              <a:t>　ー</a:t>
            </a:r>
            <a:r>
              <a:rPr lang="ja-JP" altLang="en-US" dirty="0">
                <a:solidFill>
                  <a:srgbClr val="0070C0"/>
                </a:solidFill>
              </a:rPr>
              <a:t>十分に発達した話し言葉の能力</a:t>
            </a:r>
            <a:r>
              <a:rPr lang="ja-JP" altLang="en-US" dirty="0"/>
              <a:t>があり、その援助を受ける形で書き言葉の力は開発されていく。</a:t>
            </a:r>
            <a:endParaRPr lang="en-US" altLang="ja-JP" dirty="0"/>
          </a:p>
          <a:p>
            <a:r>
              <a:rPr lang="ja-JP" altLang="en-US" dirty="0">
                <a:solidFill>
                  <a:srgbClr val="00B050"/>
                </a:solidFill>
              </a:rPr>
              <a:t>第２言語の場合</a:t>
            </a:r>
            <a:endParaRPr lang="en-US" altLang="ja-JP" dirty="0">
              <a:solidFill>
                <a:srgbClr val="00B050"/>
              </a:solidFill>
            </a:endParaRPr>
          </a:p>
          <a:p>
            <a:pPr>
              <a:buNone/>
            </a:pPr>
            <a:r>
              <a:rPr lang="ja-JP" altLang="en-US" dirty="0"/>
              <a:t>　ー</a:t>
            </a:r>
            <a:r>
              <a:rPr lang="ja-JP" altLang="en-US" dirty="0">
                <a:solidFill>
                  <a:srgbClr val="0070C0"/>
                </a:solidFill>
              </a:rPr>
              <a:t>第１言語</a:t>
            </a:r>
            <a:r>
              <a:rPr lang="ja-JP" altLang="en-US" dirty="0"/>
              <a:t>で既に</a:t>
            </a:r>
            <a:r>
              <a:rPr lang="ja-JP" altLang="en-US" dirty="0">
                <a:solidFill>
                  <a:srgbClr val="0070C0"/>
                </a:solidFill>
              </a:rPr>
              <a:t>読み書きの力</a:t>
            </a:r>
            <a:r>
              <a:rPr lang="ja-JP" altLang="en-US" dirty="0"/>
              <a:t>を獲得している場合は、それが不十分な第２言語の読み書き能力を支え、その発達を促す。</a:t>
            </a:r>
            <a:r>
              <a:rPr lang="en-US" altLang="ja-JP" dirty="0"/>
              <a:t>(Cummins and Swain 1986)</a:t>
            </a:r>
          </a:p>
          <a:p>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第２言語教育における作文技能</a:t>
            </a:r>
            <a:endParaRPr lang="ko-KR" altLang="en-US" b="1" dirty="0">
              <a:solidFill>
                <a:srgbClr val="7030A0"/>
              </a:solidFill>
            </a:endParaRPr>
          </a:p>
        </p:txBody>
      </p:sp>
      <p:sp>
        <p:nvSpPr>
          <p:cNvPr id="3" name="내용 개체 틀 2"/>
          <p:cNvSpPr>
            <a:spLocks noGrp="1"/>
          </p:cNvSpPr>
          <p:nvPr>
            <p:ph idx="1"/>
          </p:nvPr>
        </p:nvSpPr>
        <p:spPr>
          <a:xfrm>
            <a:off x="142844" y="1600200"/>
            <a:ext cx="8786874" cy="5043510"/>
          </a:xfrm>
        </p:spPr>
        <p:txBody>
          <a:bodyPr/>
          <a:lstStyle/>
          <a:p>
            <a:r>
              <a:rPr lang="ja-JP" altLang="en-US" dirty="0"/>
              <a:t>第二言語における作文技能は、</a:t>
            </a:r>
            <a:r>
              <a:rPr lang="ja-JP" altLang="en-US" dirty="0">
                <a:solidFill>
                  <a:srgbClr val="0070C0"/>
                </a:solidFill>
              </a:rPr>
              <a:t>話、聴、読</a:t>
            </a:r>
            <a:r>
              <a:rPr lang="ja-JP" altLang="en-US" dirty="0"/>
              <a:t>などの言語能力自体が発達すれば半ば自</a:t>
            </a:r>
            <a:r>
              <a:rPr lang="ja-JP" altLang="en-US" dirty="0">
                <a:solidFill>
                  <a:srgbClr val="0070C0"/>
                </a:solidFill>
              </a:rPr>
              <a:t>動的に作文技能は獲得</a:t>
            </a:r>
            <a:r>
              <a:rPr lang="ja-JP" altLang="en-US" dirty="0"/>
              <a:t>されるという考えがある。</a:t>
            </a:r>
            <a:endParaRPr lang="en-US" altLang="ja-JP" dirty="0"/>
          </a:p>
          <a:p>
            <a:r>
              <a:rPr lang="ja-JP" altLang="en-US" dirty="0"/>
              <a:t>しかし第二言語で会話ができるようになればそれに伴って自然に読み書きができるようになるとは言えない。</a:t>
            </a:r>
            <a:endParaRPr lang="en-US" altLang="ja-JP" dirty="0"/>
          </a:p>
          <a:p>
            <a:r>
              <a:rPr lang="ja-JP" altLang="en-US" dirty="0">
                <a:solidFill>
                  <a:srgbClr val="0070C0"/>
                </a:solidFill>
              </a:rPr>
              <a:t>読み書き能力なし</a:t>
            </a:r>
            <a:r>
              <a:rPr lang="ja-JP" altLang="en-US" dirty="0"/>
              <a:t>に</a:t>
            </a:r>
            <a:r>
              <a:rPr lang="ja-JP" altLang="en-US" dirty="0">
                <a:solidFill>
                  <a:srgbClr val="0070C0"/>
                </a:solidFill>
              </a:rPr>
              <a:t>会話の能力を発達</a:t>
            </a:r>
            <a:r>
              <a:rPr lang="ja-JP" altLang="en-US" dirty="0"/>
              <a:t>させることは十分に可能だからである。</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したがって、</a:t>
            </a:r>
            <a:r>
              <a:rPr lang="ja-JP" altLang="en-US" dirty="0">
                <a:solidFill>
                  <a:srgbClr val="0070C0"/>
                </a:solidFill>
              </a:rPr>
              <a:t>作文技能</a:t>
            </a:r>
            <a:r>
              <a:rPr lang="ja-JP" altLang="en-US" dirty="0"/>
              <a:t>は他の言語能力とは別のものであり、</a:t>
            </a:r>
            <a:r>
              <a:rPr lang="ja-JP" altLang="en-US" dirty="0">
                <a:solidFill>
                  <a:srgbClr val="0070C0"/>
                </a:solidFill>
              </a:rPr>
              <a:t>その教育も、独自の領域をもつもの</a:t>
            </a:r>
            <a:r>
              <a:rPr lang="ja-JP" altLang="en-US" dirty="0"/>
              <a:t>として考える。</a:t>
            </a:r>
            <a:endParaRPr lang="en-US" altLang="ja-JP" dirty="0"/>
          </a:p>
          <a:p>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endParaRPr lang="en-US" altLang="ja-JP" dirty="0"/>
          </a:p>
          <a:p>
            <a:endParaRPr lang="en-US" altLang="ja-JP" dirty="0"/>
          </a:p>
          <a:p>
            <a:r>
              <a:rPr lang="ja-JP" altLang="en-US" dirty="0"/>
              <a:t>熟達した書き手と未熟な書き手の特徴はなんでしょうか。</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sz="3600" b="1" dirty="0">
                <a:solidFill>
                  <a:srgbClr val="7030A0"/>
                </a:solidFill>
              </a:rPr>
              <a:t>熟達した書き手と未熟な書き手の特徴</a:t>
            </a:r>
            <a:endParaRPr lang="ko-KR" altLang="en-US" sz="3600" b="1" dirty="0">
              <a:solidFill>
                <a:srgbClr val="7030A0"/>
              </a:solidFill>
            </a:endParaRPr>
          </a:p>
        </p:txBody>
      </p:sp>
      <p:sp>
        <p:nvSpPr>
          <p:cNvPr id="3" name="내용 개체 틀 2"/>
          <p:cNvSpPr>
            <a:spLocks noGrp="1"/>
          </p:cNvSpPr>
          <p:nvPr>
            <p:ph idx="1"/>
          </p:nvPr>
        </p:nvSpPr>
        <p:spPr/>
        <p:txBody>
          <a:bodyPr/>
          <a:lstStyle/>
          <a:p>
            <a:endParaRPr lang="en-US" altLang="ja-JP" dirty="0"/>
          </a:p>
          <a:p>
            <a:r>
              <a:rPr lang="ja-JP" altLang="en-US" dirty="0">
                <a:solidFill>
                  <a:srgbClr val="0070C0"/>
                </a:solidFill>
              </a:rPr>
              <a:t>読む絶対量</a:t>
            </a:r>
            <a:r>
              <a:rPr lang="ja-JP" altLang="en-US" dirty="0"/>
              <a:t>における違い</a:t>
            </a:r>
            <a:endParaRPr lang="en-US" altLang="ja-JP" dirty="0"/>
          </a:p>
          <a:p>
            <a:pPr>
              <a:buNone/>
            </a:pPr>
            <a:endParaRPr lang="en-US" altLang="ja-JP" dirty="0"/>
          </a:p>
          <a:p>
            <a:r>
              <a:rPr lang="ja-JP" altLang="en-US" dirty="0"/>
              <a:t>実際に</a:t>
            </a:r>
            <a:r>
              <a:rPr lang="ja-JP" altLang="en-US" dirty="0">
                <a:solidFill>
                  <a:srgbClr val="0070C0"/>
                </a:solidFill>
              </a:rPr>
              <a:t>書く過程</a:t>
            </a:r>
            <a:r>
              <a:rPr lang="ja-JP" altLang="en-US" dirty="0"/>
              <a:t>において両者がとる</a:t>
            </a:r>
            <a:r>
              <a:rPr lang="ja-JP" altLang="en-US" dirty="0">
                <a:solidFill>
                  <a:srgbClr val="0070C0"/>
                </a:solidFill>
              </a:rPr>
              <a:t>ストラテジー</a:t>
            </a:r>
            <a:endParaRPr lang="en-US" altLang="ja-JP" dirty="0">
              <a:solidFill>
                <a:srgbClr val="0070C0"/>
              </a:solidFill>
            </a:endParaRPr>
          </a:p>
          <a:p>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読む量の違い</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書き言葉</a:t>
            </a:r>
            <a:r>
              <a:rPr lang="ja-JP" altLang="en-US" dirty="0"/>
              <a:t>は、話し言葉と同じ言葉といっても、</a:t>
            </a:r>
            <a:r>
              <a:rPr lang="ja-JP" altLang="en-US" dirty="0">
                <a:solidFill>
                  <a:srgbClr val="0070C0"/>
                </a:solidFill>
              </a:rPr>
              <a:t>独自の規則</a:t>
            </a:r>
            <a:r>
              <a:rPr lang="ja-JP" altLang="en-US" dirty="0"/>
              <a:t>がそこに存在する。</a:t>
            </a:r>
            <a:endParaRPr lang="en-US" altLang="ja-JP" dirty="0"/>
          </a:p>
          <a:p>
            <a:r>
              <a:rPr lang="ja-JP" altLang="en-US" dirty="0"/>
              <a:t>例）詩には詩独自の、評論文は評論文独自が存在するー文字、文型、文章構造</a:t>
            </a:r>
            <a:endParaRPr lang="en-US" altLang="ja-JP" dirty="0"/>
          </a:p>
          <a:p>
            <a:r>
              <a:rPr lang="ja-JP" altLang="en-US" dirty="0">
                <a:solidFill>
                  <a:srgbClr val="0070C0"/>
                </a:solidFill>
              </a:rPr>
              <a:t>よく読む</a:t>
            </a:r>
            <a:r>
              <a:rPr lang="ja-JP" altLang="en-US" dirty="0"/>
              <a:t>ということは、</a:t>
            </a:r>
            <a:r>
              <a:rPr lang="ja-JP" altLang="en-US" dirty="0">
                <a:solidFill>
                  <a:srgbClr val="0070C0"/>
                </a:solidFill>
              </a:rPr>
              <a:t>読む過程</a:t>
            </a:r>
            <a:r>
              <a:rPr lang="ja-JP" altLang="en-US" dirty="0"/>
              <a:t>でこれらに接することを通して、それらを</a:t>
            </a:r>
            <a:r>
              <a:rPr lang="ja-JP" altLang="en-US" dirty="0">
                <a:solidFill>
                  <a:srgbClr val="0070C0"/>
                </a:solidFill>
              </a:rPr>
              <a:t>支配している規則</a:t>
            </a:r>
            <a:r>
              <a:rPr lang="ja-JP" altLang="en-US" dirty="0"/>
              <a:t>に触れ、意識的あるいは無意識的のうちにそれらを</a:t>
            </a:r>
            <a:r>
              <a:rPr lang="ja-JP" altLang="en-US" dirty="0">
                <a:solidFill>
                  <a:srgbClr val="0070C0"/>
                </a:solidFill>
              </a:rPr>
              <a:t>理解</a:t>
            </a:r>
            <a:r>
              <a:rPr lang="ja-JP" altLang="en-US" dirty="0"/>
              <a:t>し</a:t>
            </a:r>
            <a:r>
              <a:rPr lang="ja-JP" altLang="en-US" dirty="0">
                <a:solidFill>
                  <a:srgbClr val="0070C0"/>
                </a:solidFill>
              </a:rPr>
              <a:t>獲得</a:t>
            </a:r>
            <a:r>
              <a:rPr lang="ja-JP" altLang="en-US" dirty="0"/>
              <a:t>していくことを意味する。</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solidFill>
                  <a:srgbClr val="0070C0"/>
                </a:solidFill>
              </a:rPr>
              <a:t>よく読むこと</a:t>
            </a:r>
            <a:r>
              <a:rPr lang="ja-JP" altLang="en-US" dirty="0"/>
              <a:t>は</a:t>
            </a:r>
            <a:r>
              <a:rPr lang="ja-JP" altLang="en-US" dirty="0">
                <a:solidFill>
                  <a:srgbClr val="0070C0"/>
                </a:solidFill>
              </a:rPr>
              <a:t>熟達した書き手</a:t>
            </a:r>
            <a:r>
              <a:rPr lang="ja-JP" altLang="en-US" dirty="0"/>
              <a:t>になるための</a:t>
            </a:r>
            <a:r>
              <a:rPr lang="ja-JP" altLang="en-US" dirty="0">
                <a:solidFill>
                  <a:srgbClr val="0070C0"/>
                </a:solidFill>
              </a:rPr>
              <a:t>必要条件</a:t>
            </a:r>
            <a:r>
              <a:rPr lang="ja-JP" altLang="en-US" dirty="0"/>
              <a:t>であり、熟達した書き手が未熟な書き手に比べて読む量が多い</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endParaRPr lang="en-US" altLang="ja-JP" dirty="0">
              <a:solidFill>
                <a:srgbClr val="0070C0"/>
              </a:solidFill>
            </a:endParaRPr>
          </a:p>
          <a:p>
            <a:r>
              <a:rPr lang="ja-JP" altLang="en-US" dirty="0">
                <a:solidFill>
                  <a:srgbClr val="0070C0"/>
                </a:solidFill>
              </a:rPr>
              <a:t>メール文に支配している規則を探してみましょう。</a:t>
            </a:r>
            <a:endParaRPr lang="ko-KR" altLang="en-US" dirty="0"/>
          </a:p>
        </p:txBody>
      </p:sp>
    </p:spTree>
    <p:extLst>
      <p:ext uri="{BB962C8B-B14F-4D97-AF65-F5344CB8AC3E}">
        <p14:creationId xmlns:p14="http://schemas.microsoft.com/office/powerpoint/2010/main" val="347513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ja-JP" b="1" dirty="0"/>
              <a:t>E</a:t>
            </a:r>
            <a:r>
              <a:rPr lang="ja-JP" altLang="en-US" b="1" dirty="0"/>
              <a:t>メール１</a:t>
            </a:r>
            <a:endParaRPr lang="ko-KR" altLang="en-US" b="1" dirty="0"/>
          </a:p>
        </p:txBody>
      </p:sp>
      <p:sp>
        <p:nvSpPr>
          <p:cNvPr id="3" name="내용 개체 틀 2"/>
          <p:cNvSpPr>
            <a:spLocks noGrp="1"/>
          </p:cNvSpPr>
          <p:nvPr>
            <p:ph idx="1"/>
          </p:nvPr>
        </p:nvSpPr>
        <p:spPr>
          <a:xfrm>
            <a:off x="179512" y="1600200"/>
            <a:ext cx="8784976" cy="5141168"/>
          </a:xfrm>
        </p:spPr>
        <p:txBody>
          <a:bodyPr>
            <a:normAutofit fontScale="47500" lnSpcReduction="20000"/>
          </a:bodyPr>
          <a:lstStyle/>
          <a:p>
            <a:r>
              <a:rPr lang="ja-JP" altLang="en-US" sz="3800" dirty="0"/>
              <a:t>高麗大学</a:t>
            </a:r>
            <a:r>
              <a:rPr lang="en-US" altLang="ja-JP" sz="3800" dirty="0"/>
              <a:t>o</a:t>
            </a:r>
            <a:r>
              <a:rPr lang="ja-JP" altLang="en-US" sz="3800" dirty="0"/>
              <a:t>（名字）先生</a:t>
            </a:r>
          </a:p>
          <a:p>
            <a:r>
              <a:rPr lang="ja-JP" altLang="en-US" sz="3800" dirty="0"/>
              <a:t>（</a:t>
            </a:r>
            <a:r>
              <a:rPr lang="en-US" altLang="ja-JP" sz="3800" dirty="0"/>
              <a:t>cc;</a:t>
            </a:r>
            <a:r>
              <a:rPr lang="ja-JP" altLang="en-US" sz="3800" dirty="0"/>
              <a:t>　</a:t>
            </a:r>
            <a:r>
              <a:rPr lang="en-US" altLang="ja-JP" sz="3800" dirty="0"/>
              <a:t>o</a:t>
            </a:r>
            <a:r>
              <a:rPr lang="ja-JP" altLang="en-US" sz="3800" dirty="0"/>
              <a:t> （名字）先生、</a:t>
            </a:r>
            <a:r>
              <a:rPr lang="en-US" altLang="ja-JP" sz="3800" dirty="0"/>
              <a:t>o</a:t>
            </a:r>
            <a:r>
              <a:rPr lang="ja-JP" altLang="en-US" sz="3800" dirty="0"/>
              <a:t> （名字）先生）</a:t>
            </a:r>
          </a:p>
          <a:p>
            <a:pPr marL="0" indent="0">
              <a:buNone/>
            </a:pPr>
            <a:br>
              <a:rPr lang="ja-JP" altLang="en-US" sz="3800" dirty="0"/>
            </a:br>
            <a:endParaRPr lang="ja-JP" altLang="en-US" sz="3800" dirty="0"/>
          </a:p>
          <a:p>
            <a:r>
              <a:rPr lang="ja-JP" altLang="en-US" sz="3800" dirty="0"/>
              <a:t>大変ご無沙汰しております。</a:t>
            </a:r>
            <a:r>
              <a:rPr lang="en-US" altLang="ja-JP" sz="3800" dirty="0"/>
              <a:t>o</a:t>
            </a:r>
            <a:r>
              <a:rPr lang="ja-JP" altLang="en-US" sz="3800" dirty="0"/>
              <a:t> （名字）です。</a:t>
            </a:r>
          </a:p>
          <a:p>
            <a:r>
              <a:rPr lang="ja-JP" altLang="en-US" sz="3800" dirty="0"/>
              <a:t>お元気でいらっしゃいますか。</a:t>
            </a:r>
          </a:p>
          <a:p>
            <a:pPr marL="0" indent="0">
              <a:buNone/>
            </a:pPr>
            <a:br>
              <a:rPr lang="ja-JP" altLang="en-US" sz="3800" dirty="0"/>
            </a:br>
            <a:endParaRPr lang="ja-JP" altLang="en-US" sz="3800" dirty="0"/>
          </a:p>
          <a:p>
            <a:r>
              <a:rPr lang="ja-JP" altLang="en-US" sz="3800" dirty="0"/>
              <a:t>コロナ禍が続き、昨年も、そして今年も、貴校での教育実習や交流が叶わず、大変残念に思います。</a:t>
            </a:r>
          </a:p>
          <a:p>
            <a:r>
              <a:rPr lang="ja-JP" altLang="en-US" sz="3800" dirty="0"/>
              <a:t>複数の学生が貴校の実習を希望しておりましたが、学生には現在の状況を説明し、納得してもらっています。</a:t>
            </a:r>
          </a:p>
          <a:p>
            <a:r>
              <a:rPr lang="ja-JP" altLang="en-US" sz="3800" dirty="0"/>
              <a:t>また、</a:t>
            </a:r>
            <a:r>
              <a:rPr lang="en-US" altLang="ja-JP" sz="3800" dirty="0" err="1"/>
              <a:t>oo</a:t>
            </a:r>
            <a:r>
              <a:rPr lang="ja-JP" altLang="en-US" sz="3800" dirty="0"/>
              <a:t>大学では、対面授業とオンラインを駆使して、教育実習を継続しております。</a:t>
            </a:r>
          </a:p>
          <a:p>
            <a:pPr marL="0" indent="0">
              <a:buNone/>
            </a:pPr>
            <a:br>
              <a:rPr lang="ja-JP" altLang="en-US" sz="3800" dirty="0"/>
            </a:br>
            <a:endParaRPr lang="ja-JP" altLang="en-US" sz="3800" dirty="0"/>
          </a:p>
          <a:p>
            <a:r>
              <a:rPr lang="ja-JP" altLang="en-US" sz="3800" dirty="0"/>
              <a:t>そこで、</a:t>
            </a:r>
            <a:r>
              <a:rPr lang="en-US" altLang="ja-JP" sz="3800" dirty="0"/>
              <a:t>1</a:t>
            </a:r>
            <a:r>
              <a:rPr lang="ja-JP" altLang="en-US" sz="3800" dirty="0"/>
              <a:t>つご提案・お願いがございます。</a:t>
            </a:r>
            <a:br>
              <a:rPr lang="ja-JP" altLang="en-US" sz="3800" dirty="0"/>
            </a:br>
            <a:endParaRPr lang="ja-JP" altLang="en-US" sz="3800" dirty="0"/>
          </a:p>
          <a:p>
            <a:pPr marL="0" indent="0">
              <a:buNone/>
            </a:pPr>
            <a:br>
              <a:rPr lang="ja-JP" altLang="en-US" dirty="0"/>
            </a:br>
            <a:endParaRPr lang="ja-JP" altLang="en-US" dirty="0"/>
          </a:p>
          <a:p>
            <a:endParaRPr lang="ko-KR" altLang="en-US" dirty="0"/>
          </a:p>
        </p:txBody>
      </p:sp>
    </p:spTree>
    <p:extLst>
      <p:ext uri="{BB962C8B-B14F-4D97-AF65-F5344CB8AC3E}">
        <p14:creationId xmlns:p14="http://schemas.microsoft.com/office/powerpoint/2010/main" val="822568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1600200"/>
            <a:ext cx="8229600" cy="5069160"/>
          </a:xfrm>
        </p:spPr>
        <p:txBody>
          <a:bodyPr>
            <a:normAutofit fontScale="47500" lnSpcReduction="20000"/>
          </a:bodyPr>
          <a:lstStyle/>
          <a:p>
            <a:r>
              <a:rPr lang="ja-JP" altLang="en-US" sz="3800" dirty="0"/>
              <a:t>秋学期（</a:t>
            </a:r>
            <a:r>
              <a:rPr lang="en-US" altLang="ja-JP" sz="3800" dirty="0"/>
              <a:t>10</a:t>
            </a:r>
            <a:r>
              <a:rPr lang="ja-JP" altLang="en-US" sz="3800" dirty="0"/>
              <a:t>月か</a:t>
            </a:r>
            <a:r>
              <a:rPr lang="en-US" altLang="ja-JP" sz="3800" dirty="0"/>
              <a:t>11</a:t>
            </a:r>
            <a:r>
              <a:rPr lang="ja-JP" altLang="en-US" sz="3800" dirty="0"/>
              <a:t>月）に</a:t>
            </a:r>
            <a:r>
              <a:rPr lang="en-US" altLang="ja-JP" sz="3800" dirty="0"/>
              <a:t>1</a:t>
            </a:r>
            <a:r>
              <a:rPr lang="ja-JP" altLang="en-US" sz="3800" dirty="0"/>
              <a:t>回（</a:t>
            </a:r>
            <a:r>
              <a:rPr lang="en-US" altLang="ja-JP" sz="3800" dirty="0"/>
              <a:t>2</a:t>
            </a:r>
            <a:r>
              <a:rPr lang="ja-JP" altLang="en-US" sz="3800" dirty="0"/>
              <a:t>時間くらい）、学生同士の交流の機会（オンライン）を設けていただくことは可能でしょうか。</a:t>
            </a:r>
          </a:p>
          <a:p>
            <a:pPr marL="0" indent="0">
              <a:buNone/>
            </a:pPr>
            <a:br>
              <a:rPr lang="ja-JP" altLang="en-US" sz="3800" dirty="0"/>
            </a:br>
            <a:endParaRPr lang="ja-JP" altLang="en-US" sz="3800" dirty="0"/>
          </a:p>
          <a:p>
            <a:r>
              <a:rPr lang="ja-JP" altLang="en-US" sz="3800" dirty="0"/>
              <a:t>例えば、各自が自己紹介を日本語で行い、学生が考えてきた質問やインタビューなど行う、日本のアニメ、韓国のドラマなどを紹介して意見交換するなどです。</a:t>
            </a:r>
          </a:p>
          <a:p>
            <a:r>
              <a:rPr lang="en-US" altLang="ja-JP" sz="3800"/>
              <a:t>OO</a:t>
            </a:r>
            <a:r>
              <a:rPr lang="ja-JP" altLang="en-US" sz="3800"/>
              <a:t>の</a:t>
            </a:r>
            <a:r>
              <a:rPr lang="ja-JP" altLang="en-US" sz="3800" dirty="0"/>
              <a:t>学生（実習生）に交流会を企画させてもよいかと思います。</a:t>
            </a:r>
          </a:p>
          <a:p>
            <a:pPr marL="0" indent="0">
              <a:buNone/>
            </a:pPr>
            <a:br>
              <a:rPr lang="ja-JP" altLang="en-US" sz="3800" dirty="0"/>
            </a:br>
            <a:endParaRPr lang="ja-JP" altLang="en-US" sz="3800" dirty="0"/>
          </a:p>
          <a:p>
            <a:r>
              <a:rPr lang="ja-JP" altLang="en-US" sz="3800" dirty="0"/>
              <a:t>これまで実習を通して貴校および貴校の学生との交流を大切にしてきましたので、</a:t>
            </a:r>
          </a:p>
          <a:p>
            <a:r>
              <a:rPr lang="ja-JP" altLang="en-US" sz="3800" dirty="0"/>
              <a:t>少しでも継続できれば、幸いに存じます。</a:t>
            </a:r>
            <a:br>
              <a:rPr lang="ja-JP" altLang="en-US" sz="3800" dirty="0"/>
            </a:br>
            <a:endParaRPr lang="ja-JP" altLang="en-US" sz="3800" dirty="0"/>
          </a:p>
          <a:p>
            <a:pPr marL="0" indent="0">
              <a:buNone/>
            </a:pPr>
            <a:br>
              <a:rPr lang="ja-JP" altLang="en-US" sz="3800" dirty="0"/>
            </a:br>
            <a:endParaRPr lang="ja-JP" altLang="en-US" sz="3800" dirty="0"/>
          </a:p>
          <a:p>
            <a:r>
              <a:rPr lang="ja-JP" altLang="en-US" sz="3800" dirty="0"/>
              <a:t>どうぞご検討くださいますよう、お願い申し上げます。</a:t>
            </a:r>
          </a:p>
          <a:p>
            <a:pPr marL="0" indent="0">
              <a:buNone/>
            </a:pPr>
            <a:br>
              <a:rPr lang="ja-JP" altLang="en-US" sz="3800" dirty="0"/>
            </a:br>
            <a:endParaRPr lang="ja-JP" altLang="en-US" sz="3800" dirty="0"/>
          </a:p>
          <a:p>
            <a:r>
              <a:rPr lang="en-US" altLang="ja-JP" sz="3800" dirty="0" err="1"/>
              <a:t>oo</a:t>
            </a:r>
            <a:r>
              <a:rPr lang="ja-JP" altLang="en-US" sz="3800" dirty="0"/>
              <a:t>大学　</a:t>
            </a:r>
            <a:r>
              <a:rPr lang="en-US" altLang="ja-JP" sz="3800" dirty="0" err="1"/>
              <a:t>oooo</a:t>
            </a:r>
            <a:r>
              <a:rPr lang="ja-JP" altLang="en-US" sz="3800" dirty="0"/>
              <a:t>（名字＋名前）</a:t>
            </a:r>
          </a:p>
          <a:p>
            <a:endParaRPr lang="ko-KR" altLang="en-US" dirty="0"/>
          </a:p>
        </p:txBody>
      </p:sp>
    </p:spTree>
    <p:extLst>
      <p:ext uri="{BB962C8B-B14F-4D97-AF65-F5344CB8AC3E}">
        <p14:creationId xmlns:p14="http://schemas.microsoft.com/office/powerpoint/2010/main" val="83840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67544" y="692696"/>
            <a:ext cx="8229600" cy="720080"/>
          </a:xfrm>
        </p:spPr>
        <p:txBody>
          <a:bodyPr>
            <a:normAutofit fontScale="90000"/>
          </a:bodyPr>
          <a:lstStyle/>
          <a:p>
            <a:r>
              <a:rPr lang="en-US" altLang="ja-JP" b="1" dirty="0"/>
              <a:t>E</a:t>
            </a:r>
            <a:r>
              <a:rPr lang="ja-JP" altLang="en-US" b="1" dirty="0"/>
              <a:t>メール２</a:t>
            </a:r>
            <a:endParaRPr lang="ko-KR" altLang="en-US" b="1" dirty="0"/>
          </a:p>
        </p:txBody>
      </p:sp>
      <p:sp>
        <p:nvSpPr>
          <p:cNvPr id="3" name="내용 개체 틀 2"/>
          <p:cNvSpPr>
            <a:spLocks noGrp="1"/>
          </p:cNvSpPr>
          <p:nvPr>
            <p:ph idx="1"/>
          </p:nvPr>
        </p:nvSpPr>
        <p:spPr>
          <a:xfrm>
            <a:off x="179512" y="1916832"/>
            <a:ext cx="8856984" cy="4464496"/>
          </a:xfrm>
        </p:spPr>
        <p:txBody>
          <a:bodyPr>
            <a:noAutofit/>
          </a:bodyPr>
          <a:lstStyle/>
          <a:p>
            <a:pPr latinLnBrk="0"/>
            <a:r>
              <a:rPr lang="ja-JP" altLang="ko-KR" sz="1800" dirty="0"/>
              <a:t>高麗大学　</a:t>
            </a:r>
            <a:r>
              <a:rPr lang="en-US" altLang="ja-JP" sz="1800" dirty="0"/>
              <a:t>OO</a:t>
            </a:r>
            <a:r>
              <a:rPr lang="ja-JP" altLang="en-US" sz="1800" dirty="0"/>
              <a:t>（名字＋名前）</a:t>
            </a:r>
            <a:r>
              <a:rPr lang="ja-JP" altLang="ko-KR" sz="1800" dirty="0"/>
              <a:t>先生</a:t>
            </a:r>
            <a:endParaRPr lang="ko-KR" altLang="ko-KR" sz="1800" dirty="0"/>
          </a:p>
          <a:p>
            <a:pPr marL="0" indent="0" latinLnBrk="0">
              <a:buNone/>
            </a:pPr>
            <a:r>
              <a:rPr lang="en-US" altLang="ko-KR" sz="1800" dirty="0"/>
              <a:t> </a:t>
            </a:r>
            <a:endParaRPr lang="ko-KR" altLang="ko-KR" sz="1800" dirty="0"/>
          </a:p>
          <a:p>
            <a:pPr latinLnBrk="0"/>
            <a:r>
              <a:rPr lang="ja-JP" altLang="ko-KR" sz="1800" dirty="0"/>
              <a:t>ご無沙汰しております。</a:t>
            </a:r>
            <a:endParaRPr lang="ko-KR" altLang="ko-KR" sz="1800" dirty="0"/>
          </a:p>
          <a:p>
            <a:pPr latinLnBrk="0"/>
            <a:r>
              <a:rPr lang="en-US" altLang="ja-JP" sz="1800" dirty="0"/>
              <a:t>OO</a:t>
            </a:r>
            <a:r>
              <a:rPr lang="ja-JP" altLang="ko-KR" sz="1800" dirty="0"/>
              <a:t>大学の</a:t>
            </a:r>
            <a:r>
              <a:rPr lang="en-US" altLang="ja-JP" sz="1800" dirty="0"/>
              <a:t>OO</a:t>
            </a:r>
            <a:r>
              <a:rPr lang="ja-JP" altLang="en-US" sz="1800" dirty="0"/>
              <a:t> （名字＋名前）</a:t>
            </a:r>
            <a:r>
              <a:rPr lang="ja-JP" altLang="ko-KR" sz="1800" dirty="0"/>
              <a:t>です。</a:t>
            </a:r>
            <a:endParaRPr lang="ko-KR" altLang="ko-KR" sz="1800" dirty="0"/>
          </a:p>
          <a:p>
            <a:pPr marL="0" indent="0" latinLnBrk="0">
              <a:buNone/>
            </a:pPr>
            <a:r>
              <a:rPr lang="en-US" altLang="ko-KR" sz="1800" dirty="0"/>
              <a:t> </a:t>
            </a:r>
            <a:endParaRPr lang="ko-KR" altLang="ko-KR" sz="1800" dirty="0"/>
          </a:p>
          <a:p>
            <a:pPr latinLnBrk="0"/>
            <a:r>
              <a:rPr lang="en-US" altLang="ko-KR" sz="1800" dirty="0"/>
              <a:t>12</a:t>
            </a:r>
            <a:r>
              <a:rPr lang="ja-JP" altLang="ko-KR" sz="1800" dirty="0"/>
              <a:t>月</a:t>
            </a:r>
            <a:r>
              <a:rPr lang="en-US" altLang="ko-KR" sz="1800" dirty="0"/>
              <a:t>7</a:t>
            </a:r>
            <a:r>
              <a:rPr lang="ja-JP" altLang="ko-KR" sz="1800" dirty="0"/>
              <a:t>日（土）の韓国日語教育学会では、またお目にかかることを楽しみにしております。</a:t>
            </a:r>
            <a:endParaRPr lang="ko-KR" altLang="ko-KR" sz="1800" dirty="0"/>
          </a:p>
          <a:p>
            <a:pPr marL="0" indent="0" latinLnBrk="0">
              <a:buNone/>
            </a:pPr>
            <a:r>
              <a:rPr lang="en-US" altLang="ko-KR" sz="1800" dirty="0"/>
              <a:t> </a:t>
            </a:r>
            <a:endParaRPr lang="ko-KR" altLang="ko-KR" sz="1800" dirty="0"/>
          </a:p>
          <a:p>
            <a:pPr latinLnBrk="0"/>
            <a:r>
              <a:rPr lang="ja-JP" altLang="ko-KR" sz="1800" dirty="0"/>
              <a:t>この度はアンケート調査のご協力のお願いで、ご連絡を差し上げました。</a:t>
            </a:r>
            <a:endParaRPr lang="ko-KR" altLang="ko-KR" sz="1800" dirty="0"/>
          </a:p>
          <a:p>
            <a:pPr marL="0" indent="0" latinLnBrk="0">
              <a:buNone/>
            </a:pPr>
            <a:r>
              <a:rPr lang="en-US" altLang="ko-KR" sz="1800" dirty="0"/>
              <a:t> </a:t>
            </a:r>
            <a:endParaRPr lang="ko-KR" altLang="ko-KR" sz="1800" dirty="0"/>
          </a:p>
          <a:p>
            <a:pPr latinLnBrk="0"/>
            <a:r>
              <a:rPr lang="ja-JP" altLang="ko-KR" sz="1800" dirty="0"/>
              <a:t>私たちの研究グループは、文部科学省の科学研究費「日韓の韓国語専攻・日本語専攻の学生が架け橋となるためのキャリア支援に関する研究</a:t>
            </a:r>
            <a:r>
              <a:rPr lang="en-US" altLang="ko-KR" sz="1800" dirty="0"/>
              <a:t>(</a:t>
            </a:r>
            <a:r>
              <a:rPr lang="ja-JP" altLang="ko-KR" sz="1800" dirty="0"/>
              <a:t>課題番号：</a:t>
            </a:r>
            <a:r>
              <a:rPr lang="en-US" altLang="ko-KR" sz="1800" dirty="0"/>
              <a:t>19K02875</a:t>
            </a:r>
            <a:r>
              <a:rPr lang="ja-JP" altLang="ko-KR" sz="1800" dirty="0"/>
              <a:t>）」が採択され、研究を進めております。</a:t>
            </a:r>
            <a:endParaRPr lang="ko-KR" altLang="ko-KR" sz="1800" dirty="0"/>
          </a:p>
          <a:p>
            <a:pPr marL="0" indent="0" latinLnBrk="0">
              <a:buNone/>
            </a:pPr>
            <a:r>
              <a:rPr lang="en-US" altLang="ko-KR" sz="1800" dirty="0"/>
              <a:t> </a:t>
            </a:r>
            <a:endParaRPr lang="ko-KR" altLang="ko-KR" sz="1800" dirty="0"/>
          </a:p>
          <a:p>
            <a:endParaRPr lang="ko-KR" altLang="en-US" sz="1400" dirty="0"/>
          </a:p>
        </p:txBody>
      </p:sp>
    </p:spTree>
    <p:extLst>
      <p:ext uri="{BB962C8B-B14F-4D97-AF65-F5344CB8AC3E}">
        <p14:creationId xmlns:p14="http://schemas.microsoft.com/office/powerpoint/2010/main" val="2262750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1196752"/>
            <a:ext cx="8229600" cy="5544616"/>
          </a:xfrm>
        </p:spPr>
        <p:txBody>
          <a:bodyPr>
            <a:noAutofit/>
          </a:bodyPr>
          <a:lstStyle/>
          <a:p>
            <a:pPr latinLnBrk="0"/>
            <a:r>
              <a:rPr lang="en-US" altLang="ja-JP" sz="1800" dirty="0" err="1"/>
              <a:t>oo</a:t>
            </a:r>
            <a:r>
              <a:rPr lang="ja-JP" altLang="en-US" sz="1800" dirty="0"/>
              <a:t> （名字＋名前） </a:t>
            </a:r>
            <a:r>
              <a:rPr lang="ja-JP" altLang="ko-KR" sz="1800" dirty="0"/>
              <a:t>（</a:t>
            </a:r>
            <a:r>
              <a:rPr lang="en-US" altLang="ja-JP" sz="1800" dirty="0" err="1"/>
              <a:t>oo</a:t>
            </a:r>
            <a:r>
              <a:rPr lang="ja-JP" altLang="ko-KR" sz="1800" dirty="0"/>
              <a:t>大学）・</a:t>
            </a:r>
            <a:r>
              <a:rPr lang="en-US" altLang="ja-JP" sz="1800" dirty="0" err="1"/>
              <a:t>oo</a:t>
            </a:r>
            <a:r>
              <a:rPr lang="ja-JP" altLang="en-US" sz="1800" dirty="0"/>
              <a:t> （名字＋名前） </a:t>
            </a:r>
            <a:r>
              <a:rPr lang="ja-JP" altLang="ko-KR" sz="1800" dirty="0"/>
              <a:t>（</a:t>
            </a:r>
            <a:r>
              <a:rPr lang="en-US" altLang="ja-JP" sz="1800" dirty="0" err="1"/>
              <a:t>oo</a:t>
            </a:r>
            <a:r>
              <a:rPr lang="ja-JP" altLang="ko-KR" sz="1800" dirty="0"/>
              <a:t>大学）・</a:t>
            </a:r>
            <a:r>
              <a:rPr lang="en-US" altLang="ja-JP" sz="1800" dirty="0" err="1"/>
              <a:t>oo</a:t>
            </a:r>
            <a:r>
              <a:rPr lang="ja-JP" altLang="en-US" sz="1800" dirty="0"/>
              <a:t> （名字＋名前） </a:t>
            </a:r>
            <a:r>
              <a:rPr lang="ja-JP" altLang="ko-KR" sz="1800" dirty="0"/>
              <a:t>（韓国 </a:t>
            </a:r>
            <a:r>
              <a:rPr lang="en-US" altLang="ja-JP" sz="1800" dirty="0" err="1"/>
              <a:t>oo</a:t>
            </a:r>
            <a:r>
              <a:rPr lang="ja-JP" altLang="ko-KR" sz="1800" dirty="0"/>
              <a:t>大学校） </a:t>
            </a:r>
            <a:endParaRPr lang="ko-KR" altLang="ko-KR" sz="1800" dirty="0"/>
          </a:p>
          <a:p>
            <a:pPr marL="0" indent="0" latinLnBrk="0">
              <a:buNone/>
            </a:pPr>
            <a:r>
              <a:rPr lang="en-US" altLang="ko-KR" sz="1800" dirty="0"/>
              <a:t> </a:t>
            </a:r>
            <a:endParaRPr lang="ko-KR" altLang="ko-KR" sz="1800" dirty="0"/>
          </a:p>
          <a:p>
            <a:pPr latinLnBrk="0"/>
            <a:r>
              <a:rPr lang="en-US" altLang="ko-KR" sz="1800" u="sng" dirty="0">
                <a:hlinkClick r:id="rId2"/>
              </a:rPr>
              <a:t>https://kaken.nii.ac.jp/ja/grant/KAKENHI-PROJECT-19K02875/</a:t>
            </a:r>
            <a:endParaRPr lang="ko-KR" altLang="ko-KR" sz="1800" dirty="0"/>
          </a:p>
          <a:p>
            <a:pPr latinLnBrk="0"/>
            <a:r>
              <a:rPr lang="ja-JP" altLang="ko-KR" sz="1800" dirty="0"/>
              <a:t>そこで、韓国の大学校に所属する「日語日文学の主専攻」の学生達に下記のようなアンケートとその後の分析を行い、将来的には学生達のキャリア形成に関する力になりたいと考えております。</a:t>
            </a:r>
            <a:endParaRPr lang="ko-KR" altLang="ko-KR" sz="1800" dirty="0"/>
          </a:p>
          <a:p>
            <a:pPr latinLnBrk="0"/>
            <a:r>
              <a:rPr lang="ja-JP" altLang="ko-KR" sz="1800" dirty="0"/>
              <a:t>このため、先生の学生さん達に下記</a:t>
            </a:r>
            <a:r>
              <a:rPr lang="en-US" altLang="ko-KR" sz="1800" dirty="0"/>
              <a:t>URL</a:t>
            </a:r>
            <a:r>
              <a:rPr lang="ja-JP" altLang="ko-KR" sz="1800" dirty="0"/>
              <a:t>を紹介して頂き、アンケート調査にご協力を頂けると、大変ありがたく存じます。</a:t>
            </a:r>
            <a:endParaRPr lang="ko-KR" altLang="ko-KR" sz="1800" dirty="0"/>
          </a:p>
          <a:p>
            <a:pPr latinLnBrk="0"/>
            <a:r>
              <a:rPr lang="ja-JP" altLang="ko-KR" sz="1800" dirty="0"/>
              <a:t>下記のアンケートはハングルで書かれており、</a:t>
            </a:r>
            <a:r>
              <a:rPr lang="en-US" altLang="ko-KR" sz="1800" dirty="0"/>
              <a:t>3</a:t>
            </a:r>
            <a:r>
              <a:rPr lang="ja-JP" altLang="ko-KR" sz="1800" dirty="0"/>
              <a:t>分ほどで終わるような仕様となっております。</a:t>
            </a:r>
            <a:endParaRPr lang="ko-KR" altLang="ko-KR" sz="1800" dirty="0"/>
          </a:p>
          <a:p>
            <a:pPr latinLnBrk="0"/>
            <a:r>
              <a:rPr lang="en-US" altLang="ko-KR" sz="1800" u="sng" dirty="0">
                <a:hlinkClick r:id="rId3"/>
              </a:rPr>
              <a:t>https://docs.google.com/forms/d/e/1FAIpQLSfssuBeRqhGcQMOiFmPouU2tJFdZ593Tt5GjwjnPOndEjchFA/viewform?usp=sf_link</a:t>
            </a:r>
            <a:endParaRPr lang="ko-KR" altLang="ko-KR" sz="1800" dirty="0"/>
          </a:p>
          <a:p>
            <a:pPr marL="0" indent="0" latinLnBrk="0">
              <a:buNone/>
            </a:pPr>
            <a:r>
              <a:rPr lang="en-US" altLang="ko-KR" sz="1800" dirty="0"/>
              <a:t> </a:t>
            </a:r>
            <a:endParaRPr lang="ko-KR" altLang="ko-KR" sz="1800" dirty="0"/>
          </a:p>
          <a:p>
            <a:r>
              <a:rPr lang="ja-JP" altLang="ko-KR" sz="1800" dirty="0"/>
              <a:t>お手数をおかけいたしますが、何卒ご協力のほど、よろしくお願いいたします。</a:t>
            </a:r>
            <a:endParaRPr lang="ko-KR" altLang="ko-KR" sz="1800" dirty="0"/>
          </a:p>
          <a:p>
            <a:pPr marL="0" indent="0">
              <a:buNone/>
            </a:pPr>
            <a:r>
              <a:rPr lang="en-US" altLang="ko-KR" sz="1800" dirty="0"/>
              <a:t> </a:t>
            </a:r>
            <a:endParaRPr lang="ko-KR" altLang="ko-KR" sz="1800" dirty="0"/>
          </a:p>
          <a:p>
            <a:r>
              <a:rPr lang="en-US" altLang="ja-JP" sz="1800" dirty="0"/>
              <a:t>OO</a:t>
            </a:r>
            <a:r>
              <a:rPr lang="ja-JP" altLang="en-US" sz="1800" dirty="0"/>
              <a:t> （名字＋名前）</a:t>
            </a:r>
            <a:endParaRPr lang="ko-KR" altLang="ko-KR" sz="1800" dirty="0"/>
          </a:p>
          <a:p>
            <a:endParaRPr lang="ko-KR" altLang="en-US" sz="1800" dirty="0"/>
          </a:p>
        </p:txBody>
      </p:sp>
    </p:spTree>
    <p:extLst>
      <p:ext uri="{BB962C8B-B14F-4D97-AF65-F5344CB8AC3E}">
        <p14:creationId xmlns:p14="http://schemas.microsoft.com/office/powerpoint/2010/main" val="394308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作文ストラテジー</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熟達した書き手：何を書くか</a:t>
            </a:r>
            <a:r>
              <a:rPr lang="en-US" altLang="ja-JP" dirty="0"/>
              <a:t>(</a:t>
            </a:r>
            <a:r>
              <a:rPr lang="ja-JP" altLang="en-US" dirty="0">
                <a:solidFill>
                  <a:srgbClr val="0070C0"/>
                </a:solidFill>
              </a:rPr>
              <a:t>内容</a:t>
            </a:r>
            <a:r>
              <a:rPr lang="ja-JP" altLang="en-US" dirty="0"/>
              <a:t>）及びどう書くか（</a:t>
            </a:r>
            <a:r>
              <a:rPr lang="ja-JP" altLang="en-US" dirty="0">
                <a:solidFill>
                  <a:srgbClr val="0070C0"/>
                </a:solidFill>
              </a:rPr>
              <a:t>アウトライン</a:t>
            </a:r>
            <a:r>
              <a:rPr lang="ja-JP" altLang="en-US" dirty="0"/>
              <a:t>）について、書く前に時間をとって</a:t>
            </a:r>
            <a:r>
              <a:rPr lang="ja-JP" altLang="en-US" dirty="0">
                <a:solidFill>
                  <a:srgbClr val="0070C0"/>
                </a:solidFill>
              </a:rPr>
              <a:t>よくプランを練る</a:t>
            </a:r>
            <a:r>
              <a:rPr lang="ja-JP" altLang="en-US" dirty="0"/>
              <a:t>。プランを練る過程で、</a:t>
            </a:r>
            <a:r>
              <a:rPr lang="ja-JP" altLang="en-US" dirty="0">
                <a:solidFill>
                  <a:srgbClr val="0070C0"/>
                </a:solidFill>
              </a:rPr>
              <a:t>自分の考えを整理し深める</a:t>
            </a:r>
            <a:r>
              <a:rPr lang="ja-JP" altLang="en-US" dirty="0"/>
              <a:t>ことが</a:t>
            </a:r>
            <a:r>
              <a:rPr lang="ja-JP" altLang="en-US" dirty="0">
                <a:solidFill>
                  <a:srgbClr val="0070C0"/>
                </a:solidFill>
              </a:rPr>
              <a:t>実現</a:t>
            </a:r>
            <a:r>
              <a:rPr lang="ja-JP" altLang="en-US" dirty="0"/>
              <a:t>されている。</a:t>
            </a:r>
            <a:endParaRPr lang="en-US" altLang="ja-JP" dirty="0"/>
          </a:p>
          <a:p>
            <a:endParaRPr lang="en-US" altLang="ja-JP" dirty="0"/>
          </a:p>
          <a:p>
            <a:r>
              <a:rPr lang="ja-JP" altLang="en-US" dirty="0"/>
              <a:t>未熟な書き手：そうしたプランなしに直ちに書き始める。</a:t>
            </a:r>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熟達した書き手：書いている最中、</a:t>
            </a:r>
            <a:r>
              <a:rPr lang="ja-JP" altLang="en-US" dirty="0">
                <a:solidFill>
                  <a:srgbClr val="0070C0"/>
                </a:solidFill>
              </a:rPr>
              <a:t>自分の書いたものをよく読み直しながら前に書き進んでいく</a:t>
            </a:r>
            <a:r>
              <a:rPr lang="ja-JP" altLang="en-US" dirty="0"/>
              <a:t>。これは中途の脱線を防ぎ、最初から最後まで</a:t>
            </a:r>
            <a:r>
              <a:rPr lang="ja-JP" altLang="en-US" dirty="0">
                <a:solidFill>
                  <a:srgbClr val="0070C0"/>
                </a:solidFill>
              </a:rPr>
              <a:t>一貫した筋を通す</a:t>
            </a:r>
            <a:r>
              <a:rPr lang="ja-JP" altLang="en-US" dirty="0"/>
              <a:t>のに必要なストラテジー</a:t>
            </a:r>
            <a:endParaRPr lang="en-US" altLang="ja-JP" dirty="0"/>
          </a:p>
          <a:p>
            <a:endParaRPr lang="en-US" altLang="ja-JP" dirty="0"/>
          </a:p>
          <a:p>
            <a:r>
              <a:rPr lang="ja-JP" altLang="en-US" dirty="0"/>
              <a:t>未熟な書き手：そうした傾向は見られず、今現在書いている部分にのみ集中している。</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熟達した書き手：一つのものを仕上げるのに</a:t>
            </a:r>
            <a:r>
              <a:rPr lang="ja-JP" altLang="en-US" dirty="0">
                <a:solidFill>
                  <a:srgbClr val="0070C0"/>
                </a:solidFill>
              </a:rPr>
              <a:t>何度も推敲</a:t>
            </a:r>
            <a:r>
              <a:rPr lang="ja-JP" altLang="en-US" dirty="0"/>
              <a:t>をする。</a:t>
            </a:r>
            <a:r>
              <a:rPr lang="ja-JP" altLang="en-US" dirty="0">
                <a:solidFill>
                  <a:srgbClr val="0070C0"/>
                </a:solidFill>
              </a:rPr>
              <a:t>内容の手直し</a:t>
            </a:r>
            <a:r>
              <a:rPr lang="ja-JP" altLang="en-US" dirty="0"/>
              <a:t>をする。全体の説得性を高めるために大幅に内容に手を入れることをいとわない。</a:t>
            </a:r>
            <a:endParaRPr lang="en-US" altLang="ja-JP" dirty="0"/>
          </a:p>
          <a:p>
            <a:endParaRPr lang="en-US" altLang="ja-JP" dirty="0"/>
          </a:p>
          <a:p>
            <a:r>
              <a:rPr lang="ja-JP" altLang="en-US" dirty="0"/>
              <a:t>未熟な書き手：それほど推敲をしない。一度書き上げたらそれで終わりとする。手直しは内容より、個々の言い回しや字句といった</a:t>
            </a:r>
            <a:r>
              <a:rPr lang="ja-JP" altLang="en-US" dirty="0">
                <a:solidFill>
                  <a:srgbClr val="0070C0"/>
                </a:solidFill>
              </a:rPr>
              <a:t>言葉の形式</a:t>
            </a:r>
            <a:r>
              <a:rPr lang="ja-JP" altLang="en-US" dirty="0"/>
              <a:t>に焦点が当てられて行われる。</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熟達した書き手：そのような明確な一方向を向いた線と呼べるものがない。「プ</a:t>
            </a:r>
            <a:r>
              <a:rPr lang="ja-JP" altLang="en-US" dirty="0">
                <a:solidFill>
                  <a:srgbClr val="0070C0"/>
                </a:solidFill>
              </a:rPr>
              <a:t>ラン→下書き→チェック」の間</a:t>
            </a:r>
            <a:r>
              <a:rPr lang="ja-JP" altLang="en-US" dirty="0"/>
              <a:t>で</a:t>
            </a:r>
            <a:r>
              <a:rPr lang="ja-JP" altLang="en-US" dirty="0">
                <a:solidFill>
                  <a:srgbClr val="0070C0"/>
                </a:solidFill>
              </a:rPr>
              <a:t>何度も往復</a:t>
            </a:r>
            <a:r>
              <a:rPr lang="ja-JP" altLang="en-US" dirty="0"/>
              <a:t>がある。</a:t>
            </a:r>
            <a:endParaRPr lang="ko-KR" altLang="en-US" dirty="0"/>
          </a:p>
          <a:p>
            <a:endParaRPr lang="en-US" altLang="ja-JP" dirty="0"/>
          </a:p>
          <a:p>
            <a:r>
              <a:rPr lang="ja-JP" altLang="en-US" dirty="0"/>
              <a:t>未熟な書き手：「プラン→下書き→チェック→清書」という一つの線に沿って</a:t>
            </a:r>
            <a:r>
              <a:rPr lang="ja-JP" altLang="en-US" dirty="0">
                <a:solidFill>
                  <a:srgbClr val="0070C0"/>
                </a:solidFill>
              </a:rPr>
              <a:t>一方向的に</a:t>
            </a:r>
            <a:r>
              <a:rPr lang="ja-JP" altLang="en-US" dirty="0"/>
              <a:t>書く作業を進める。</a:t>
            </a:r>
            <a:endParaRPr lang="en-US" altLang="ja-JP"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熟達した書き手：誰に向かって書いているのか、つまり</a:t>
            </a:r>
            <a:r>
              <a:rPr lang="ja-JP" altLang="en-US" dirty="0">
                <a:solidFill>
                  <a:srgbClr val="0070C0"/>
                </a:solidFill>
              </a:rPr>
              <a:t>具体的な特定の読み手が常に意識され</a:t>
            </a:r>
            <a:r>
              <a:rPr lang="ja-JP" altLang="en-US" dirty="0"/>
              <a:t>、あたかも</a:t>
            </a:r>
            <a:r>
              <a:rPr lang="ja-JP" altLang="en-US" dirty="0">
                <a:solidFill>
                  <a:srgbClr val="0070C0"/>
                </a:solidFill>
              </a:rPr>
              <a:t>その人と対話でもするか</a:t>
            </a:r>
            <a:r>
              <a:rPr lang="ja-JP" altLang="en-US" dirty="0"/>
              <a:t>のようにして書かれる。</a:t>
            </a:r>
            <a:endParaRPr lang="en-US" altLang="ja-JP" dirty="0"/>
          </a:p>
          <a:p>
            <a:endParaRPr lang="en-US" altLang="ja-JP" dirty="0"/>
          </a:p>
          <a:p>
            <a:r>
              <a:rPr lang="ja-JP" altLang="en-US" dirty="0"/>
              <a:t>未熟な書き手：読み手は特定されないばかりか、そもそも意識にものぼらない。誰に向かって書いているのか考えない。</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書くことをどう教えるか</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熟達した書き手養成</a:t>
            </a:r>
            <a:r>
              <a:rPr lang="ja-JP" altLang="en-US" dirty="0"/>
              <a:t>に向けた一つの条件は、</a:t>
            </a:r>
            <a:r>
              <a:rPr lang="ja-JP" altLang="en-US" dirty="0">
                <a:solidFill>
                  <a:srgbClr val="0070C0"/>
                </a:solidFill>
              </a:rPr>
              <a:t>十分読ませること</a:t>
            </a:r>
            <a:r>
              <a:rPr lang="ja-JP" altLang="en-US" dirty="0"/>
              <a:t>で</a:t>
            </a:r>
            <a:r>
              <a:rPr lang="ja-JP" altLang="en-US" dirty="0">
                <a:solidFill>
                  <a:srgbClr val="0070C0"/>
                </a:solidFill>
              </a:rPr>
              <a:t>満足させることができる</a:t>
            </a:r>
            <a:r>
              <a:rPr lang="ja-JP" altLang="en-US" dirty="0"/>
              <a:t>。</a:t>
            </a:r>
            <a:endParaRPr lang="en-US" altLang="ja-JP" dirty="0"/>
          </a:p>
          <a:p>
            <a:r>
              <a:rPr lang="ja-JP" altLang="en-US" dirty="0"/>
              <a:t>つまり、学習者個々が関心を持ち自分でも考えをまとめてみたいと思うことが書かれている読み物を</a:t>
            </a:r>
            <a:r>
              <a:rPr lang="ja-JP" altLang="en-US" dirty="0">
                <a:solidFill>
                  <a:srgbClr val="0070C0"/>
                </a:solidFill>
              </a:rPr>
              <a:t>自律的に読ませる</a:t>
            </a:r>
            <a:r>
              <a:rPr lang="ja-JP" altLang="en-US" dirty="0"/>
              <a:t>ことを追求するのである。</a:t>
            </a:r>
            <a:endParaRPr lang="en-US" altLang="ja-JP" dirty="0"/>
          </a:p>
          <a:p>
            <a:r>
              <a:rPr lang="ja-JP" altLang="en-US" dirty="0"/>
              <a:t>言い換えれば、</a:t>
            </a:r>
            <a:r>
              <a:rPr lang="ja-JP" altLang="en-US" dirty="0">
                <a:solidFill>
                  <a:srgbClr val="0070C0"/>
                </a:solidFill>
              </a:rPr>
              <a:t>作文の授業</a:t>
            </a:r>
            <a:r>
              <a:rPr lang="ja-JP" altLang="en-US" dirty="0"/>
              <a:t>であっても</a:t>
            </a:r>
            <a:r>
              <a:rPr lang="ja-JP" altLang="en-US" dirty="0">
                <a:solidFill>
                  <a:srgbClr val="0070C0"/>
                </a:solidFill>
              </a:rPr>
              <a:t>読むことにも同時に力を入れる</a:t>
            </a:r>
            <a:r>
              <a:rPr lang="ja-JP" altLang="en-US" dirty="0"/>
              <a:t>ということになる。</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熟達した書き手になるためには</a:t>
            </a:r>
            <a:endParaRPr lang="ko-KR" altLang="en-US" b="1" dirty="0">
              <a:solidFill>
                <a:srgbClr val="7030A0"/>
              </a:solidFill>
            </a:endParaRPr>
          </a:p>
        </p:txBody>
      </p:sp>
      <p:sp>
        <p:nvSpPr>
          <p:cNvPr id="3" name="내용 개체 틀 2"/>
          <p:cNvSpPr>
            <a:spLocks noGrp="1"/>
          </p:cNvSpPr>
          <p:nvPr>
            <p:ph idx="1"/>
          </p:nvPr>
        </p:nvSpPr>
        <p:spPr/>
        <p:txBody>
          <a:bodyPr>
            <a:normAutofit/>
          </a:bodyPr>
          <a:lstStyle/>
          <a:p>
            <a:pPr>
              <a:buNone/>
            </a:pPr>
            <a:r>
              <a:rPr lang="en-US" altLang="ja-JP" dirty="0"/>
              <a:t>(1)</a:t>
            </a:r>
            <a:r>
              <a:rPr lang="ja-JP" altLang="en-US" dirty="0">
                <a:solidFill>
                  <a:srgbClr val="0070C0"/>
                </a:solidFill>
              </a:rPr>
              <a:t>書く前に</a:t>
            </a:r>
            <a:r>
              <a:rPr lang="ja-JP" altLang="en-US" dirty="0"/>
              <a:t>、何をどのように書くかについて大体の</a:t>
            </a:r>
            <a:r>
              <a:rPr lang="ja-JP" altLang="en-US" dirty="0">
                <a:solidFill>
                  <a:srgbClr val="0070C0"/>
                </a:solidFill>
              </a:rPr>
              <a:t>アウトラインを用意</a:t>
            </a:r>
            <a:r>
              <a:rPr lang="ja-JP" altLang="en-US" dirty="0"/>
              <a:t>する。</a:t>
            </a:r>
            <a:endParaRPr lang="en-US" altLang="ja-JP" dirty="0"/>
          </a:p>
          <a:p>
            <a:pPr>
              <a:buNone/>
            </a:pPr>
            <a:endParaRPr lang="en-US" altLang="ja-JP" dirty="0"/>
          </a:p>
          <a:p>
            <a:r>
              <a:rPr lang="ja-JP" altLang="en-US" dirty="0">
                <a:solidFill>
                  <a:srgbClr val="0070C0"/>
                </a:solidFill>
              </a:rPr>
              <a:t>書き始めてからも</a:t>
            </a:r>
            <a:r>
              <a:rPr lang="ja-JP" altLang="en-US" dirty="0"/>
              <a:t>書く内容をよく吟味し新しい考えが生まれたらその都度ためらわずに前に書いた</a:t>
            </a:r>
            <a:r>
              <a:rPr lang="ja-JP" altLang="en-US" dirty="0">
                <a:solidFill>
                  <a:srgbClr val="0070C0"/>
                </a:solidFill>
              </a:rPr>
              <a:t>アウトラインを変更</a:t>
            </a:r>
            <a:r>
              <a:rPr lang="ja-JP" altLang="en-US" dirty="0"/>
              <a:t>する。</a:t>
            </a:r>
            <a:endParaRPr lang="en-US" altLang="ja-JP" dirty="0"/>
          </a:p>
          <a:p>
            <a:endParaRPr lang="en-US" altLang="ko-K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a:buNone/>
            </a:pPr>
            <a:r>
              <a:rPr lang="en-US" altLang="ja-JP" dirty="0"/>
              <a:t>(2)</a:t>
            </a:r>
            <a:r>
              <a:rPr lang="ja-JP" altLang="en-US" dirty="0"/>
              <a:t>一旦</a:t>
            </a:r>
            <a:r>
              <a:rPr lang="ja-JP" altLang="en-US" dirty="0">
                <a:solidFill>
                  <a:srgbClr val="0070C0"/>
                </a:solidFill>
              </a:rPr>
              <a:t>書き終えた原稿であっても</a:t>
            </a:r>
            <a:r>
              <a:rPr lang="ja-JP" altLang="en-US" dirty="0"/>
              <a:t>、それが内容的に満足いくものであるかどうかをよく検討し、何度でも</a:t>
            </a:r>
            <a:r>
              <a:rPr lang="ja-JP" altLang="en-US" dirty="0">
                <a:solidFill>
                  <a:srgbClr val="0070C0"/>
                </a:solidFill>
              </a:rPr>
              <a:t>書き直す心構えを持つことが大切</a:t>
            </a:r>
            <a:endParaRPr lang="en-US" altLang="ja-JP" dirty="0">
              <a:solidFill>
                <a:srgbClr val="0070C0"/>
              </a:solidFill>
            </a:endParaRPr>
          </a:p>
          <a:p>
            <a:pPr>
              <a:buNone/>
            </a:pPr>
            <a:endParaRPr lang="ko-KR" altLang="en-US" dirty="0"/>
          </a:p>
          <a:p>
            <a:r>
              <a:rPr lang="ja-JP" altLang="en-US" dirty="0">
                <a:solidFill>
                  <a:srgbClr val="0070C0"/>
                </a:solidFill>
              </a:rPr>
              <a:t>内容的に問題がないと判断</a:t>
            </a:r>
            <a:r>
              <a:rPr lang="ja-JP" altLang="en-US" dirty="0"/>
              <a:t>し、最終原稿であると思えた時に初めて、</a:t>
            </a:r>
            <a:r>
              <a:rPr lang="ja-JP" altLang="en-US" dirty="0">
                <a:solidFill>
                  <a:srgbClr val="0070C0"/>
                </a:solidFill>
              </a:rPr>
              <a:t>字句や言い回し、文法などの訂正を始める</a:t>
            </a:r>
            <a:r>
              <a:rPr lang="ja-JP" altLang="en-US" dirty="0"/>
              <a:t>。</a:t>
            </a:r>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en-US" altLang="ja-JP" dirty="0"/>
              <a:t>(3)</a:t>
            </a:r>
            <a:r>
              <a:rPr lang="ja-JP" altLang="en-US" dirty="0">
                <a:solidFill>
                  <a:srgbClr val="0070C0"/>
                </a:solidFill>
              </a:rPr>
              <a:t>一気に書き進むのでなく</a:t>
            </a:r>
            <a:r>
              <a:rPr lang="ja-JP" altLang="en-US" dirty="0"/>
              <a:t>、途中で</a:t>
            </a:r>
            <a:r>
              <a:rPr lang="ja-JP" altLang="en-US" dirty="0">
                <a:solidFill>
                  <a:srgbClr val="0070C0"/>
                </a:solidFill>
              </a:rPr>
              <a:t>何度も止まり、それまで書いているものを読み直し</a:t>
            </a:r>
            <a:r>
              <a:rPr lang="ja-JP" altLang="en-US" dirty="0"/>
              <a:t>、全体が</a:t>
            </a:r>
            <a:r>
              <a:rPr lang="ja-JP" altLang="en-US" dirty="0">
                <a:solidFill>
                  <a:srgbClr val="0070C0"/>
                </a:solidFill>
              </a:rPr>
              <a:t>首尾一貫</a:t>
            </a:r>
            <a:r>
              <a:rPr lang="ja-JP" altLang="en-US" dirty="0"/>
              <a:t>しているかどうか</a:t>
            </a:r>
            <a:r>
              <a:rPr lang="ja-JP" altLang="en-US" dirty="0">
                <a:solidFill>
                  <a:srgbClr val="0070C0"/>
                </a:solidFill>
              </a:rPr>
              <a:t>検討</a:t>
            </a:r>
            <a:r>
              <a:rPr lang="ja-JP" altLang="en-US" dirty="0"/>
              <a:t>する。</a:t>
            </a:r>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授業の１コマ</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与えられたトピック</a:t>
            </a:r>
            <a:r>
              <a:rPr lang="ja-JP" altLang="en-US" dirty="0"/>
              <a:t>について</a:t>
            </a:r>
            <a:r>
              <a:rPr lang="ja-JP" altLang="en-US" dirty="0">
                <a:solidFill>
                  <a:srgbClr val="0070C0"/>
                </a:solidFill>
              </a:rPr>
              <a:t>プランを立て</a:t>
            </a:r>
            <a:r>
              <a:rPr lang="ja-JP" altLang="en-US" dirty="0"/>
              <a:t>、それにしたがって</a:t>
            </a:r>
            <a:r>
              <a:rPr lang="ja-JP" altLang="en-US" dirty="0">
                <a:solidFill>
                  <a:srgbClr val="0070C0"/>
                </a:solidFill>
              </a:rPr>
              <a:t>書き進め</a:t>
            </a:r>
            <a:r>
              <a:rPr lang="ja-JP" altLang="en-US" dirty="0"/>
              <a:t>、最後に</a:t>
            </a:r>
            <a:r>
              <a:rPr lang="ja-JP" altLang="en-US" dirty="0">
                <a:solidFill>
                  <a:srgbClr val="0070C0"/>
                </a:solidFill>
              </a:rPr>
              <a:t>字句や言い回し、文法をチェック</a:t>
            </a:r>
            <a:r>
              <a:rPr lang="ja-JP" altLang="en-US" dirty="0"/>
              <a:t>して終わりという作文しか実際には期待できない。</a:t>
            </a:r>
            <a:endParaRPr lang="en-US" altLang="ja-JP" dirty="0"/>
          </a:p>
          <a:p>
            <a:endParaRPr lang="en-US" altLang="ko-KR" dirty="0"/>
          </a:p>
          <a:p>
            <a:r>
              <a:rPr lang="ja-JP" altLang="en-US" dirty="0"/>
              <a:t>⇔</a:t>
            </a:r>
            <a:r>
              <a:rPr lang="ja-JP" altLang="en-US" dirty="0">
                <a:solidFill>
                  <a:srgbClr val="0070C0"/>
                </a:solidFill>
              </a:rPr>
              <a:t>未熟な書き手</a:t>
            </a:r>
            <a:r>
              <a:rPr lang="ja-JP" altLang="en-US" dirty="0"/>
              <a:t>に特徴的なもの</a:t>
            </a:r>
            <a:endParaRPr lang="ko-KR"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改善</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一般的には</a:t>
            </a:r>
            <a:r>
              <a:rPr lang="ja-JP" altLang="en-US" dirty="0">
                <a:solidFill>
                  <a:srgbClr val="0070C0"/>
                </a:solidFill>
              </a:rPr>
              <a:t>学習者の生活や考え方に関連</a:t>
            </a:r>
            <a:r>
              <a:rPr lang="ja-JP" altLang="en-US" dirty="0"/>
              <a:t>があり、</a:t>
            </a:r>
            <a:r>
              <a:rPr lang="ja-JP" altLang="en-US" dirty="0">
                <a:solidFill>
                  <a:srgbClr val="0070C0"/>
                </a:solidFill>
              </a:rPr>
              <a:t>興味や関心もあるトピック</a:t>
            </a:r>
            <a:r>
              <a:rPr lang="ja-JP" altLang="en-US" dirty="0"/>
              <a:t>に絞り、</a:t>
            </a:r>
            <a:r>
              <a:rPr lang="ja-JP" altLang="en-US" dirty="0">
                <a:solidFill>
                  <a:srgbClr val="0070C0"/>
                </a:solidFill>
              </a:rPr>
              <a:t>充分な時間を</a:t>
            </a:r>
            <a:r>
              <a:rPr lang="ja-JP" altLang="en-US" dirty="0"/>
              <a:t>かけて書くことを通して、</a:t>
            </a:r>
            <a:r>
              <a:rPr lang="ja-JP" altLang="en-US" dirty="0">
                <a:solidFill>
                  <a:srgbClr val="0070C0"/>
                </a:solidFill>
              </a:rPr>
              <a:t>書きたい内容を考え吟味</a:t>
            </a:r>
            <a:r>
              <a:rPr lang="ja-JP" altLang="en-US" dirty="0"/>
              <a:t>し、同時に</a:t>
            </a:r>
            <a:r>
              <a:rPr lang="ja-JP" altLang="en-US" dirty="0">
                <a:solidFill>
                  <a:srgbClr val="0070C0"/>
                </a:solidFill>
              </a:rPr>
              <a:t>何度も書き直す機会</a:t>
            </a:r>
            <a:r>
              <a:rPr lang="ja-JP" altLang="en-US" dirty="0"/>
              <a:t>を持つことが最低必要である。</a:t>
            </a:r>
            <a:endParaRPr lang="ko-KR"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初級者を対象とする作文指導</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solidFill>
                  <a:srgbClr val="0070C0"/>
                </a:solidFill>
              </a:rPr>
              <a:t>書くタスクを工夫</a:t>
            </a:r>
            <a:r>
              <a:rPr lang="ja-JP" altLang="en-US" dirty="0"/>
              <a:t>する</a:t>
            </a:r>
            <a:endParaRPr lang="en-US" altLang="ja-JP" dirty="0"/>
          </a:p>
          <a:p>
            <a:pPr>
              <a:buNone/>
            </a:pPr>
            <a:r>
              <a:rPr lang="en-US" altLang="ja-JP" dirty="0"/>
              <a:t>--</a:t>
            </a:r>
            <a:r>
              <a:rPr lang="ja-JP" altLang="en-US" dirty="0">
                <a:solidFill>
                  <a:srgbClr val="0070C0"/>
                </a:solidFill>
              </a:rPr>
              <a:t>簡単なノート</a:t>
            </a:r>
            <a:r>
              <a:rPr lang="ja-JP" altLang="en-US" dirty="0"/>
              <a:t>を取ったり、</a:t>
            </a:r>
            <a:r>
              <a:rPr lang="ja-JP" altLang="en-US" dirty="0">
                <a:solidFill>
                  <a:srgbClr val="0070C0"/>
                </a:solidFill>
              </a:rPr>
              <a:t>メモ</a:t>
            </a:r>
            <a:r>
              <a:rPr lang="ja-JP" altLang="en-US" dirty="0"/>
              <a:t>を書いたり、</a:t>
            </a:r>
            <a:r>
              <a:rPr lang="ja-JP" altLang="en-US" dirty="0">
                <a:solidFill>
                  <a:srgbClr val="0070C0"/>
                </a:solidFill>
              </a:rPr>
              <a:t>メッセージ</a:t>
            </a:r>
            <a:r>
              <a:rPr lang="ja-JP" altLang="en-US" dirty="0"/>
              <a:t>を残したりすることは、そんなに</a:t>
            </a:r>
            <a:r>
              <a:rPr lang="ja-JP" altLang="en-US" dirty="0">
                <a:solidFill>
                  <a:srgbClr val="0070C0"/>
                </a:solidFill>
              </a:rPr>
              <a:t>高度な文法能力や語彙力がなくても可能</a:t>
            </a:r>
            <a:r>
              <a:rPr lang="ja-JP" altLang="en-US" dirty="0"/>
              <a:t>。</a:t>
            </a:r>
            <a:endParaRPr lang="en-US" altLang="ja-JP" dirty="0"/>
          </a:p>
          <a:p>
            <a:r>
              <a:rPr lang="ja-JP" altLang="en-US" dirty="0">
                <a:solidFill>
                  <a:srgbClr val="0070C0"/>
                </a:solidFill>
              </a:rPr>
              <a:t>ペアやグループワーク</a:t>
            </a:r>
            <a:r>
              <a:rPr lang="ja-JP" altLang="en-US" dirty="0"/>
              <a:t>の形態で</a:t>
            </a:r>
            <a:r>
              <a:rPr lang="ja-JP" altLang="en-US" dirty="0">
                <a:solidFill>
                  <a:srgbClr val="0070C0"/>
                </a:solidFill>
              </a:rPr>
              <a:t>書く前に予備的な活動</a:t>
            </a:r>
            <a:r>
              <a:rPr lang="ja-JP" altLang="en-US" dirty="0"/>
              <a:t>を入れることによって、実際の作文に必要とされる</a:t>
            </a:r>
            <a:r>
              <a:rPr lang="ja-JP" altLang="en-US" dirty="0">
                <a:solidFill>
                  <a:srgbClr val="0070C0"/>
                </a:solidFill>
              </a:rPr>
              <a:t>文型や語彙を補充</a:t>
            </a:r>
            <a:r>
              <a:rPr lang="ja-JP" altLang="en-US" dirty="0"/>
              <a:t>したり、また</a:t>
            </a:r>
            <a:r>
              <a:rPr lang="ja-JP" altLang="en-US" dirty="0">
                <a:solidFill>
                  <a:srgbClr val="0070C0"/>
                </a:solidFill>
              </a:rPr>
              <a:t>書く内容についてアイディア</a:t>
            </a:r>
            <a:r>
              <a:rPr lang="ja-JP" altLang="en-US" dirty="0"/>
              <a:t>を得たり、</a:t>
            </a:r>
            <a:r>
              <a:rPr lang="ja-JP" altLang="en-US" dirty="0">
                <a:solidFill>
                  <a:srgbClr val="0070C0"/>
                </a:solidFill>
              </a:rPr>
              <a:t>練ったり</a:t>
            </a:r>
            <a:r>
              <a:rPr lang="ja-JP" altLang="en-US" dirty="0"/>
              <a:t>することもできる。</a:t>
            </a:r>
            <a:endParaRPr lang="ko-KR"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つまり、</a:t>
            </a:r>
            <a:r>
              <a:rPr lang="ja-JP" altLang="en-US" dirty="0">
                <a:solidFill>
                  <a:srgbClr val="0070C0"/>
                </a:solidFill>
              </a:rPr>
              <a:t>書く</a:t>
            </a:r>
            <a:r>
              <a:rPr lang="ja-JP" altLang="en-US" dirty="0"/>
              <a:t>ということを、</a:t>
            </a:r>
            <a:r>
              <a:rPr lang="ja-JP" altLang="en-US" dirty="0">
                <a:solidFill>
                  <a:srgbClr val="0070C0"/>
                </a:solidFill>
              </a:rPr>
              <a:t>文法のおさらいや文法学習という性格から解放</a:t>
            </a:r>
            <a:r>
              <a:rPr lang="ja-JP" altLang="en-US" dirty="0"/>
              <a:t>すること。</a:t>
            </a:r>
            <a:endParaRPr lang="en-US" altLang="ja-JP" dirty="0"/>
          </a:p>
          <a:p>
            <a:r>
              <a:rPr lang="ja-JP" altLang="en-US" dirty="0"/>
              <a:t>言い換えれば、</a:t>
            </a:r>
            <a:r>
              <a:rPr lang="ja-JP" altLang="en-US" dirty="0">
                <a:solidFill>
                  <a:srgbClr val="0070C0"/>
                </a:solidFill>
              </a:rPr>
              <a:t>あるトピックの下でまとまりのある文章を書くこと</a:t>
            </a:r>
            <a:r>
              <a:rPr lang="ja-JP" altLang="en-US" dirty="0"/>
              <a:t>と</a:t>
            </a:r>
            <a:r>
              <a:rPr lang="ja-JP" altLang="en-US" strike="sngStrike" dirty="0"/>
              <a:t>文法の復習</a:t>
            </a:r>
            <a:r>
              <a:rPr lang="ja-JP" altLang="en-US" dirty="0"/>
              <a:t>を同じだと考えることをやめることである。</a:t>
            </a:r>
            <a:endParaRPr lang="en-US" altLang="ja-JP" dirty="0"/>
          </a:p>
          <a:p>
            <a:endParaRPr lang="en-US" altLang="ja-JP" dirty="0"/>
          </a:p>
          <a:p>
            <a:r>
              <a:rPr lang="ja-JP" altLang="en-US" dirty="0">
                <a:solidFill>
                  <a:srgbClr val="0070C0"/>
                </a:solidFill>
              </a:rPr>
              <a:t>学習者が日常生活でどのような書き行動</a:t>
            </a:r>
            <a:r>
              <a:rPr lang="ja-JP" altLang="en-US" dirty="0"/>
              <a:t>をしているかを観察し、それに</a:t>
            </a:r>
            <a:r>
              <a:rPr lang="ja-JP" altLang="en-US" dirty="0">
                <a:solidFill>
                  <a:srgbClr val="0070C0"/>
                </a:solidFill>
              </a:rPr>
              <a:t>役立つようなタスク</a:t>
            </a:r>
            <a:r>
              <a:rPr lang="ja-JP" altLang="en-US" dirty="0"/>
              <a:t>を考えること。</a:t>
            </a:r>
            <a:endParaRPr lang="ko-KR"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母語で案を練ったりプランを立てたりして充分考えた上で、それらを日本語に翻訳する形で作文をすることについてどう考えますか。</a:t>
            </a:r>
            <a:endParaRPr lang="ko-KR"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答え</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t>作文のトピック</a:t>
            </a:r>
            <a:endParaRPr lang="en-US" altLang="ja-JP" dirty="0"/>
          </a:p>
          <a:p>
            <a:endParaRPr lang="en-US" altLang="ko-KR" dirty="0"/>
          </a:p>
          <a:p>
            <a:pPr>
              <a:buNone/>
            </a:pPr>
            <a:r>
              <a:rPr lang="en-US" altLang="ja-JP" dirty="0"/>
              <a:t>(</a:t>
            </a:r>
            <a:r>
              <a:rPr lang="ja-JP" altLang="en-US" dirty="0"/>
              <a:t>１</a:t>
            </a:r>
            <a:r>
              <a:rPr lang="en-US" altLang="ja-JP" dirty="0"/>
              <a:t>)</a:t>
            </a:r>
            <a:r>
              <a:rPr lang="ja-JP" altLang="en-US" dirty="0">
                <a:solidFill>
                  <a:srgbClr val="0070C0"/>
                </a:solidFill>
              </a:rPr>
              <a:t>直接第二言語</a:t>
            </a:r>
            <a:r>
              <a:rPr lang="ja-JP" altLang="en-US" dirty="0"/>
              <a:t>で書かせるのであれば、</a:t>
            </a:r>
            <a:r>
              <a:rPr lang="ja-JP" altLang="en-US" dirty="0">
                <a:solidFill>
                  <a:srgbClr val="0070C0"/>
                </a:solidFill>
              </a:rPr>
              <a:t>第二言語の使用環境で獲得した知識</a:t>
            </a:r>
            <a:r>
              <a:rPr lang="ja-JP" altLang="en-US" dirty="0"/>
              <a:t>などが</a:t>
            </a:r>
            <a:r>
              <a:rPr lang="ja-JP" altLang="en-US" dirty="0">
                <a:solidFill>
                  <a:srgbClr val="0070C0"/>
                </a:solidFill>
              </a:rPr>
              <a:t>主体</a:t>
            </a:r>
            <a:r>
              <a:rPr lang="ja-JP" altLang="en-US" dirty="0"/>
              <a:t>となるものを選定することが重要</a:t>
            </a:r>
            <a:endParaRPr lang="en-US" altLang="ja-JP" dirty="0"/>
          </a:p>
          <a:p>
            <a:pPr>
              <a:buNone/>
            </a:pPr>
            <a:r>
              <a:rPr lang="en-US" altLang="ja-JP" dirty="0"/>
              <a:t>(</a:t>
            </a:r>
            <a:r>
              <a:rPr lang="ja-JP" altLang="en-US" dirty="0"/>
              <a:t>２</a:t>
            </a:r>
            <a:r>
              <a:rPr lang="en-US" altLang="ja-JP" dirty="0"/>
              <a:t>)</a:t>
            </a:r>
            <a:r>
              <a:rPr lang="ja-JP" altLang="en-US" dirty="0">
                <a:solidFill>
                  <a:srgbClr val="0070C0"/>
                </a:solidFill>
              </a:rPr>
              <a:t>第一言語を使用して獲得した知識</a:t>
            </a:r>
            <a:r>
              <a:rPr lang="ja-JP" altLang="en-US" dirty="0"/>
              <a:t>が主体となるトピックについて作文するときは、翻訳も含めて学習者の</a:t>
            </a:r>
            <a:r>
              <a:rPr lang="ja-JP" altLang="en-US" dirty="0">
                <a:solidFill>
                  <a:srgbClr val="0070C0"/>
                </a:solidFill>
              </a:rPr>
              <a:t>第一言語を活用</a:t>
            </a:r>
            <a:r>
              <a:rPr lang="ja-JP" altLang="en-US" dirty="0"/>
              <a:t>することを奨励する。</a:t>
            </a:r>
            <a:endParaRPr lang="ko-KR"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中上級を対象とする作文指導</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自分の表現したいことに関わって書かれているものを集中して</a:t>
            </a:r>
            <a:r>
              <a:rPr lang="ja-JP" altLang="en-US" dirty="0">
                <a:solidFill>
                  <a:srgbClr val="0070C0"/>
                </a:solidFill>
              </a:rPr>
              <a:t>読むことが書くベース</a:t>
            </a:r>
            <a:r>
              <a:rPr lang="ja-JP" altLang="en-US" dirty="0"/>
              <a:t>を作る。</a:t>
            </a:r>
            <a:endParaRPr lang="en-US" altLang="ja-JP" dirty="0"/>
          </a:p>
          <a:p>
            <a:endParaRPr lang="en-US" altLang="ko-KR" dirty="0"/>
          </a:p>
          <a:p>
            <a:r>
              <a:rPr lang="ja-JP" altLang="en-US" dirty="0">
                <a:solidFill>
                  <a:srgbClr val="0070C0"/>
                </a:solidFill>
              </a:rPr>
              <a:t>最初の下書き</a:t>
            </a:r>
            <a:r>
              <a:rPr lang="ja-JP" altLang="en-US" dirty="0"/>
              <a:t>においては、個々の文法や語彙などの正確さや適切さより、</a:t>
            </a:r>
            <a:r>
              <a:rPr lang="ja-JP" altLang="en-US" dirty="0">
                <a:solidFill>
                  <a:srgbClr val="0070C0"/>
                </a:solidFill>
              </a:rPr>
              <a:t>自分のアイディアをいかにふくらまして、より説得的に論理を組み立てるか</a:t>
            </a:r>
            <a:r>
              <a:rPr lang="ja-JP" altLang="en-US" dirty="0"/>
              <a:t>に注意を払う。</a:t>
            </a:r>
            <a:endParaRPr lang="ko-KR"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作文のフィードバック</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教師添削：文法などの言語の形式面</a:t>
            </a:r>
            <a:endParaRPr lang="en-US" altLang="ja-JP" dirty="0"/>
          </a:p>
          <a:p>
            <a:r>
              <a:rPr lang="ja-JP" altLang="en-US" dirty="0"/>
              <a:t>ピアレスポンス：内容面に改善</a:t>
            </a:r>
            <a:endParaRPr lang="en-US" altLang="ja-JP" dirty="0"/>
          </a:p>
          <a:p>
            <a:endParaRPr lang="en-US" altLang="ja-JP" dirty="0"/>
          </a:p>
          <a:p>
            <a:r>
              <a:rPr lang="ja-JP" altLang="en-US" dirty="0"/>
              <a:t>ピアレスポンスとは、書いた作文をめぐって、お互いにいいと思うところ、分からないところ、こうした方がいいと思うところなどを</a:t>
            </a:r>
            <a:r>
              <a:rPr lang="ja-JP" altLang="en-US" dirty="0">
                <a:solidFill>
                  <a:srgbClr val="0070C0"/>
                </a:solidFill>
              </a:rPr>
              <a:t>グループまたはペアで出し合い</a:t>
            </a:r>
            <a:r>
              <a:rPr lang="ja-JP" altLang="en-US" dirty="0"/>
              <a:t>、</a:t>
            </a:r>
            <a:r>
              <a:rPr lang="ja-JP" altLang="en-US" dirty="0">
                <a:solidFill>
                  <a:srgbClr val="0070C0"/>
                </a:solidFill>
              </a:rPr>
              <a:t>作文の推敲に役立てようというフィードバック</a:t>
            </a:r>
            <a:endParaRPr lang="en-US" altLang="ja-JP" dirty="0">
              <a:solidFill>
                <a:srgbClr val="0070C0"/>
              </a:solidFill>
            </a:endParaRPr>
          </a:p>
          <a:p>
            <a:endParaRPr lang="en-US" altLang="ko-K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ピアレスポンスの長所</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他人の目で自分の書いたものを見直すことができるので、誰に向かって書いているのか、</a:t>
            </a:r>
            <a:r>
              <a:rPr lang="ja-JP" altLang="en-US" dirty="0">
                <a:solidFill>
                  <a:srgbClr val="0070C0"/>
                </a:solidFill>
              </a:rPr>
              <a:t>読み手を意識する</a:t>
            </a:r>
            <a:r>
              <a:rPr lang="ja-JP" altLang="en-US" dirty="0"/>
              <a:t>ことができるようになる。</a:t>
            </a:r>
            <a:endParaRPr lang="en-US" altLang="ja-JP" dirty="0"/>
          </a:p>
          <a:p>
            <a:endParaRPr lang="en-US" altLang="ja-JP" dirty="0"/>
          </a:p>
          <a:p>
            <a:r>
              <a:rPr lang="ja-JP" altLang="en-US" dirty="0"/>
              <a:t>仲間に説明することで、</a:t>
            </a:r>
            <a:r>
              <a:rPr lang="ja-JP" altLang="en-US" dirty="0">
                <a:solidFill>
                  <a:srgbClr val="0070C0"/>
                </a:solidFill>
              </a:rPr>
              <a:t>自分の考えをさらに深める</a:t>
            </a:r>
            <a:r>
              <a:rPr lang="ja-JP" altLang="en-US" dirty="0"/>
              <a:t>ことができる。</a:t>
            </a:r>
            <a:endParaRPr lang="en-US" altLang="ja-JP" dirty="0"/>
          </a:p>
          <a:p>
            <a:endParaRPr lang="en-US" altLang="ja-JP" dirty="0"/>
          </a:p>
          <a:p>
            <a:r>
              <a:rPr lang="ja-JP" altLang="en-US" dirty="0">
                <a:solidFill>
                  <a:srgbClr val="0070C0"/>
                </a:solidFill>
              </a:rPr>
              <a:t>話す活動</a:t>
            </a:r>
            <a:r>
              <a:rPr lang="ja-JP" altLang="en-US" dirty="0"/>
              <a:t>と</a:t>
            </a:r>
            <a:r>
              <a:rPr lang="ja-JP" altLang="en-US" dirty="0">
                <a:solidFill>
                  <a:srgbClr val="0070C0"/>
                </a:solidFill>
              </a:rPr>
              <a:t>書く活動を統合</a:t>
            </a:r>
            <a:r>
              <a:rPr lang="ja-JP" altLang="en-US" dirty="0"/>
              <a:t>することができる。</a:t>
            </a:r>
            <a:endParaRPr lang="ko-KR"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作文のフィードバック</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教師</a:t>
            </a:r>
            <a:r>
              <a:rPr lang="ja-JP" altLang="en-US" dirty="0"/>
              <a:t>ができることと、</a:t>
            </a:r>
            <a:r>
              <a:rPr lang="ja-JP" altLang="en-US" dirty="0">
                <a:solidFill>
                  <a:srgbClr val="0070C0"/>
                </a:solidFill>
              </a:rPr>
              <a:t>学習者</a:t>
            </a:r>
            <a:r>
              <a:rPr lang="en-US" altLang="ja-JP" dirty="0"/>
              <a:t>(</a:t>
            </a:r>
            <a:r>
              <a:rPr lang="ja-JP" altLang="en-US" dirty="0"/>
              <a:t>あるいは仲間同士）ができることがあり、それらを</a:t>
            </a:r>
            <a:r>
              <a:rPr lang="ja-JP" altLang="en-US" dirty="0">
                <a:solidFill>
                  <a:srgbClr val="0070C0"/>
                </a:solidFill>
              </a:rPr>
              <a:t>組み合わせ</a:t>
            </a:r>
            <a:r>
              <a:rPr lang="ja-JP" altLang="en-US" dirty="0"/>
              <a:t>ることが大切。</a:t>
            </a:r>
            <a:endParaRPr lang="ko-KR" altLang="en-US" dirty="0"/>
          </a:p>
          <a:p>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625</TotalTime>
  <Words>2142</Words>
  <Application>Microsoft Office PowerPoint</Application>
  <PresentationFormat>화면 슬라이드 쇼(4:3)</PresentationFormat>
  <Paragraphs>141</Paragraphs>
  <Slides>32</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32</vt:i4>
      </vt:variant>
    </vt:vector>
  </HeadingPairs>
  <TitlesOfParts>
    <vt:vector size="35" baseType="lpstr">
      <vt:lpstr>Arial</vt:lpstr>
      <vt:lpstr>맑은 고딕</vt:lpstr>
      <vt:lpstr>Office 테마</vt:lpstr>
      <vt:lpstr>書くこと: 作文</vt:lpstr>
      <vt:lpstr>作文教育と言語教育</vt:lpstr>
      <vt:lpstr>第２言語教育における作文技能</vt:lpstr>
      <vt:lpstr>PowerPoint 프레젠테이션</vt:lpstr>
      <vt:lpstr>考えてみましょう！</vt:lpstr>
      <vt:lpstr>熟達した書き手と未熟な書き手の特徴</vt:lpstr>
      <vt:lpstr>読む量の違い</vt:lpstr>
      <vt:lpstr>PowerPoint 프레젠테이션</vt:lpstr>
      <vt:lpstr>考えてみましょう</vt:lpstr>
      <vt:lpstr>Eメール１</vt:lpstr>
      <vt:lpstr>PowerPoint 프레젠테이션</vt:lpstr>
      <vt:lpstr>Eメール２</vt:lpstr>
      <vt:lpstr>PowerPoint 프레젠테이션</vt:lpstr>
      <vt:lpstr>作文ストラテジー</vt:lpstr>
      <vt:lpstr>PowerPoint 프레젠테이션</vt:lpstr>
      <vt:lpstr>PowerPoint 프레젠테이션</vt:lpstr>
      <vt:lpstr>PowerPoint 프레젠테이션</vt:lpstr>
      <vt:lpstr>PowerPoint 프레젠테이션</vt:lpstr>
      <vt:lpstr>書くことをどう教えるか</vt:lpstr>
      <vt:lpstr>熟達した書き手になるためには</vt:lpstr>
      <vt:lpstr>PowerPoint 프레젠테이션</vt:lpstr>
      <vt:lpstr>PowerPoint 프레젠테이션</vt:lpstr>
      <vt:lpstr>授業の１コマ</vt:lpstr>
      <vt:lpstr>改善</vt:lpstr>
      <vt:lpstr>初級者を対象とする作文指導</vt:lpstr>
      <vt:lpstr>PowerPoint 프레젠테이션</vt:lpstr>
      <vt:lpstr>考えてみましょう！</vt:lpstr>
      <vt:lpstr>答え</vt:lpstr>
      <vt:lpstr>中上級を対象とする作文指導</vt:lpstr>
      <vt:lpstr>作文のフィードバック</vt:lpstr>
      <vt:lpstr>ピアレスポンスの長所</vt:lpstr>
      <vt:lpstr>作文のフィードバック</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書くことー作文ー</dc:title>
  <dc:creator>SEC</dc:creator>
  <cp:lastModifiedBy>영남 조</cp:lastModifiedBy>
  <cp:revision>100</cp:revision>
  <cp:lastPrinted>2023-10-04T04:46:42Z</cp:lastPrinted>
  <dcterms:created xsi:type="dcterms:W3CDTF">2009-12-05T05:59:47Z</dcterms:created>
  <dcterms:modified xsi:type="dcterms:W3CDTF">2024-12-01T09:30:23Z</dcterms:modified>
</cp:coreProperties>
</file>