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348" r:id="rId3"/>
    <p:sldId id="349" r:id="rId4"/>
    <p:sldId id="350" r:id="rId5"/>
    <p:sldId id="322" r:id="rId6"/>
    <p:sldId id="326" r:id="rId7"/>
    <p:sldId id="327" r:id="rId8"/>
    <p:sldId id="323" r:id="rId9"/>
    <p:sldId id="328" r:id="rId10"/>
    <p:sldId id="329" r:id="rId11"/>
    <p:sldId id="324" r:id="rId12"/>
    <p:sldId id="325" r:id="rId13"/>
    <p:sldId id="338" r:id="rId14"/>
    <p:sldId id="330" r:id="rId15"/>
    <p:sldId id="331" r:id="rId16"/>
    <p:sldId id="332" r:id="rId17"/>
    <p:sldId id="333" r:id="rId18"/>
    <p:sldId id="337" r:id="rId19"/>
    <p:sldId id="339" r:id="rId20"/>
    <p:sldId id="340" r:id="rId21"/>
    <p:sldId id="344" r:id="rId22"/>
    <p:sldId id="341" r:id="rId23"/>
    <p:sldId id="342" r:id="rId24"/>
    <p:sldId id="343" r:id="rId25"/>
    <p:sldId id="345" r:id="rId26"/>
    <p:sldId id="346" r:id="rId27"/>
    <p:sldId id="347" r:id="rId28"/>
  </p:sldIdLst>
  <p:sldSz cx="9144000" cy="6858000" type="screen4x3"/>
  <p:notesSz cx="6805613"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autoAdjust="0"/>
    <p:restoredTop sz="86414" autoAdjust="0"/>
  </p:normalViewPr>
  <p:slideViewPr>
    <p:cSldViewPr>
      <p:cViewPr varScale="1">
        <p:scale>
          <a:sx n="72" d="100"/>
          <a:sy n="72" d="100"/>
        </p:scale>
        <p:origin x="488" y="48"/>
      </p:cViewPr>
      <p:guideLst>
        <p:guide orient="horz" pos="2160"/>
        <p:guide pos="2880"/>
      </p:guideLst>
    </p:cSldViewPr>
  </p:slideViewPr>
  <p:outlineViewPr>
    <p:cViewPr>
      <p:scale>
        <a:sx n="33" d="100"/>
        <a:sy n="33" d="100"/>
      </p:scale>
      <p:origin x="0" y="2014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4939" y="0"/>
            <a:ext cx="2949099" cy="496967"/>
          </a:xfrm>
          <a:prstGeom prst="rect">
            <a:avLst/>
          </a:prstGeom>
        </p:spPr>
        <p:txBody>
          <a:bodyPr vert="horz" lIns="91440" tIns="45720" rIns="91440" bIns="45720" rtlCol="0"/>
          <a:lstStyle>
            <a:lvl1pPr algn="r">
              <a:defRPr sz="1200"/>
            </a:lvl1pPr>
          </a:lstStyle>
          <a:p>
            <a:fld id="{20EB3314-FDC3-4170-8208-0DFBA5A55FAE}" type="datetimeFigureOut">
              <a:rPr lang="ko-KR" altLang="en-US" smtClean="0"/>
              <a:pPr/>
              <a:t>2025-11-12</a:t>
            </a:fld>
            <a:endParaRPr lang="ko-KR" altLang="en-US"/>
          </a:p>
        </p:txBody>
      </p:sp>
      <p:sp>
        <p:nvSpPr>
          <p:cNvPr id="4" name="바닥글 개체 틀 3"/>
          <p:cNvSpPr>
            <a:spLocks noGrp="1"/>
          </p:cNvSpPr>
          <p:nvPr>
            <p:ph type="ftr" sz="quarter" idx="2"/>
          </p:nvPr>
        </p:nvSpPr>
        <p:spPr>
          <a:xfrm>
            <a:off x="0" y="9440646"/>
            <a:ext cx="2949099" cy="49696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4939" y="9440646"/>
            <a:ext cx="2949099" cy="496967"/>
          </a:xfrm>
          <a:prstGeom prst="rect">
            <a:avLst/>
          </a:prstGeom>
        </p:spPr>
        <p:txBody>
          <a:bodyPr vert="horz" lIns="91440" tIns="45720" rIns="91440" bIns="45720" rtlCol="0" anchor="b"/>
          <a:lstStyle>
            <a:lvl1pPr algn="r">
              <a:defRPr sz="1200"/>
            </a:lvl1pPr>
          </a:lstStyle>
          <a:p>
            <a:fld id="{5A0A69FB-9C27-4AC4-B4AB-FBA119661993}" type="slidenum">
              <a:rPr lang="ko-KR" altLang="en-US" smtClean="0"/>
              <a:pPr/>
              <a:t>‹#›</a:t>
            </a:fld>
            <a:endParaRPr lang="ko-KR" altLang="en-US"/>
          </a:p>
        </p:txBody>
      </p:sp>
    </p:spTree>
    <p:extLst>
      <p:ext uri="{BB962C8B-B14F-4D97-AF65-F5344CB8AC3E}">
        <p14:creationId xmlns:p14="http://schemas.microsoft.com/office/powerpoint/2010/main" val="12766616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6967"/>
          </a:xfrm>
          <a:prstGeom prst="rect">
            <a:avLst/>
          </a:prstGeom>
        </p:spPr>
        <p:txBody>
          <a:bodyPr vert="horz" lIns="91440" tIns="45720" rIns="91440" bIns="45720" rtlCol="0"/>
          <a:lstStyle>
            <a:lvl1pPr algn="r">
              <a:defRPr sz="1200"/>
            </a:lvl1pPr>
          </a:lstStyle>
          <a:p>
            <a:fld id="{E657EDB4-E51F-41B2-B7CC-34C8224D30B5}" type="datetimeFigureOut">
              <a:rPr lang="ko-KR" altLang="en-US" smtClean="0"/>
              <a:pPr/>
              <a:t>2025-11-12</a:t>
            </a:fld>
            <a:endParaRPr lang="ko-KR" altLang="en-US"/>
          </a:p>
        </p:txBody>
      </p:sp>
      <p:sp>
        <p:nvSpPr>
          <p:cNvPr id="4" name="슬라이드 이미지 개체 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21186"/>
            <a:ext cx="5444490" cy="4472702"/>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6"/>
            <a:ext cx="2949099" cy="49696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6"/>
            <a:ext cx="2949099" cy="496967"/>
          </a:xfrm>
          <a:prstGeom prst="rect">
            <a:avLst/>
          </a:prstGeom>
        </p:spPr>
        <p:txBody>
          <a:bodyPr vert="horz" lIns="91440" tIns="45720" rIns="91440" bIns="45720" rtlCol="0" anchor="b"/>
          <a:lstStyle>
            <a:lvl1pPr algn="r">
              <a:defRPr sz="1200"/>
            </a:lvl1pPr>
          </a:lstStyle>
          <a:p>
            <a:fld id="{2A229CD0-B662-4524-ADDA-4BD237975AAB}" type="slidenum">
              <a:rPr lang="ko-KR" altLang="en-US" smtClean="0"/>
              <a:pPr/>
              <a:t>‹#›</a:t>
            </a:fld>
            <a:endParaRPr lang="ko-KR" altLang="en-US"/>
          </a:p>
        </p:txBody>
      </p:sp>
    </p:spTree>
    <p:extLst>
      <p:ext uri="{BB962C8B-B14F-4D97-AF65-F5344CB8AC3E}">
        <p14:creationId xmlns:p14="http://schemas.microsoft.com/office/powerpoint/2010/main" val="106351120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a:t>
            </a:fld>
            <a:endParaRPr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a:t>
            </a:fld>
            <a:endParaRPr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a:t>
            </a:fld>
            <a:endParaRPr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4</a:t>
            </a:fld>
            <a:endParaRPr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5</a:t>
            </a:fld>
            <a:endParaRPr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6</a:t>
            </a:fld>
            <a:endParaRPr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7</a:t>
            </a:fld>
            <a:endParaRPr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8</a:t>
            </a:fld>
            <a:endParaRPr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9</a:t>
            </a:fld>
            <a:endParaRPr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10</a:t>
            </a:fld>
            <a:endParaRPr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11</a:t>
            </a:fld>
            <a:endParaRPr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12</a:t>
            </a:fld>
            <a:endParaRPr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13</a:t>
            </a:fld>
            <a:endParaRPr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14</a:t>
            </a:fld>
            <a:endParaRPr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15</a:t>
            </a:fld>
            <a:endParaRPr lang="ko-KR"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16</a:t>
            </a:fld>
            <a:endParaRPr lang="ko-K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17</a:t>
            </a:fld>
            <a:endParaRPr lang="ko-KR"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18</a:t>
            </a:fld>
            <a:endParaRPr lang="ko-KR"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19</a:t>
            </a:fld>
            <a:endParaRPr lang="ko-KR"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20</a:t>
            </a:fld>
            <a:endParaRPr lang="ko-KR"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21</a:t>
            </a:fld>
            <a:endParaRPr lang="ko-KR"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22</a:t>
            </a:fld>
            <a:endParaRPr lang="ko-KR"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23</a:t>
            </a:fld>
            <a:endParaRPr lang="ko-KR"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24</a:t>
            </a:fld>
            <a:endParaRPr lang="ko-KR"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25</a:t>
            </a:fld>
            <a:endParaRPr lang="ko-KR"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26</a:t>
            </a:fld>
            <a:endParaRPr lang="ko-KR"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27</a:t>
            </a:fld>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53B9A5-DE88-4FE2-AED7-B85778A5E063}"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323528" y="2130425"/>
            <a:ext cx="8352928" cy="1470025"/>
          </a:xfrm>
        </p:spPr>
        <p:txBody>
          <a:bodyPr/>
          <a:lstStyle/>
          <a:p>
            <a:r>
              <a:rPr lang="ja-JP" altLang="en-US" dirty="0">
                <a:solidFill>
                  <a:schemeClr val="tx2">
                    <a:lumMod val="75000"/>
                  </a:schemeClr>
                </a:solidFill>
                <a:latin typeface="+mn-ea"/>
                <a:ea typeface="+mn-ea"/>
              </a:rPr>
              <a:t>理解の過程をめぐる研究と現場への示唆</a:t>
            </a:r>
            <a:endParaRPr lang="ko-KR" altLang="en-US" dirty="0">
              <a:solidFill>
                <a:schemeClr val="tx2">
                  <a:lumMod val="75000"/>
                </a:schemeClr>
              </a:solidFill>
              <a:latin typeface="+mn-ea"/>
              <a:ea typeface="+mn-ea"/>
            </a:endParaRPr>
          </a:p>
        </p:txBody>
      </p:sp>
      <p:sp>
        <p:nvSpPr>
          <p:cNvPr id="3" name="부제목 2"/>
          <p:cNvSpPr>
            <a:spLocks noGrp="1"/>
          </p:cNvSpPr>
          <p:nvPr>
            <p:ph type="subTitle" idx="1"/>
          </p:nvPr>
        </p:nvSpPr>
        <p:spPr/>
        <p:txBody>
          <a:bodyPr>
            <a:normAutofit/>
          </a:bodyPr>
          <a:lstStyle/>
          <a:p>
            <a:r>
              <a:rPr lang="en-US" altLang="ja-JP" sz="4000" dirty="0">
                <a:solidFill>
                  <a:schemeClr val="tx2">
                    <a:lumMod val="75000"/>
                  </a:schemeClr>
                </a:solidFill>
                <a:latin typeface="+mn-ea"/>
              </a:rPr>
              <a:t>-</a:t>
            </a:r>
            <a:r>
              <a:rPr lang="ja-JP" altLang="en-US" sz="4000" dirty="0">
                <a:solidFill>
                  <a:schemeClr val="tx2">
                    <a:lumMod val="75000"/>
                  </a:schemeClr>
                </a:solidFill>
                <a:latin typeface="+mn-ea"/>
              </a:rPr>
              <a:t>読むことを中心に</a:t>
            </a:r>
            <a:r>
              <a:rPr lang="en-US" altLang="ja-JP" sz="4000">
                <a:solidFill>
                  <a:schemeClr val="tx2">
                    <a:lumMod val="75000"/>
                  </a:schemeClr>
                </a:solidFill>
                <a:latin typeface="+mn-ea"/>
              </a:rPr>
              <a:t>(2)-</a:t>
            </a:r>
            <a:endParaRPr lang="ko-KR" altLang="en-US" sz="4000" dirty="0">
              <a:solidFill>
                <a:schemeClr val="tx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dirty="0">
                <a:solidFill>
                  <a:srgbClr val="002060"/>
                </a:solidFill>
              </a:rPr>
              <a:t>禁酒</a:t>
            </a:r>
            <a:r>
              <a:rPr lang="ja-JP" altLang="en-US" sz="3600" dirty="0">
                <a:solidFill>
                  <a:srgbClr val="002060"/>
                </a:solidFill>
              </a:rPr>
              <a:t>（読解内容</a:t>
            </a:r>
            <a:r>
              <a:rPr lang="en-US" altLang="ja-JP" sz="3600" dirty="0">
                <a:solidFill>
                  <a:srgbClr val="002060"/>
                </a:solidFill>
              </a:rPr>
              <a:t>)</a:t>
            </a:r>
            <a:br>
              <a:rPr lang="en-US" altLang="ja-JP" sz="3600" dirty="0">
                <a:solidFill>
                  <a:srgbClr val="002060"/>
                </a:solidFill>
              </a:rPr>
            </a:br>
            <a:r>
              <a:rPr lang="ja-JP" altLang="en-US" sz="2200" dirty="0">
                <a:solidFill>
                  <a:srgbClr val="002060"/>
                </a:solidFill>
              </a:rPr>
              <a:t>産能短期大学日本語教育研究室編（</a:t>
            </a:r>
            <a:r>
              <a:rPr lang="en-US" altLang="ja-JP" sz="2200" dirty="0">
                <a:solidFill>
                  <a:srgbClr val="002060"/>
                </a:solidFill>
              </a:rPr>
              <a:t>1991</a:t>
            </a:r>
            <a:r>
              <a:rPr lang="ja-JP" altLang="en-US" sz="2200" dirty="0">
                <a:solidFill>
                  <a:srgbClr val="002060"/>
                </a:solidFill>
              </a:rPr>
              <a:t>）</a:t>
            </a:r>
            <a:r>
              <a:rPr lang="en-US" altLang="ja-JP" sz="2200" dirty="0">
                <a:solidFill>
                  <a:srgbClr val="002060"/>
                </a:solidFill>
              </a:rPr>
              <a:t>『</a:t>
            </a:r>
            <a:r>
              <a:rPr lang="ja-JP" altLang="en-US" sz="2200" dirty="0">
                <a:solidFill>
                  <a:srgbClr val="002060"/>
                </a:solidFill>
              </a:rPr>
              <a:t>日本語を楽しく読む本・中級</a:t>
            </a:r>
            <a:r>
              <a:rPr lang="en-US" altLang="ja-JP" sz="2200" dirty="0">
                <a:solidFill>
                  <a:srgbClr val="002060"/>
                </a:solidFill>
              </a:rPr>
              <a:t>』</a:t>
            </a:r>
            <a:r>
              <a:rPr lang="ja-JP" altLang="en-US" sz="2200" dirty="0">
                <a:solidFill>
                  <a:srgbClr val="002060"/>
                </a:solidFill>
              </a:rPr>
              <a:t>産能短期大学　国際交流センター</a:t>
            </a:r>
            <a:endParaRPr lang="ko-KR" altLang="en-US" sz="2200" dirty="0">
              <a:solidFill>
                <a:srgbClr val="002060"/>
              </a:solidFill>
            </a:endParaRPr>
          </a:p>
        </p:txBody>
      </p:sp>
      <p:sp>
        <p:nvSpPr>
          <p:cNvPr id="3" name="내용 개체 틀 2"/>
          <p:cNvSpPr>
            <a:spLocks noGrp="1"/>
          </p:cNvSpPr>
          <p:nvPr>
            <p:ph idx="1"/>
          </p:nvPr>
        </p:nvSpPr>
        <p:spPr/>
        <p:txBody>
          <a:bodyPr>
            <a:normAutofit lnSpcReduction="10000"/>
          </a:bodyPr>
          <a:lstStyle/>
          <a:p>
            <a:pPr>
              <a:buNone/>
            </a:pPr>
            <a:r>
              <a:rPr lang="ja-JP" altLang="en-US" dirty="0">
                <a:solidFill>
                  <a:srgbClr val="002060"/>
                </a:solidFill>
              </a:rPr>
              <a:t>ある男が、バーのカウンターにすわった。はじめての男だった。</a:t>
            </a:r>
            <a:endParaRPr lang="en-US" altLang="ja-JP" dirty="0">
              <a:solidFill>
                <a:srgbClr val="002060"/>
              </a:solidFill>
            </a:endParaRPr>
          </a:p>
          <a:p>
            <a:pPr>
              <a:buNone/>
            </a:pPr>
            <a:r>
              <a:rPr lang="ja-JP" altLang="en-US" dirty="0">
                <a:solidFill>
                  <a:srgbClr val="002060"/>
                </a:solidFill>
              </a:rPr>
              <a:t>「何にしましょう」と、バーテンがたずねた。</a:t>
            </a:r>
            <a:endParaRPr lang="en-US" altLang="ja-JP" dirty="0">
              <a:solidFill>
                <a:srgbClr val="002060"/>
              </a:solidFill>
            </a:endParaRPr>
          </a:p>
          <a:p>
            <a:pPr>
              <a:buNone/>
            </a:pPr>
            <a:r>
              <a:rPr lang="ja-JP" altLang="en-US" dirty="0">
                <a:solidFill>
                  <a:srgbClr val="002060"/>
                </a:solidFill>
              </a:rPr>
              <a:t>「ウィスキー、水割りを２杯」</a:t>
            </a:r>
            <a:endParaRPr lang="en-US" altLang="ja-JP" dirty="0">
              <a:solidFill>
                <a:srgbClr val="002060"/>
              </a:solidFill>
            </a:endParaRPr>
          </a:p>
          <a:p>
            <a:pPr>
              <a:buNone/>
            </a:pPr>
            <a:r>
              <a:rPr lang="ja-JP" altLang="en-US" dirty="0">
                <a:solidFill>
                  <a:srgbClr val="002060"/>
                </a:solidFill>
              </a:rPr>
              <a:t>「お連れさまがいっらしゃるんですか」</a:t>
            </a:r>
            <a:endParaRPr lang="en-US" altLang="ja-JP" dirty="0">
              <a:solidFill>
                <a:srgbClr val="002060"/>
              </a:solidFill>
            </a:endParaRPr>
          </a:p>
          <a:p>
            <a:pPr>
              <a:buNone/>
            </a:pPr>
            <a:r>
              <a:rPr lang="ja-JP" altLang="en-US" dirty="0">
                <a:solidFill>
                  <a:srgbClr val="002060"/>
                </a:solidFill>
              </a:rPr>
              <a:t>「いや、ひとりだ」</a:t>
            </a:r>
            <a:endParaRPr lang="en-US" altLang="ja-JP" dirty="0">
              <a:solidFill>
                <a:srgbClr val="002060"/>
              </a:solidFill>
            </a:endParaRPr>
          </a:p>
          <a:p>
            <a:pPr>
              <a:buNone/>
            </a:pPr>
            <a:r>
              <a:rPr lang="ja-JP" altLang="en-US" dirty="0">
                <a:solidFill>
                  <a:srgbClr val="002060"/>
                </a:solidFill>
              </a:rPr>
              <a:t>「では、１杯目をお飲みになったら、すぐに２杯</a:t>
            </a:r>
            <a:endParaRPr lang="en-US" altLang="ja-JP" dirty="0">
              <a:solidFill>
                <a:srgbClr val="002060"/>
              </a:solidFill>
            </a:endParaRPr>
          </a:p>
          <a:p>
            <a:pPr>
              <a:buNone/>
            </a:pPr>
            <a:r>
              <a:rPr lang="ja-JP" altLang="en-US" dirty="0">
                <a:solidFill>
                  <a:srgbClr val="002060"/>
                </a:solidFill>
              </a:rPr>
              <a:t>目をお作りしますよ。」</a:t>
            </a:r>
            <a:endParaRPr lang="ko-KR" altLang="en-US" dirty="0">
              <a:solidFill>
                <a:srgbClr val="002060"/>
              </a:solidFill>
            </a:endParaRPr>
          </a:p>
        </p:txBody>
      </p:sp>
    </p:spTree>
    <p:extLst>
      <p:ext uri="{BB962C8B-B14F-4D97-AF65-F5344CB8AC3E}">
        <p14:creationId xmlns:p14="http://schemas.microsoft.com/office/powerpoint/2010/main" val="2675613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a:buNone/>
            </a:pPr>
            <a:r>
              <a:rPr lang="ja-JP" altLang="en-US" dirty="0">
                <a:solidFill>
                  <a:srgbClr val="002060"/>
                </a:solidFill>
              </a:rPr>
              <a:t>「いや、同時に２杯ほしいんだ」</a:t>
            </a:r>
            <a:endParaRPr lang="en-US" altLang="ja-JP" dirty="0">
              <a:solidFill>
                <a:srgbClr val="002060"/>
              </a:solidFill>
            </a:endParaRPr>
          </a:p>
          <a:p>
            <a:pPr>
              <a:buNone/>
            </a:pPr>
            <a:r>
              <a:rPr lang="ja-JP" altLang="en-US" dirty="0">
                <a:solidFill>
                  <a:srgbClr val="002060"/>
                </a:solidFill>
              </a:rPr>
              <a:t>「それはまた、どうしてですか」</a:t>
            </a:r>
            <a:endParaRPr lang="en-US" altLang="ja-JP" dirty="0">
              <a:solidFill>
                <a:srgbClr val="002060"/>
              </a:solidFill>
            </a:endParaRPr>
          </a:p>
          <a:p>
            <a:pPr>
              <a:buNone/>
            </a:pPr>
            <a:r>
              <a:rPr lang="ja-JP" altLang="en-US" dirty="0">
                <a:solidFill>
                  <a:srgbClr val="002060"/>
                </a:solidFill>
              </a:rPr>
              <a:t>「先週、僕の親友が亡くなったんだが、彼が亡くなる前に約束してね」</a:t>
            </a:r>
            <a:endParaRPr lang="en-US" altLang="ja-JP" dirty="0">
              <a:solidFill>
                <a:srgbClr val="002060"/>
              </a:solidFill>
            </a:endParaRPr>
          </a:p>
          <a:p>
            <a:pPr>
              <a:buNone/>
            </a:pPr>
            <a:r>
              <a:rPr lang="ja-JP" altLang="en-US" dirty="0">
                <a:solidFill>
                  <a:srgbClr val="002060"/>
                </a:solidFill>
              </a:rPr>
              <a:t>「はあ」</a:t>
            </a:r>
            <a:endParaRPr lang="en-US" altLang="ja-JP" dirty="0">
              <a:solidFill>
                <a:srgbClr val="002060"/>
              </a:solidFill>
            </a:endParaRPr>
          </a:p>
          <a:p>
            <a:pPr>
              <a:buNone/>
            </a:pPr>
            <a:r>
              <a:rPr lang="ja-JP" altLang="en-US" dirty="0">
                <a:solidFill>
                  <a:srgbClr val="002060"/>
                </a:solidFill>
              </a:rPr>
              <a:t>「僕が飲みに行くときは、必ず、彼の分も注文して飲むということになったんだ。それで、その約束を実行しているってわけさ」</a:t>
            </a:r>
            <a:endParaRPr lang="ko-KR" altLang="en-US" dirty="0">
              <a:solidFill>
                <a:srgbClr val="002060"/>
              </a:solidFill>
            </a:endParaRPr>
          </a:p>
        </p:txBody>
      </p:sp>
    </p:spTree>
    <p:extLst>
      <p:ext uri="{BB962C8B-B14F-4D97-AF65-F5344CB8AC3E}">
        <p14:creationId xmlns:p14="http://schemas.microsoft.com/office/powerpoint/2010/main" val="37190957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857232"/>
            <a:ext cx="8229600" cy="5715040"/>
          </a:xfrm>
        </p:spPr>
        <p:txBody>
          <a:bodyPr>
            <a:normAutofit fontScale="92500" lnSpcReduction="10000"/>
          </a:bodyPr>
          <a:lstStyle/>
          <a:p>
            <a:pPr>
              <a:buNone/>
            </a:pPr>
            <a:r>
              <a:rPr lang="ja-JP" altLang="en-US" dirty="0">
                <a:solidFill>
                  <a:srgbClr val="002060"/>
                </a:solidFill>
              </a:rPr>
              <a:t>「それはそれは。では、２杯いっしょに、ご用意いたしましょう」</a:t>
            </a:r>
            <a:endParaRPr lang="en-US" altLang="ja-JP" dirty="0">
              <a:solidFill>
                <a:srgbClr val="002060"/>
              </a:solidFill>
            </a:endParaRPr>
          </a:p>
          <a:p>
            <a:pPr>
              <a:buNone/>
            </a:pPr>
            <a:r>
              <a:rPr lang="ja-JP" altLang="en-US" dirty="0">
                <a:solidFill>
                  <a:srgbClr val="002060"/>
                </a:solidFill>
              </a:rPr>
              <a:t>男は、それからもときどきそのバーに来るように</a:t>
            </a:r>
            <a:endParaRPr lang="en-US" altLang="ja-JP" dirty="0">
              <a:solidFill>
                <a:srgbClr val="002060"/>
              </a:solidFill>
            </a:endParaRPr>
          </a:p>
          <a:p>
            <a:pPr>
              <a:buNone/>
            </a:pPr>
            <a:r>
              <a:rPr lang="ja-JP" altLang="en-US" dirty="0">
                <a:solidFill>
                  <a:srgbClr val="002060"/>
                </a:solidFill>
              </a:rPr>
              <a:t>なった。そして、そのたびに、２杯ずつ注文した。</a:t>
            </a:r>
            <a:endParaRPr lang="en-US" altLang="ja-JP" dirty="0">
              <a:solidFill>
                <a:srgbClr val="002060"/>
              </a:solidFill>
            </a:endParaRPr>
          </a:p>
          <a:p>
            <a:pPr>
              <a:buNone/>
            </a:pPr>
            <a:r>
              <a:rPr lang="ja-JP" altLang="en-US" dirty="0">
                <a:solidFill>
                  <a:srgbClr val="002060"/>
                </a:solidFill>
              </a:rPr>
              <a:t>ところが、ある日、男はカウンターにすわると、</a:t>
            </a:r>
            <a:endParaRPr lang="en-US" altLang="ja-JP" dirty="0">
              <a:solidFill>
                <a:srgbClr val="002060"/>
              </a:solidFill>
            </a:endParaRPr>
          </a:p>
          <a:p>
            <a:pPr>
              <a:buNone/>
            </a:pPr>
            <a:r>
              <a:rPr lang="ja-JP" altLang="en-US" dirty="0">
                <a:solidFill>
                  <a:srgbClr val="002060"/>
                </a:solidFill>
              </a:rPr>
              <a:t>こう言った。</a:t>
            </a:r>
            <a:endParaRPr lang="en-US" altLang="ja-JP" dirty="0">
              <a:solidFill>
                <a:srgbClr val="002060"/>
              </a:solidFill>
            </a:endParaRPr>
          </a:p>
          <a:p>
            <a:pPr>
              <a:buNone/>
            </a:pPr>
            <a:r>
              <a:rPr lang="ja-JP" altLang="en-US" dirty="0">
                <a:solidFill>
                  <a:srgbClr val="002060"/>
                </a:solidFill>
              </a:rPr>
              <a:t>「水割りを１杯」</a:t>
            </a:r>
            <a:endParaRPr lang="en-US" altLang="ja-JP" dirty="0">
              <a:solidFill>
                <a:srgbClr val="002060"/>
              </a:solidFill>
            </a:endParaRPr>
          </a:p>
          <a:p>
            <a:pPr>
              <a:buNone/>
            </a:pPr>
            <a:r>
              <a:rPr lang="ja-JP" altLang="en-US" dirty="0">
                <a:solidFill>
                  <a:srgbClr val="002060"/>
                </a:solidFill>
              </a:rPr>
              <a:t>「あれ、お客さん、今日は２杯じゃないんですか」</a:t>
            </a:r>
            <a:endParaRPr lang="en-US" altLang="ja-JP" dirty="0">
              <a:solidFill>
                <a:srgbClr val="002060"/>
              </a:solidFill>
            </a:endParaRPr>
          </a:p>
          <a:p>
            <a:pPr>
              <a:buNone/>
            </a:pPr>
            <a:r>
              <a:rPr lang="ja-JP" altLang="en-US" dirty="0">
                <a:solidFill>
                  <a:srgbClr val="002060"/>
                </a:solidFill>
              </a:rPr>
              <a:t>「うん、僕は禁酒することにしたんでね」</a:t>
            </a:r>
            <a:endParaRPr lang="en-US" altLang="ja-JP" dirty="0">
              <a:solidFill>
                <a:srgbClr val="002060"/>
              </a:solidFill>
            </a:endParaRPr>
          </a:p>
          <a:p>
            <a:pPr>
              <a:buNone/>
            </a:pPr>
            <a:r>
              <a:rPr lang="ja-JP" altLang="en-US" dirty="0">
                <a:solidFill>
                  <a:srgbClr val="002060"/>
                </a:solidFill>
              </a:rPr>
              <a:t>　　</a:t>
            </a:r>
            <a:endParaRPr lang="en-US" altLang="ja-JP" dirty="0">
              <a:solidFill>
                <a:srgbClr val="002060"/>
              </a:solidFill>
            </a:endParaRPr>
          </a:p>
          <a:p>
            <a:pPr>
              <a:buNone/>
            </a:pPr>
            <a:r>
              <a:rPr lang="ja-JP" altLang="en-US" dirty="0">
                <a:solidFill>
                  <a:srgbClr val="002060"/>
                </a:solidFill>
              </a:rPr>
              <a:t>　　　</a:t>
            </a:r>
            <a:r>
              <a:rPr lang="en-US" altLang="ja-JP" dirty="0">
                <a:solidFill>
                  <a:srgbClr val="002060"/>
                </a:solidFill>
              </a:rPr>
              <a:t>『</a:t>
            </a:r>
            <a:r>
              <a:rPr lang="ja-JP" altLang="en-US" dirty="0">
                <a:solidFill>
                  <a:srgbClr val="002060"/>
                </a:solidFill>
              </a:rPr>
              <a:t>月刊アサヒ</a:t>
            </a:r>
            <a:r>
              <a:rPr lang="en-US" altLang="ja-JP" dirty="0">
                <a:solidFill>
                  <a:srgbClr val="002060"/>
                </a:solidFill>
              </a:rPr>
              <a:t>』1989</a:t>
            </a:r>
            <a:r>
              <a:rPr lang="ja-JP" altLang="en-US" dirty="0">
                <a:solidFill>
                  <a:srgbClr val="002060"/>
                </a:solidFill>
              </a:rPr>
              <a:t>年</a:t>
            </a:r>
            <a:r>
              <a:rPr lang="en-US" altLang="ja-JP" dirty="0">
                <a:solidFill>
                  <a:srgbClr val="002060"/>
                </a:solidFill>
              </a:rPr>
              <a:t>6</a:t>
            </a:r>
            <a:r>
              <a:rPr lang="ja-JP" altLang="en-US" dirty="0">
                <a:solidFill>
                  <a:srgbClr val="002060"/>
                </a:solidFill>
              </a:rPr>
              <a:t>月号　朝日新聞社より</a:t>
            </a:r>
            <a:endParaRPr lang="ko-KR" altLang="en-US" dirty="0">
              <a:solidFill>
                <a:srgbClr val="002060"/>
              </a:solidFill>
            </a:endParaRPr>
          </a:p>
        </p:txBody>
      </p:sp>
    </p:spTree>
    <p:extLst>
      <p:ext uri="{BB962C8B-B14F-4D97-AF65-F5344CB8AC3E}">
        <p14:creationId xmlns:p14="http://schemas.microsoft.com/office/powerpoint/2010/main" val="1576275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70C0"/>
                </a:solidFill>
              </a:rPr>
              <a:t>読解中心の活動</a:t>
            </a:r>
            <a:endParaRPr lang="ko-KR" altLang="en-US" dirty="0">
              <a:solidFill>
                <a:srgbClr val="0070C0"/>
              </a:solidFill>
            </a:endParaRPr>
          </a:p>
        </p:txBody>
      </p:sp>
      <p:sp>
        <p:nvSpPr>
          <p:cNvPr id="3" name="내용 개체 틀 2"/>
          <p:cNvSpPr>
            <a:spLocks noGrp="1"/>
          </p:cNvSpPr>
          <p:nvPr>
            <p:ph idx="1"/>
          </p:nvPr>
        </p:nvSpPr>
        <p:spPr/>
        <p:txBody>
          <a:bodyPr>
            <a:normAutofit lnSpcReduction="10000"/>
          </a:bodyPr>
          <a:lstStyle/>
          <a:p>
            <a:r>
              <a:rPr lang="ja-JP" altLang="en-US" dirty="0">
                <a:solidFill>
                  <a:schemeClr val="accent6">
                    <a:lumMod val="75000"/>
                  </a:schemeClr>
                </a:solidFill>
              </a:rPr>
              <a:t>読む前の準備（先行タスク）</a:t>
            </a:r>
            <a:endParaRPr lang="en-US" altLang="ja-JP" dirty="0">
              <a:solidFill>
                <a:schemeClr val="accent6">
                  <a:lumMod val="75000"/>
                </a:schemeClr>
              </a:solidFill>
            </a:endParaRPr>
          </a:p>
          <a:p>
            <a:pPr>
              <a:buNone/>
            </a:pPr>
            <a:r>
              <a:rPr lang="ja-JP" altLang="en-US" dirty="0"/>
              <a:t>　</a:t>
            </a:r>
            <a:r>
              <a:rPr lang="en-US" altLang="ja-JP" dirty="0"/>
              <a:t>1)</a:t>
            </a:r>
            <a:r>
              <a:rPr lang="ja-JP" altLang="en-US" dirty="0"/>
              <a:t>漢字の読み方について多肢選択</a:t>
            </a:r>
            <a:endParaRPr lang="en-US" altLang="ja-JP" dirty="0"/>
          </a:p>
          <a:p>
            <a:pPr>
              <a:buNone/>
            </a:pPr>
            <a:r>
              <a:rPr lang="ja-JP" altLang="en-US" dirty="0"/>
              <a:t>　</a:t>
            </a:r>
            <a:r>
              <a:rPr lang="en-US" altLang="ja-JP" dirty="0"/>
              <a:t>2)</a:t>
            </a:r>
            <a:r>
              <a:rPr lang="ja-JP" altLang="en-US" dirty="0"/>
              <a:t>バーの中の様子を表す単語の選択記入</a:t>
            </a:r>
            <a:endParaRPr lang="en-US" altLang="ja-JP" dirty="0"/>
          </a:p>
          <a:p>
            <a:pPr>
              <a:buNone/>
            </a:pPr>
            <a:r>
              <a:rPr lang="ja-JP" altLang="en-US" dirty="0"/>
              <a:t>　</a:t>
            </a:r>
            <a:r>
              <a:rPr lang="en-US" altLang="ja-JP" dirty="0"/>
              <a:t>3)</a:t>
            </a:r>
            <a:r>
              <a:rPr lang="ja-JP" altLang="en-US" dirty="0"/>
              <a:t>タイトル「禁酒」の意味についての多肢選択</a:t>
            </a:r>
            <a:endParaRPr lang="en-US" altLang="ja-JP" dirty="0"/>
          </a:p>
          <a:p>
            <a:pPr>
              <a:buNone/>
            </a:pPr>
            <a:r>
              <a:rPr lang="ja-JP" altLang="en-US" dirty="0"/>
              <a:t>　</a:t>
            </a:r>
            <a:r>
              <a:rPr lang="en-US" altLang="ja-JP" dirty="0"/>
              <a:t>4)</a:t>
            </a:r>
            <a:r>
              <a:rPr lang="ja-JP" altLang="en-US" dirty="0"/>
              <a:t>お酒の名前をカタカタで書く</a:t>
            </a:r>
            <a:endParaRPr lang="en-US" altLang="ja-JP" dirty="0"/>
          </a:p>
          <a:p>
            <a:pPr>
              <a:buNone/>
            </a:pPr>
            <a:r>
              <a:rPr lang="ja-JP" altLang="en-US" dirty="0"/>
              <a:t>　</a:t>
            </a:r>
            <a:r>
              <a:rPr lang="en-US" altLang="ja-JP" dirty="0"/>
              <a:t>5)</a:t>
            </a:r>
            <a:r>
              <a:rPr lang="ja-JP" altLang="en-US" dirty="0"/>
              <a:t>キーワード「水割り」の意味</a:t>
            </a:r>
            <a:endParaRPr lang="en-US" altLang="ja-JP" dirty="0"/>
          </a:p>
          <a:p>
            <a:pPr>
              <a:buNone/>
            </a:pPr>
            <a:r>
              <a:rPr lang="ja-JP" altLang="en-US" dirty="0"/>
              <a:t>　</a:t>
            </a:r>
            <a:r>
              <a:rPr lang="en-US" altLang="ja-JP" dirty="0"/>
              <a:t>6)</a:t>
            </a:r>
            <a:r>
              <a:rPr lang="ja-JP" altLang="en-US" dirty="0"/>
              <a:t>レストラン、バーなどでの挨拶の言葉の多</a:t>
            </a:r>
            <a:endParaRPr lang="en-US" altLang="ja-JP" dirty="0"/>
          </a:p>
          <a:p>
            <a:pPr>
              <a:buNone/>
            </a:pPr>
            <a:r>
              <a:rPr lang="ja-JP" altLang="en-US" dirty="0"/>
              <a:t>　　肢選択</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先行タスク</a:t>
            </a:r>
            <a:endParaRPr lang="ko-KR" altLang="en-US" dirty="0">
              <a:solidFill>
                <a:srgbClr val="00B050"/>
              </a:solidFill>
            </a:endParaRPr>
          </a:p>
        </p:txBody>
      </p:sp>
      <p:sp>
        <p:nvSpPr>
          <p:cNvPr id="3" name="내용 개체 틀 2"/>
          <p:cNvSpPr>
            <a:spLocks noGrp="1"/>
          </p:cNvSpPr>
          <p:nvPr>
            <p:ph idx="1"/>
          </p:nvPr>
        </p:nvSpPr>
        <p:spPr>
          <a:xfrm>
            <a:off x="457200" y="1600200"/>
            <a:ext cx="8229600" cy="4925144"/>
          </a:xfrm>
        </p:spPr>
        <p:txBody>
          <a:bodyPr>
            <a:normAutofit lnSpcReduction="10000"/>
          </a:bodyPr>
          <a:lstStyle/>
          <a:p>
            <a:r>
              <a:rPr lang="ja-JP" altLang="en-US" dirty="0">
                <a:solidFill>
                  <a:srgbClr val="00B050"/>
                </a:solidFill>
              </a:rPr>
              <a:t>トップダウン過程</a:t>
            </a:r>
            <a:endParaRPr lang="en-US" altLang="ja-JP" dirty="0">
              <a:solidFill>
                <a:srgbClr val="00B050"/>
              </a:solidFill>
            </a:endParaRPr>
          </a:p>
          <a:p>
            <a:pPr>
              <a:buNone/>
            </a:pPr>
            <a:r>
              <a:rPr lang="ja-JP" altLang="en-US" dirty="0"/>
              <a:t>　学習者が持っているバーに関わるスキーマを活性化し、その上でそのスキーマを利用して読む。</a:t>
            </a:r>
            <a:endParaRPr lang="en-US" altLang="ja-JP" dirty="0"/>
          </a:p>
          <a:p>
            <a:r>
              <a:rPr lang="ja-JP" altLang="en-US" dirty="0">
                <a:solidFill>
                  <a:srgbClr val="00B050"/>
                </a:solidFill>
              </a:rPr>
              <a:t>ボトムアップ過程</a:t>
            </a:r>
            <a:endParaRPr lang="en-US" altLang="ja-JP" dirty="0">
              <a:solidFill>
                <a:srgbClr val="00B050"/>
              </a:solidFill>
            </a:endParaRPr>
          </a:p>
          <a:p>
            <a:pPr>
              <a:buNone/>
            </a:pPr>
            <a:r>
              <a:rPr lang="ja-JP" altLang="en-US" dirty="0"/>
              <a:t>　語彙や文型に関わるもの。</a:t>
            </a:r>
            <a:endParaRPr lang="en-US" altLang="ja-JP" dirty="0"/>
          </a:p>
          <a:p>
            <a:pPr>
              <a:buNone/>
            </a:pPr>
            <a:endParaRPr lang="en-US" altLang="ja-JP" dirty="0"/>
          </a:p>
          <a:p>
            <a:pPr lvl="0"/>
            <a:r>
              <a:rPr lang="ja-JP" altLang="en-US" dirty="0">
                <a:solidFill>
                  <a:prstClr val="black"/>
                </a:solidFill>
              </a:rPr>
              <a:t>トップダウンとボトムアップの両過程が相補い合う形で進行する。</a:t>
            </a:r>
            <a:endParaRPr lang="en-US" altLang="ja-JP" dirty="0">
              <a:solidFill>
                <a:prstClr val="black"/>
              </a:solidFill>
            </a:endParaRPr>
          </a:p>
          <a:p>
            <a:pPr>
              <a:buNone/>
            </a:pP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学習者は読むことに先立って、これから読むテキストについて内容を理解するのに鍵となる語彙や言い回しを学習し、さらにバーに関わるスキーマを活性化し読解に備える。</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dirty="0"/>
          </a:p>
        </p:txBody>
      </p:sp>
      <p:sp>
        <p:nvSpPr>
          <p:cNvPr id="3" name="내용 개체 틀 2"/>
          <p:cNvSpPr>
            <a:spLocks noGrp="1"/>
          </p:cNvSpPr>
          <p:nvPr>
            <p:ph idx="1"/>
          </p:nvPr>
        </p:nvSpPr>
        <p:spPr>
          <a:xfrm>
            <a:off x="457200" y="1600200"/>
            <a:ext cx="8401080" cy="5043510"/>
          </a:xfrm>
        </p:spPr>
        <p:txBody>
          <a:bodyPr>
            <a:normAutofit/>
          </a:bodyPr>
          <a:lstStyle/>
          <a:p>
            <a:r>
              <a:rPr lang="ja-JP" altLang="en-US" dirty="0">
                <a:solidFill>
                  <a:schemeClr val="accent6">
                    <a:lumMod val="75000"/>
                  </a:schemeClr>
                </a:solidFill>
              </a:rPr>
              <a:t>読みそのもの</a:t>
            </a:r>
            <a:endParaRPr lang="en-US" altLang="ja-JP" dirty="0">
              <a:solidFill>
                <a:schemeClr val="accent6">
                  <a:lumMod val="75000"/>
                </a:schemeClr>
              </a:solidFill>
            </a:endParaRPr>
          </a:p>
          <a:p>
            <a:pPr>
              <a:buNone/>
            </a:pPr>
            <a:r>
              <a:rPr lang="ja-JP" altLang="en-US" dirty="0"/>
              <a:t>　</a:t>
            </a:r>
            <a:r>
              <a:rPr lang="en-US" altLang="ja-JP" dirty="0"/>
              <a:t>--</a:t>
            </a:r>
            <a:r>
              <a:rPr lang="ja-JP" altLang="en-US" dirty="0"/>
              <a:t>読む：本文をばらばらにしたものをつなぐ</a:t>
            </a:r>
            <a:endParaRPr lang="en-US" altLang="ja-JP" dirty="0"/>
          </a:p>
          <a:p>
            <a:pPr>
              <a:buNone/>
            </a:pPr>
            <a:r>
              <a:rPr lang="ja-JP" altLang="en-US" dirty="0"/>
              <a:t>　</a:t>
            </a:r>
            <a:r>
              <a:rPr lang="en-US" altLang="ja-JP" dirty="0"/>
              <a:t>--</a:t>
            </a:r>
            <a:r>
              <a:rPr lang="ja-JP" altLang="en-US" dirty="0"/>
              <a:t>想像：</a:t>
            </a:r>
            <a:r>
              <a:rPr lang="en-US" altLang="ja-JP" dirty="0"/>
              <a:t>1)</a:t>
            </a:r>
            <a:r>
              <a:rPr lang="ja-JP" altLang="en-US" dirty="0"/>
              <a:t>登場人物について自由な想像をし</a:t>
            </a:r>
            <a:endParaRPr lang="en-US" altLang="ja-JP" dirty="0"/>
          </a:p>
          <a:p>
            <a:pPr>
              <a:buNone/>
            </a:pPr>
            <a:r>
              <a:rPr lang="ja-JP" altLang="en-US" dirty="0"/>
              <a:t>　　　　　　　グループでそれを交換しあう。</a:t>
            </a:r>
            <a:endParaRPr lang="en-US" altLang="ja-JP" dirty="0"/>
          </a:p>
          <a:p>
            <a:pPr>
              <a:buNone/>
            </a:pPr>
            <a:r>
              <a:rPr lang="ja-JP" altLang="en-US" dirty="0"/>
              <a:t>　　　　　　</a:t>
            </a:r>
            <a:r>
              <a:rPr lang="en-US" altLang="ja-JP" dirty="0"/>
              <a:t>2)</a:t>
            </a:r>
            <a:r>
              <a:rPr lang="ja-JP" altLang="en-US" dirty="0"/>
              <a:t>似たような想像力を使って答える問　　</a:t>
            </a:r>
            <a:endParaRPr lang="en-US" altLang="ja-JP" dirty="0"/>
          </a:p>
          <a:p>
            <a:pPr>
              <a:buNone/>
            </a:pPr>
            <a:r>
              <a:rPr lang="ja-JP" altLang="en-US" dirty="0"/>
              <a:t>　　　　　　　題を各自作りグループで答えあう。</a:t>
            </a:r>
            <a:endParaRPr lang="en-US" altLang="ja-JP" dirty="0"/>
          </a:p>
          <a:p>
            <a:pPr>
              <a:buNone/>
            </a:pPr>
            <a:r>
              <a:rPr lang="ja-JP" altLang="en-US" dirty="0"/>
              <a:t>　</a:t>
            </a:r>
            <a:r>
              <a:rPr lang="en-US" altLang="ja-JP" dirty="0"/>
              <a:t>--</a:t>
            </a:r>
            <a:r>
              <a:rPr lang="ja-JP" altLang="en-US" dirty="0"/>
              <a:t>再度読む：</a:t>
            </a:r>
            <a:r>
              <a:rPr lang="en-US" altLang="ja-JP" dirty="0"/>
              <a:t>1)</a:t>
            </a:r>
            <a:r>
              <a:rPr lang="ja-JP" altLang="en-US" dirty="0"/>
              <a:t>内容についての質問</a:t>
            </a:r>
            <a:r>
              <a:rPr lang="en-US" altLang="ja-JP" dirty="0"/>
              <a:t>(</a:t>
            </a:r>
            <a:r>
              <a:rPr lang="ja-JP" altLang="en-US" dirty="0"/>
              <a:t>多肢選択</a:t>
            </a:r>
            <a:r>
              <a:rPr lang="en-US" altLang="ja-JP" dirty="0"/>
              <a:t>)</a:t>
            </a:r>
          </a:p>
          <a:p>
            <a:pPr>
              <a:buNone/>
            </a:pPr>
            <a:r>
              <a:rPr lang="ja-JP" altLang="en-US" dirty="0"/>
              <a:t>　　　　　　　　　</a:t>
            </a:r>
            <a:r>
              <a:rPr lang="en-US" altLang="ja-JP" dirty="0"/>
              <a:t>2)</a:t>
            </a:r>
            <a:r>
              <a:rPr lang="ja-JP" altLang="en-US" dirty="0"/>
              <a:t>表現についての質問</a:t>
            </a:r>
            <a:r>
              <a:rPr lang="en-US" altLang="ja-JP" dirty="0"/>
              <a:t>(</a:t>
            </a:r>
            <a:r>
              <a:rPr lang="ja-JP" altLang="en-US" dirty="0"/>
              <a:t>多肢選択</a:t>
            </a:r>
            <a:r>
              <a:rPr lang="en-US" altLang="ja-JP"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solidFill>
                  <a:srgbClr val="00B050"/>
                </a:solidFill>
              </a:rPr>
              <a:t>読む目的を提示</a:t>
            </a:r>
            <a:endParaRPr lang="en-US" altLang="ja-JP" dirty="0">
              <a:solidFill>
                <a:srgbClr val="00B050"/>
              </a:solidFill>
            </a:endParaRPr>
          </a:p>
          <a:p>
            <a:pPr>
              <a:buNone/>
            </a:pPr>
            <a:r>
              <a:rPr lang="ja-JP" altLang="en-US" dirty="0"/>
              <a:t>　</a:t>
            </a:r>
            <a:r>
              <a:rPr lang="en-US" altLang="ja-JP" dirty="0"/>
              <a:t>--</a:t>
            </a:r>
            <a:r>
              <a:rPr lang="ja-JP" altLang="en-US" dirty="0"/>
              <a:t>「一人の客とバーテンがどんな話をしているか、笑い話だがどんなところが面白いかを、考えながら読む」</a:t>
            </a:r>
            <a:endParaRPr lang="en-US" altLang="ja-JP" dirty="0"/>
          </a:p>
          <a:p>
            <a:pPr>
              <a:buNone/>
            </a:pPr>
            <a:r>
              <a:rPr lang="ja-JP" altLang="en-US" dirty="0"/>
              <a:t>　</a:t>
            </a:r>
            <a:r>
              <a:rPr lang="en-US" altLang="ja-JP" dirty="0"/>
              <a:t>--</a:t>
            </a:r>
            <a:r>
              <a:rPr lang="ja-JP" altLang="en-US" dirty="0"/>
              <a:t>疑問を解消すべく読む。</a:t>
            </a:r>
            <a:endParaRPr lang="en-US" altLang="ja-JP" dirty="0"/>
          </a:p>
          <a:p>
            <a:pPr lvl="0"/>
            <a:r>
              <a:rPr lang="ja-JP" altLang="en-US" dirty="0">
                <a:solidFill>
                  <a:srgbClr val="00B050"/>
                </a:solidFill>
              </a:rPr>
              <a:t>想像の活動</a:t>
            </a:r>
            <a:endParaRPr lang="en-US" altLang="ja-JP" dirty="0">
              <a:solidFill>
                <a:srgbClr val="00B050"/>
              </a:solidFill>
            </a:endParaRPr>
          </a:p>
          <a:p>
            <a:pPr lvl="0">
              <a:buNone/>
            </a:pPr>
            <a:r>
              <a:rPr lang="ja-JP" altLang="en-US" dirty="0">
                <a:solidFill>
                  <a:prstClr val="black"/>
                </a:solidFill>
              </a:rPr>
              <a:t>　意味を様々な角度から学習者個々が想像し、それを友達と交流させ、協同でより豊かな意味を想像していくことが追求されている。</a:t>
            </a:r>
            <a:endParaRPr lang="en-US" altLang="ja-JP" dirty="0">
              <a:solidFill>
                <a:prstClr val="black"/>
              </a:solidFill>
            </a:endParaRPr>
          </a:p>
          <a:p>
            <a:pPr>
              <a:buNone/>
            </a:pPr>
            <a:endParaRPr lang="en-US" altLang="ja-JP" dirty="0"/>
          </a:p>
          <a:p>
            <a:pPr>
              <a:buNone/>
            </a:pPr>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学習者は一度ざっと読んだ後にこのブレインストームのような活動を行い、内容や表現の形式を詳しく問う問題に答えるために丁寧に読む。</a:t>
            </a:r>
            <a:endParaRPr lang="en-US" altLang="ja-JP" dirty="0"/>
          </a:p>
          <a:p>
            <a:r>
              <a:rPr lang="ja-JP" altLang="en-US" dirty="0"/>
              <a:t>続いてもう一度想像力で答える問いに答えることを通して、内容の解釈をより深いものにする。</a:t>
            </a:r>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lvl="0"/>
            <a:r>
              <a:rPr lang="ja-JP" altLang="en-US" dirty="0">
                <a:solidFill>
                  <a:schemeClr val="accent6">
                    <a:lumMod val="75000"/>
                  </a:schemeClr>
                </a:solidFill>
              </a:rPr>
              <a:t>フォローアップ</a:t>
            </a:r>
            <a:r>
              <a:rPr lang="ja-JP" altLang="en-US" dirty="0"/>
              <a:t>：クローズタスク</a:t>
            </a:r>
            <a:endParaRPr lang="en-US" altLang="ja-JP" dirty="0"/>
          </a:p>
          <a:p>
            <a:pPr lvl="0">
              <a:buNone/>
            </a:pPr>
            <a:r>
              <a:rPr lang="ja-JP" altLang="en-US" dirty="0"/>
              <a:t>　</a:t>
            </a:r>
            <a:r>
              <a:rPr lang="en-US" altLang="ja-JP" dirty="0"/>
              <a:t>--</a:t>
            </a:r>
            <a:r>
              <a:rPr lang="ja-JP" altLang="en-US" dirty="0"/>
              <a:t>読み手は意味に重点を置いた総合的な力が問われる。内容上のつながりや文型・語彙などの情報をもとにテキスト中に設けられた</a:t>
            </a:r>
            <a:r>
              <a:rPr lang="en-US" altLang="ja-JP" dirty="0"/>
              <a:t>(</a:t>
            </a:r>
            <a:r>
              <a:rPr lang="ja-JP" altLang="en-US" dirty="0"/>
              <a:t>　</a:t>
            </a:r>
            <a:r>
              <a:rPr lang="en-US" altLang="ja-JP" dirty="0"/>
              <a:t>)</a:t>
            </a:r>
            <a:r>
              <a:rPr lang="ja-JP" altLang="en-US" dirty="0"/>
              <a:t>に最もふさわしい文字を入れていく。</a:t>
            </a:r>
            <a:endParaRPr lang="en-US" altLang="ja-JP" dirty="0"/>
          </a:p>
          <a:p>
            <a:pPr lvl="0">
              <a:buNone/>
            </a:pPr>
            <a:endParaRPr lang="en-US" altLang="ja-JP" dirty="0"/>
          </a:p>
          <a:p>
            <a:pPr lvl="0">
              <a:buNone/>
            </a:pPr>
            <a:r>
              <a:rPr lang="ja-JP" altLang="en-US" dirty="0"/>
              <a:t>　</a:t>
            </a:r>
            <a:r>
              <a:rPr lang="en-US" altLang="ja-JP" dirty="0"/>
              <a:t>--</a:t>
            </a:r>
            <a:r>
              <a:rPr lang="ja-JP" altLang="en-US" dirty="0"/>
              <a:t>この活動によって想像力を駆使した想像的意味解釈の重要性を学習することになる。</a:t>
            </a:r>
            <a:endParaRPr lang="ko-KR" altLang="en-US" dirty="0"/>
          </a:p>
          <a:p>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70C0"/>
                </a:solidFill>
              </a:rPr>
              <a:t>学習のデザイン</a:t>
            </a:r>
            <a:endParaRPr lang="ko-KR" altLang="en-US" dirty="0">
              <a:solidFill>
                <a:srgbClr val="0070C0"/>
              </a:solidFill>
            </a:endParaRPr>
          </a:p>
        </p:txBody>
      </p:sp>
      <p:sp>
        <p:nvSpPr>
          <p:cNvPr id="3" name="내용 개체 틀 2"/>
          <p:cNvSpPr>
            <a:spLocks noGrp="1"/>
          </p:cNvSpPr>
          <p:nvPr>
            <p:ph idx="1"/>
          </p:nvPr>
        </p:nvSpPr>
        <p:spPr/>
        <p:txBody>
          <a:bodyPr/>
          <a:lstStyle/>
          <a:p>
            <a:r>
              <a:rPr lang="ja-JP" altLang="en-US" dirty="0"/>
              <a:t>上の活動はボトムアップ過程に重点が置かれている。</a:t>
            </a:r>
            <a:endParaRPr lang="en-US" altLang="ja-JP" dirty="0"/>
          </a:p>
          <a:p>
            <a:endParaRPr lang="en-US" altLang="ja-JP" dirty="0"/>
          </a:p>
          <a:p>
            <a:r>
              <a:rPr lang="ja-JP" altLang="en-US" dirty="0"/>
              <a:t>トップダウン過程を促進し、グループ活動を軸においた読解の追及</a:t>
            </a:r>
            <a:endParaRPr lang="en-US" altLang="ja-JP" dirty="0"/>
          </a:p>
          <a:p>
            <a:endParaRPr lang="en-US" altLang="ko-KR" dirty="0"/>
          </a:p>
          <a:p>
            <a:r>
              <a:rPr lang="ja-JP" altLang="en-US" dirty="0"/>
              <a:t>トップダウン過程と相互交流の促進に焦点を当てたデザイン</a:t>
            </a:r>
            <a:endParaRPr lang="en-US" altLang="ja-JP" dirty="0"/>
          </a:p>
          <a:p>
            <a:endParaRPr lang="en-US" altLang="ko-KR" dirty="0"/>
          </a:p>
          <a:p>
            <a:endParaRPr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chemeClr val="accent6">
                    <a:lumMod val="75000"/>
                  </a:schemeClr>
                </a:solidFill>
              </a:rPr>
              <a:t>先行タスク</a:t>
            </a:r>
            <a:endParaRPr lang="ko-KR" altLang="en-US" dirty="0">
              <a:solidFill>
                <a:schemeClr val="accent6">
                  <a:lumMod val="75000"/>
                </a:schemeClr>
              </a:solidFill>
            </a:endParaRPr>
          </a:p>
        </p:txBody>
      </p:sp>
      <p:sp>
        <p:nvSpPr>
          <p:cNvPr id="3" name="내용 개체 틀 2"/>
          <p:cNvSpPr>
            <a:spLocks noGrp="1"/>
          </p:cNvSpPr>
          <p:nvPr>
            <p:ph idx="1"/>
          </p:nvPr>
        </p:nvSpPr>
        <p:spPr/>
        <p:txBody>
          <a:bodyPr/>
          <a:lstStyle/>
          <a:p>
            <a:r>
              <a:rPr lang="ja-JP" altLang="en-US" dirty="0"/>
              <a:t>内容のスキーマ、テキスト構成のスキーマを活性化させることが追及されている。</a:t>
            </a:r>
            <a:endParaRPr lang="en-US" altLang="ja-JP" dirty="0"/>
          </a:p>
          <a:p>
            <a:r>
              <a:rPr lang="ja-JP" altLang="en-US" dirty="0"/>
              <a:t>バーなどを具体的に話題にすることにより、語彙を馴染むものとする。</a:t>
            </a:r>
            <a:endParaRPr lang="en-US" altLang="ja-JP" dirty="0"/>
          </a:p>
          <a:p>
            <a:r>
              <a:rPr lang="ja-JP" altLang="en-US" dirty="0"/>
              <a:t>「落ち」の登場は「テキストの先の展開を予測すること」が読みのストラテジーとして重要であることを経験することが目指されている。</a:t>
            </a:r>
            <a:endParaRPr lang="en-US" altLang="ja-JP" dirty="0"/>
          </a:p>
          <a:p>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chemeClr val="accent6">
                    <a:lumMod val="75000"/>
                  </a:schemeClr>
                </a:solidFill>
              </a:rPr>
              <a:t>先行タスク</a:t>
            </a:r>
            <a:endParaRPr lang="ko-KR" altLang="en-US" dirty="0">
              <a:solidFill>
                <a:schemeClr val="accent6">
                  <a:lumMod val="75000"/>
                </a:schemeClr>
              </a:solidFill>
            </a:endParaRPr>
          </a:p>
        </p:txBody>
      </p:sp>
      <p:sp>
        <p:nvSpPr>
          <p:cNvPr id="3" name="내용 개체 틀 2"/>
          <p:cNvSpPr>
            <a:spLocks noGrp="1"/>
          </p:cNvSpPr>
          <p:nvPr>
            <p:ph idx="1"/>
          </p:nvPr>
        </p:nvSpPr>
        <p:spPr>
          <a:xfrm>
            <a:off x="457200" y="1600200"/>
            <a:ext cx="8229600" cy="4900634"/>
          </a:xfrm>
        </p:spPr>
        <p:txBody>
          <a:bodyPr>
            <a:normAutofit fontScale="92500" lnSpcReduction="20000"/>
          </a:bodyPr>
          <a:lstStyle/>
          <a:p>
            <a:r>
              <a:rPr lang="en-US" altLang="ja-JP" dirty="0">
                <a:solidFill>
                  <a:srgbClr val="00B050"/>
                </a:solidFill>
              </a:rPr>
              <a:t>A</a:t>
            </a:r>
            <a:r>
              <a:rPr lang="ja-JP" altLang="en-US" dirty="0">
                <a:solidFill>
                  <a:srgbClr val="00B050"/>
                </a:solidFill>
              </a:rPr>
              <a:t>タスク</a:t>
            </a:r>
            <a:endParaRPr lang="en-US" altLang="ja-JP" dirty="0">
              <a:solidFill>
                <a:srgbClr val="00B050"/>
              </a:solidFill>
            </a:endParaRPr>
          </a:p>
          <a:p>
            <a:r>
              <a:rPr lang="ja-JP" altLang="en-US" dirty="0"/>
              <a:t>扉のイラストの項の次の点に注目してこの話がどんな話なのか想像してみよう。</a:t>
            </a:r>
            <a:endParaRPr lang="en-US" altLang="ja-JP" dirty="0"/>
          </a:p>
          <a:p>
            <a:pPr>
              <a:buNone/>
            </a:pPr>
            <a:r>
              <a:rPr lang="ja-JP" altLang="en-US" dirty="0"/>
              <a:t>　</a:t>
            </a:r>
            <a:r>
              <a:rPr lang="en-US" altLang="ja-JP" dirty="0"/>
              <a:t>--</a:t>
            </a:r>
            <a:r>
              <a:rPr lang="ja-JP" altLang="en-US" dirty="0"/>
              <a:t>タイトル「禁酒」に酒という字が入っている。グラスをぶつけているイラスト</a:t>
            </a:r>
            <a:endParaRPr lang="en-US" altLang="ja-JP" dirty="0"/>
          </a:p>
          <a:p>
            <a:pPr>
              <a:buNone/>
            </a:pPr>
            <a:r>
              <a:rPr lang="ja-JP" altLang="en-US" dirty="0"/>
              <a:t>　</a:t>
            </a:r>
            <a:r>
              <a:rPr lang="en-US" altLang="ja-JP" dirty="0"/>
              <a:t>--</a:t>
            </a:r>
            <a:r>
              <a:rPr lang="ja-JP" altLang="en-US" dirty="0"/>
              <a:t>イラストの下の３行の内容説明のうち「一人の客とバーテンが話をしています」の部分</a:t>
            </a:r>
            <a:endParaRPr lang="en-US" altLang="ja-JP" dirty="0"/>
          </a:p>
          <a:p>
            <a:pPr>
              <a:buNone/>
            </a:pPr>
            <a:endParaRPr lang="en-US" altLang="ja-JP" dirty="0"/>
          </a:p>
          <a:p>
            <a:pPr>
              <a:buNone/>
            </a:pPr>
            <a:r>
              <a:rPr lang="ja-JP" altLang="en-US" dirty="0"/>
              <a:t>　⇔タイトル、イラスト、内容の短い紹介などを手がかりにいわば話のセッティングに関するスキーマの活性化</a:t>
            </a:r>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1600200"/>
            <a:ext cx="8229600" cy="4972072"/>
          </a:xfrm>
        </p:spPr>
        <p:txBody>
          <a:bodyPr>
            <a:normAutofit fontScale="92500"/>
          </a:bodyPr>
          <a:lstStyle/>
          <a:p>
            <a:r>
              <a:rPr lang="en-US" altLang="ja-JP" dirty="0">
                <a:solidFill>
                  <a:srgbClr val="00B050"/>
                </a:solidFill>
              </a:rPr>
              <a:t>B</a:t>
            </a:r>
            <a:r>
              <a:rPr lang="ja-JP" altLang="en-US" dirty="0">
                <a:solidFill>
                  <a:srgbClr val="00B050"/>
                </a:solidFill>
              </a:rPr>
              <a:t>タスク</a:t>
            </a:r>
            <a:endParaRPr lang="en-US" altLang="ja-JP" dirty="0">
              <a:solidFill>
                <a:srgbClr val="00B050"/>
              </a:solidFill>
            </a:endParaRPr>
          </a:p>
          <a:p>
            <a:r>
              <a:rPr lang="ja-JP" altLang="en-US" dirty="0"/>
              <a:t>イラストの下の３行の内容の説明のうち、「これから読むのは、短い笑い話です」の「短い笑い話」という点に注目して次のことを考えてみよう。</a:t>
            </a:r>
            <a:endParaRPr lang="en-US" altLang="ja-JP" dirty="0"/>
          </a:p>
          <a:p>
            <a:pPr>
              <a:buNone/>
            </a:pPr>
            <a:r>
              <a:rPr lang="ja-JP" altLang="en-US" dirty="0"/>
              <a:t>　</a:t>
            </a:r>
            <a:r>
              <a:rPr lang="en-US" altLang="ja-JP" dirty="0"/>
              <a:t>--</a:t>
            </a:r>
            <a:r>
              <a:rPr lang="ja-JP" altLang="en-US" dirty="0"/>
              <a:t>今まで自分の見聞した笑い話で、「面白い」部分は話全体の中のどのあたりに出てきましたか。</a:t>
            </a:r>
            <a:endParaRPr lang="en-US" altLang="ja-JP" dirty="0"/>
          </a:p>
          <a:p>
            <a:pPr>
              <a:buNone/>
            </a:pPr>
            <a:endParaRPr lang="en-US" altLang="ja-JP" dirty="0"/>
          </a:p>
          <a:p>
            <a:pPr>
              <a:buNone/>
            </a:pPr>
            <a:r>
              <a:rPr lang="ja-JP" altLang="en-US" dirty="0"/>
              <a:t>⇔「内容紹介」を手がかりに「笑い話」のテキストの展開構造に関するスキーマの活性化</a:t>
            </a:r>
            <a:endParaRPr lang="en-US" altLang="ja-JP"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a:bodyPr>
          <a:lstStyle/>
          <a:p>
            <a:r>
              <a:rPr lang="en-US" altLang="ja-JP" dirty="0">
                <a:solidFill>
                  <a:srgbClr val="00B050"/>
                </a:solidFill>
              </a:rPr>
              <a:t>C</a:t>
            </a:r>
            <a:r>
              <a:rPr lang="ja-JP" altLang="en-US" dirty="0">
                <a:solidFill>
                  <a:srgbClr val="00B050"/>
                </a:solidFill>
              </a:rPr>
              <a:t>タスク</a:t>
            </a:r>
            <a:endParaRPr lang="en-US" altLang="ja-JP" dirty="0">
              <a:solidFill>
                <a:srgbClr val="00B050"/>
              </a:solidFill>
            </a:endParaRPr>
          </a:p>
          <a:p>
            <a:r>
              <a:rPr lang="ja-JP" altLang="en-US" dirty="0"/>
              <a:t>「禁酒」「禁煙」、あるいは「ダイエットをする人」は成功させるためにどんな苦労をするだろうか。自分や身の回りで見聞したことを紹介しよう。</a:t>
            </a:r>
            <a:endParaRPr lang="en-US" altLang="ja-JP" dirty="0"/>
          </a:p>
          <a:p>
            <a:endParaRPr lang="en-US" altLang="ko-KR" dirty="0"/>
          </a:p>
          <a:p>
            <a:r>
              <a:rPr lang="ja-JP" altLang="en-US" dirty="0"/>
              <a:t>⇔</a:t>
            </a:r>
            <a:r>
              <a:rPr lang="en-US" altLang="ja-JP" dirty="0"/>
              <a:t>A</a:t>
            </a:r>
            <a:r>
              <a:rPr lang="ja-JP" altLang="en-US" dirty="0"/>
              <a:t>、</a:t>
            </a:r>
            <a:r>
              <a:rPr lang="en-US" altLang="ja-JP" dirty="0"/>
              <a:t>B</a:t>
            </a:r>
            <a:r>
              <a:rPr lang="ja-JP" altLang="en-US" dirty="0"/>
              <a:t>のタスクで活性化させた内容とテキスト構造のスキーマを土台として、もう一歩踏み込んだスキーマを呼び起こすことが目指される。</a:t>
            </a: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lnSpcReduction="10000"/>
          </a:bodyPr>
          <a:lstStyle/>
          <a:p>
            <a:r>
              <a:rPr lang="en-US" altLang="ja-JP" dirty="0">
                <a:solidFill>
                  <a:srgbClr val="00B050"/>
                </a:solidFill>
              </a:rPr>
              <a:t>D</a:t>
            </a:r>
            <a:r>
              <a:rPr lang="ja-JP" altLang="en-US" dirty="0">
                <a:solidFill>
                  <a:srgbClr val="00B050"/>
                </a:solidFill>
              </a:rPr>
              <a:t>タスク</a:t>
            </a:r>
            <a:endParaRPr lang="en-US" altLang="ja-JP" dirty="0">
              <a:solidFill>
                <a:srgbClr val="00B050"/>
              </a:solidFill>
            </a:endParaRPr>
          </a:p>
          <a:p>
            <a:r>
              <a:rPr lang="ja-JP" altLang="en-US" dirty="0"/>
              <a:t>禁煙をする人やダイエットをする人はその苦労をなんとか紛らわせるためにどんな工夫をするだろうか。禁酒の場合はどうだろうか。少しだけ吸ったり飲んだり食べたりするような涙ぐましい努力をどんなふうにしているだろう。</a:t>
            </a:r>
            <a:endParaRPr lang="en-US" altLang="ja-JP" dirty="0"/>
          </a:p>
          <a:p>
            <a:pPr>
              <a:buNone/>
            </a:pPr>
            <a:r>
              <a:rPr lang="ja-JP" altLang="en-US" dirty="0"/>
              <a:t>　</a:t>
            </a:r>
            <a:r>
              <a:rPr lang="en-US" altLang="ja-JP" dirty="0"/>
              <a:t>C</a:t>
            </a:r>
            <a:r>
              <a:rPr lang="ja-JP" altLang="en-US" dirty="0"/>
              <a:t>のタスクと同じようにこれまで見聞したことを紹介しよう。</a:t>
            </a:r>
            <a:endParaRPr lang="en-US" altLang="ja-JP" dirty="0"/>
          </a:p>
          <a:p>
            <a:pPr>
              <a:buNone/>
            </a:pPr>
            <a:r>
              <a:rPr lang="ja-JP" altLang="en-US" dirty="0"/>
              <a:t>⇔「禁酒」の話の「落ち」につながる中核をなすスキーマの活性化</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chemeClr val="accent6">
                    <a:lumMod val="75000"/>
                  </a:schemeClr>
                </a:solidFill>
              </a:rPr>
              <a:t>読解そのものに関するタスク</a:t>
            </a:r>
            <a:endParaRPr lang="ko-KR" altLang="en-US" dirty="0">
              <a:solidFill>
                <a:schemeClr val="accent6">
                  <a:lumMod val="75000"/>
                </a:schemeClr>
              </a:solidFill>
            </a:endParaRPr>
          </a:p>
        </p:txBody>
      </p:sp>
      <p:sp>
        <p:nvSpPr>
          <p:cNvPr id="3" name="내용 개체 틀 2"/>
          <p:cNvSpPr>
            <a:spLocks noGrp="1"/>
          </p:cNvSpPr>
          <p:nvPr>
            <p:ph idx="1"/>
          </p:nvPr>
        </p:nvSpPr>
        <p:spPr/>
        <p:txBody>
          <a:bodyPr>
            <a:normAutofit fontScale="92500" lnSpcReduction="20000"/>
          </a:bodyPr>
          <a:lstStyle/>
          <a:p>
            <a:endParaRPr lang="en-US" altLang="ko-KR" dirty="0"/>
          </a:p>
          <a:p>
            <a:pPr marL="0" indent="0">
              <a:buNone/>
            </a:pPr>
            <a:r>
              <a:rPr lang="en-US" altLang="ja-JP" dirty="0"/>
              <a:t>A.</a:t>
            </a:r>
            <a:r>
              <a:rPr lang="ja-JP" altLang="en-US" dirty="0"/>
              <a:t>　下の</a:t>
            </a:r>
            <a:r>
              <a:rPr lang="en-US" altLang="ja-JP" dirty="0"/>
              <a:t>a</a:t>
            </a:r>
            <a:r>
              <a:rPr lang="ja-JP" altLang="en-US" dirty="0"/>
              <a:t>かｂのどれかを選んで行ってください。</a:t>
            </a:r>
            <a:r>
              <a:rPr lang="en-US" altLang="ja-JP" dirty="0"/>
              <a:t>(</a:t>
            </a:r>
            <a:r>
              <a:rPr lang="ja-JP" altLang="en-US" dirty="0"/>
              <a:t>個人学習）</a:t>
            </a:r>
            <a:endParaRPr lang="en-US" altLang="ja-JP" dirty="0"/>
          </a:p>
          <a:p>
            <a:pPr>
              <a:buNone/>
            </a:pPr>
            <a:r>
              <a:rPr lang="ja-JP" altLang="en-US" dirty="0"/>
              <a:t>　</a:t>
            </a:r>
            <a:r>
              <a:rPr lang="ja-JP" altLang="en-US" dirty="0">
                <a:solidFill>
                  <a:srgbClr val="002060"/>
                </a:solidFill>
              </a:rPr>
              <a:t>効果：自由選択は、自分はどんな学習がしたいのか、あるいは必要なのかを考え、教師から自立していく基盤を作っていくことを目指している。</a:t>
            </a:r>
            <a:endParaRPr lang="en-US" altLang="ja-JP" dirty="0">
              <a:solidFill>
                <a:srgbClr val="002060"/>
              </a:solidFill>
            </a:endParaRPr>
          </a:p>
          <a:p>
            <a:endParaRPr lang="en-US" altLang="ja-JP" dirty="0"/>
          </a:p>
          <a:p>
            <a:pPr marL="0" indent="0">
              <a:buNone/>
            </a:pPr>
            <a:r>
              <a:rPr lang="en-US" altLang="ja-JP" dirty="0"/>
              <a:t>a.</a:t>
            </a:r>
            <a:r>
              <a:rPr lang="ja-JP" altLang="en-US" dirty="0"/>
              <a:t>下のテキストは途中から会話の順番がバラバラになっています。正しい順番をもとのように回復しなさい。</a:t>
            </a:r>
            <a:endParaRPr lang="en-US" altLang="ja-JP"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marL="0" indent="0">
              <a:buNone/>
            </a:pPr>
            <a:r>
              <a:rPr lang="en-US" altLang="ja-JP" dirty="0"/>
              <a:t>b.</a:t>
            </a:r>
            <a:r>
              <a:rPr lang="ja-JP" altLang="en-US" dirty="0"/>
              <a:t>この文章の中で、一人が「うん、僕は禁酒することにしたんでね」と言いましたが、これについてテキストを読んで問いに答えなさい。　</a:t>
            </a:r>
            <a:endParaRPr lang="ko-KR" altLang="en-US" dirty="0"/>
          </a:p>
          <a:p>
            <a:pPr marL="0" indent="0">
              <a:buNone/>
            </a:pPr>
            <a:r>
              <a:rPr lang="en-US" altLang="ja-JP" dirty="0"/>
              <a:t>  (1)</a:t>
            </a:r>
            <a:r>
              <a:rPr lang="ja-JP" altLang="en-US" dirty="0"/>
              <a:t>「僕」は誰を指していますか。</a:t>
            </a:r>
            <a:endParaRPr lang="en-US" altLang="ja-JP" dirty="0"/>
          </a:p>
          <a:p>
            <a:pPr marL="0" indent="0">
              <a:buNone/>
            </a:pPr>
            <a:r>
              <a:rPr lang="en-US" altLang="ja-JP" dirty="0"/>
              <a:t>  (2)</a:t>
            </a:r>
            <a:r>
              <a:rPr lang="ja-JP" altLang="en-US" dirty="0"/>
              <a:t>「僕」は実は何が言いたかったのでしょうか。下から選んでください。どれが正しいかではなく、どれが自分のイメージに近いかを考えて選んでください。</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pPr marL="0" indent="0">
              <a:buNone/>
            </a:pPr>
            <a:r>
              <a:rPr lang="ja-JP" altLang="en-US" dirty="0"/>
              <a:t>ア</a:t>
            </a:r>
            <a:r>
              <a:rPr lang="en-US" altLang="ja-JP" dirty="0"/>
              <a:t>.</a:t>
            </a:r>
            <a:r>
              <a:rPr lang="ja-JP" altLang="en-US" dirty="0"/>
              <a:t>　この１杯は僕の分じゃなくて亡くなった友達の分なんだよ。</a:t>
            </a:r>
            <a:endParaRPr lang="en-US" altLang="ja-JP" dirty="0"/>
          </a:p>
          <a:p>
            <a:pPr marL="0" indent="0">
              <a:buNone/>
            </a:pPr>
            <a:endParaRPr lang="en-US" altLang="ja-JP" dirty="0"/>
          </a:p>
          <a:p>
            <a:pPr marL="0" indent="0">
              <a:buNone/>
            </a:pPr>
            <a:r>
              <a:rPr lang="ja-JP" altLang="en-US" dirty="0"/>
              <a:t>イ</a:t>
            </a:r>
            <a:r>
              <a:rPr lang="en-US" altLang="ja-JP" dirty="0"/>
              <a:t>.</a:t>
            </a:r>
            <a:r>
              <a:rPr lang="ja-JP" altLang="en-US" dirty="0"/>
              <a:t>　僕は禁酒したから、２杯も飲めないけど、我慢できないから１杯は飲むよ。</a:t>
            </a:r>
            <a:endParaRPr lang="en-US" altLang="ja-JP" dirty="0"/>
          </a:p>
          <a:p>
            <a:pPr marL="0" indent="0">
              <a:buNone/>
            </a:pPr>
            <a:endParaRPr lang="en-US" altLang="ja-JP" dirty="0"/>
          </a:p>
          <a:p>
            <a:pPr marL="0" indent="0">
              <a:buNone/>
            </a:pPr>
            <a:r>
              <a:rPr lang="ja-JP" altLang="en-US" dirty="0"/>
              <a:t>ウ</a:t>
            </a:r>
            <a:r>
              <a:rPr lang="en-US" altLang="ja-JP" dirty="0"/>
              <a:t>.</a:t>
            </a:r>
            <a:r>
              <a:rPr lang="ja-JP" altLang="en-US" dirty="0"/>
              <a:t>　僕は本当は今日も２杯飲みたいけど、お金を節約したいから、１杯にしておくよ。</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ja-JP" dirty="0">
                <a:solidFill>
                  <a:srgbClr val="00B050"/>
                </a:solidFill>
              </a:rPr>
              <a:t>a</a:t>
            </a:r>
            <a:r>
              <a:rPr lang="ja-JP" altLang="en-US" dirty="0">
                <a:solidFill>
                  <a:srgbClr val="00B050"/>
                </a:solidFill>
              </a:rPr>
              <a:t>、</a:t>
            </a:r>
            <a:r>
              <a:rPr lang="en-US" altLang="ko-KR" dirty="0">
                <a:solidFill>
                  <a:srgbClr val="00B050"/>
                </a:solidFill>
              </a:rPr>
              <a:t>b</a:t>
            </a:r>
            <a:r>
              <a:rPr lang="ja-JP" altLang="en-US" dirty="0">
                <a:solidFill>
                  <a:srgbClr val="00B050"/>
                </a:solidFill>
              </a:rPr>
              <a:t>タスクの効果</a:t>
            </a: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大筋の流れを掴むことに主眼をおき、あらましがこうだったという自分なりの仮説を断片の中のキーワードを選びながらその仮説をチェックしていく経験を持つ場を提供</a:t>
            </a:r>
            <a:endParaRPr lang="en-US" altLang="ja-JP" dirty="0"/>
          </a:p>
          <a:p>
            <a:endParaRPr lang="en-US" altLang="ko-KR" dirty="0"/>
          </a:p>
          <a:p>
            <a:r>
              <a:rPr lang="ja-JP" altLang="en-US" dirty="0"/>
              <a:t>笑い話であること、何か面白い落ちがあるはずだ、という線で読んでいく読み方を学習者に要求している。</a:t>
            </a:r>
            <a:endParaRPr lang="en-US" altLang="ko-KR" dirty="0"/>
          </a:p>
          <a:p>
            <a:endParaRPr lang="ko-KR"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lnSpcReduction="10000"/>
          </a:bodyPr>
          <a:lstStyle/>
          <a:p>
            <a:pPr>
              <a:buNone/>
            </a:pPr>
            <a:r>
              <a:rPr lang="en-US" altLang="ja-JP" dirty="0"/>
              <a:t>B.</a:t>
            </a:r>
            <a:r>
              <a:rPr lang="ja-JP" altLang="en-US" dirty="0"/>
              <a:t>　会話文について、誰が誰に言ったものか、明示しなさい。</a:t>
            </a:r>
            <a:r>
              <a:rPr lang="en-US" altLang="ja-JP" dirty="0"/>
              <a:t>(</a:t>
            </a:r>
            <a:r>
              <a:rPr lang="ja-JP" altLang="en-US" dirty="0"/>
              <a:t>ペア</a:t>
            </a:r>
            <a:r>
              <a:rPr lang="en-US" altLang="ja-JP" dirty="0"/>
              <a:t>)</a:t>
            </a:r>
          </a:p>
          <a:p>
            <a:pPr>
              <a:buNone/>
            </a:pPr>
            <a:r>
              <a:rPr lang="ja-JP" altLang="en-US" dirty="0"/>
              <a:t>　例）「何にしましょう」</a:t>
            </a:r>
            <a:endParaRPr lang="en-US" altLang="ja-JP" dirty="0"/>
          </a:p>
          <a:p>
            <a:pPr>
              <a:buNone/>
            </a:pPr>
            <a:r>
              <a:rPr lang="ja-JP" altLang="en-US" dirty="0"/>
              <a:t>　答え</a:t>
            </a:r>
            <a:r>
              <a:rPr lang="en-US" altLang="ja-JP" dirty="0"/>
              <a:t>)</a:t>
            </a:r>
            <a:r>
              <a:rPr lang="ja-JP" altLang="en-US" dirty="0"/>
              <a:t>バーテンがお客さんに</a:t>
            </a:r>
            <a:endParaRPr lang="en-US" altLang="ja-JP" dirty="0"/>
          </a:p>
          <a:p>
            <a:pPr>
              <a:buNone/>
            </a:pPr>
            <a:endParaRPr lang="en-US" altLang="ja-JP" dirty="0"/>
          </a:p>
          <a:p>
            <a:pPr>
              <a:buNone/>
            </a:pPr>
            <a:r>
              <a:rPr lang="ja-JP" altLang="en-US" dirty="0">
                <a:solidFill>
                  <a:srgbClr val="002060"/>
                </a:solidFill>
              </a:rPr>
              <a:t>タスク効果：意味を明確にする上で簡単でかつ最も重要な会話の当事者を明らかにし、話の場を再構成するもの。</a:t>
            </a:r>
            <a:endParaRPr lang="en-US" altLang="ja-JP" dirty="0">
              <a:solidFill>
                <a:srgbClr val="002060"/>
              </a:solidFill>
            </a:endParaRPr>
          </a:p>
          <a:p>
            <a:pPr>
              <a:buNone/>
            </a:pPr>
            <a:r>
              <a:rPr lang="ja-JP" altLang="en-US" dirty="0">
                <a:solidFill>
                  <a:srgbClr val="002060"/>
                </a:solidFill>
              </a:rPr>
              <a:t>　</a:t>
            </a:r>
            <a:endParaRPr lang="en-US" altLang="ja-JP" dirty="0">
              <a:solidFill>
                <a:srgbClr val="002060"/>
              </a:solidFill>
            </a:endParaRPr>
          </a:p>
          <a:p>
            <a:pPr>
              <a:buNone/>
            </a:pPr>
            <a:endParaRPr lang="en-US" altLang="ja-JP" dirty="0"/>
          </a:p>
          <a:p>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pPr marL="0" indent="0">
              <a:buNone/>
            </a:pPr>
            <a:r>
              <a:rPr lang="en-US" altLang="ja-JP" dirty="0"/>
              <a:t>C.</a:t>
            </a:r>
            <a:r>
              <a:rPr lang="ja-JP" altLang="en-US" dirty="0"/>
              <a:t>　下の本文中で、</a:t>
            </a:r>
            <a:r>
              <a:rPr lang="en-US" altLang="ja-JP" dirty="0"/>
              <a:t>O</a:t>
            </a:r>
            <a:r>
              <a:rPr lang="ja-JP" altLang="en-US" dirty="0"/>
              <a:t>のついた会話それぞれについて、なぜそう言ったのかを考えながら話し手の心の声を想像して書いてみましょう。</a:t>
            </a:r>
            <a:endParaRPr lang="en-US" altLang="ja-JP" dirty="0"/>
          </a:p>
          <a:p>
            <a:pPr>
              <a:buNone/>
            </a:pPr>
            <a:r>
              <a:rPr lang="ja-JP" altLang="en-US" dirty="0"/>
              <a:t>　（ペアになって話し合いながら）</a:t>
            </a:r>
            <a:endParaRPr lang="en-US" altLang="ja-JP" dirty="0"/>
          </a:p>
          <a:p>
            <a:pPr>
              <a:buNone/>
            </a:pPr>
            <a:r>
              <a:rPr lang="ja-JP" altLang="en-US" dirty="0"/>
              <a:t>　例</a:t>
            </a:r>
            <a:r>
              <a:rPr lang="en-US" altLang="ja-JP" dirty="0"/>
              <a:t>)</a:t>
            </a:r>
            <a:r>
              <a:rPr lang="ja-JP" altLang="en-US" dirty="0"/>
              <a:t>「ウィスキー、水割りを２杯）</a:t>
            </a:r>
            <a:endParaRPr lang="en-US" altLang="ja-JP" dirty="0"/>
          </a:p>
          <a:p>
            <a:pPr>
              <a:buNone/>
            </a:pPr>
            <a:endParaRPr lang="en-US" altLang="ja-JP" dirty="0"/>
          </a:p>
          <a:p>
            <a:pPr>
              <a:buNone/>
            </a:pPr>
            <a:r>
              <a:rPr lang="ja-JP" altLang="en-US" dirty="0">
                <a:solidFill>
                  <a:srgbClr val="002060"/>
                </a:solidFill>
              </a:rPr>
              <a:t>お客さんの男の心の声</a:t>
            </a:r>
            <a:r>
              <a:rPr lang="ja-JP" altLang="en-US" dirty="0"/>
              <a:t>：自分一人しかいないのに２杯注文したら、バーテンは「どうして２杯なんだろう」と思うだろうな。</a:t>
            </a:r>
            <a:endParaRPr lang="ko-KR"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ja-JP" dirty="0">
                <a:solidFill>
                  <a:srgbClr val="00B050"/>
                </a:solidFill>
              </a:rPr>
              <a:t>C</a:t>
            </a:r>
            <a:r>
              <a:rPr lang="ja-JP" altLang="en-US" dirty="0">
                <a:solidFill>
                  <a:srgbClr val="00B050"/>
                </a:solidFill>
              </a:rPr>
              <a:t>タスクの効果</a:t>
            </a:r>
            <a:endParaRPr lang="ko-KR" altLang="en-US" dirty="0">
              <a:solidFill>
                <a:srgbClr val="00B050"/>
              </a:solidFill>
            </a:endParaRPr>
          </a:p>
        </p:txBody>
      </p:sp>
      <p:sp>
        <p:nvSpPr>
          <p:cNvPr id="3" name="내용 개체 틀 2"/>
          <p:cNvSpPr>
            <a:spLocks noGrp="1"/>
          </p:cNvSpPr>
          <p:nvPr>
            <p:ph idx="1"/>
          </p:nvPr>
        </p:nvSpPr>
        <p:spPr/>
        <p:txBody>
          <a:bodyPr>
            <a:normAutofit lnSpcReduction="10000"/>
          </a:bodyPr>
          <a:lstStyle/>
          <a:p>
            <a:r>
              <a:rPr lang="ja-JP" altLang="en-US" dirty="0"/>
              <a:t>会話の話し手の心の声を想像してみるタスクである。話し手の気持ちをくみ取るために丁寧に読むことになる。</a:t>
            </a:r>
            <a:endParaRPr lang="en-US" altLang="ja-JP" dirty="0"/>
          </a:p>
          <a:p>
            <a:endParaRPr lang="en-US" altLang="ko-KR" dirty="0"/>
          </a:p>
          <a:p>
            <a:r>
              <a:rPr lang="ja-JP" altLang="en-US" dirty="0"/>
              <a:t>詳しく話し手の心理を分析するために読む。異なった角度から同じテキストを何度も読ませようとしている点が重要である。何度も読むことで、より豊かな深い意味を創造し味わっていこうというのである。</a:t>
            </a:r>
            <a:endParaRPr lang="ko-KR"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chemeClr val="accent6">
                    <a:lumMod val="75000"/>
                  </a:schemeClr>
                </a:solidFill>
              </a:rPr>
              <a:t>フォローアップ</a:t>
            </a:r>
            <a:endParaRPr lang="ko-KR" altLang="en-US" dirty="0">
              <a:solidFill>
                <a:schemeClr val="accent6">
                  <a:lumMod val="75000"/>
                </a:schemeClr>
              </a:solidFill>
            </a:endParaRPr>
          </a:p>
        </p:txBody>
      </p:sp>
      <p:sp>
        <p:nvSpPr>
          <p:cNvPr id="3" name="내용 개체 틀 2"/>
          <p:cNvSpPr>
            <a:spLocks noGrp="1"/>
          </p:cNvSpPr>
          <p:nvPr>
            <p:ph idx="1"/>
          </p:nvPr>
        </p:nvSpPr>
        <p:spPr/>
        <p:txBody>
          <a:bodyPr/>
          <a:lstStyle/>
          <a:p>
            <a:r>
              <a:rPr lang="ja-JP" altLang="en-US" dirty="0"/>
              <a:t>ロールプレイ（お客の男、バーテン）</a:t>
            </a:r>
            <a:endParaRPr lang="en-US" altLang="ja-JP" dirty="0"/>
          </a:p>
          <a:p>
            <a:r>
              <a:rPr lang="ja-JP" altLang="en-US" dirty="0"/>
              <a:t>テキストの会話の部分を次の条件で書き換えてみてください（ペア）</a:t>
            </a:r>
            <a:endParaRPr lang="en-US" altLang="ja-JP" dirty="0"/>
          </a:p>
          <a:p>
            <a:pPr>
              <a:buNone/>
            </a:pPr>
            <a:r>
              <a:rPr lang="ja-JP" altLang="en-US" dirty="0"/>
              <a:t>　</a:t>
            </a:r>
            <a:r>
              <a:rPr lang="en-US" altLang="ja-JP" dirty="0"/>
              <a:t>-</a:t>
            </a:r>
            <a:r>
              <a:rPr lang="ja-JP" altLang="en-US" dirty="0"/>
              <a:t>場所：レストラン</a:t>
            </a:r>
            <a:endParaRPr lang="en-US" altLang="ja-JP" dirty="0"/>
          </a:p>
          <a:p>
            <a:pPr>
              <a:buNone/>
            </a:pPr>
            <a:r>
              <a:rPr lang="ja-JP" altLang="en-US" dirty="0"/>
              <a:t>　</a:t>
            </a:r>
            <a:r>
              <a:rPr lang="en-US" altLang="ja-JP" dirty="0"/>
              <a:t>-</a:t>
            </a:r>
            <a:r>
              <a:rPr lang="ja-JP" altLang="en-US" dirty="0"/>
              <a:t>お客：痩せたいと思っている中年の男性</a:t>
            </a:r>
            <a:endParaRPr lang="en-US" altLang="ja-JP" dirty="0"/>
          </a:p>
          <a:p>
            <a:pPr>
              <a:buNone/>
            </a:pPr>
            <a:r>
              <a:rPr lang="ja-JP" altLang="en-US" dirty="0"/>
              <a:t>　</a:t>
            </a:r>
            <a:r>
              <a:rPr lang="en-US" altLang="ja-JP" dirty="0"/>
              <a:t>-</a:t>
            </a:r>
            <a:r>
              <a:rPr lang="ja-JP" altLang="en-US" dirty="0"/>
              <a:t>バーテン：若いウェイター</a:t>
            </a:r>
            <a:endParaRPr lang="en-US" altLang="ja-JP" dirty="0"/>
          </a:p>
          <a:p>
            <a:pPr>
              <a:buNone/>
            </a:pPr>
            <a:r>
              <a:rPr lang="ja-JP" altLang="en-US" dirty="0"/>
              <a:t>　</a:t>
            </a:r>
            <a:r>
              <a:rPr lang="en-US" altLang="ja-JP" dirty="0"/>
              <a:t>-</a:t>
            </a:r>
            <a:r>
              <a:rPr lang="ja-JP" altLang="en-US" dirty="0"/>
              <a:t>水割り：自分が作った料理</a:t>
            </a:r>
            <a:endParaRPr lang="en-US" altLang="ja-JP" dirty="0"/>
          </a:p>
          <a:p>
            <a:endParaRPr lang="en-US" altLang="ja-JP" dirty="0"/>
          </a:p>
          <a:p>
            <a:endParaRPr lang="ko-KR"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r>
              <a:rPr lang="ja-JP" altLang="en-US" dirty="0"/>
              <a:t>この話の面白かったところはどこだったか報告し合いましょう。まずペアで、その後その内容を全体に発表しましょう。</a:t>
            </a:r>
            <a:endParaRPr lang="en-US" altLang="ja-JP" dirty="0"/>
          </a:p>
          <a:p>
            <a:r>
              <a:rPr lang="ja-JP" altLang="en-US" dirty="0"/>
              <a:t>自分の大好きな笑い話を披露しましょう。</a:t>
            </a:r>
            <a:endParaRPr lang="en-US" altLang="ja-JP" dirty="0"/>
          </a:p>
          <a:p>
            <a:pPr>
              <a:buNone/>
            </a:pPr>
            <a:r>
              <a:rPr lang="ja-JP" altLang="en-US" dirty="0"/>
              <a:t>　（まずペアで、その後全体に）</a:t>
            </a:r>
            <a:endParaRPr lang="en-US" altLang="ja-JP" dirty="0"/>
          </a:p>
          <a:p>
            <a:pPr>
              <a:buNone/>
            </a:pPr>
            <a:endParaRPr lang="en-US" altLang="ja-JP" dirty="0"/>
          </a:p>
          <a:p>
            <a:pPr>
              <a:buNone/>
            </a:pPr>
            <a:r>
              <a:rPr lang="ja-JP" altLang="en-US" dirty="0"/>
              <a:t>⇔</a:t>
            </a:r>
            <a:r>
              <a:rPr lang="ja-JP" altLang="en-US" dirty="0">
                <a:solidFill>
                  <a:srgbClr val="002060"/>
                </a:solidFill>
              </a:rPr>
              <a:t>効果：読み手の固有の文化を表現する機会を持つことを目指す。</a:t>
            </a:r>
            <a:endParaRPr lang="en-US" altLang="ja-JP" dirty="0">
              <a:solidFill>
                <a:srgbClr val="00206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この活動を終えて自己評価をしてみましょう（一人ずつ）</a:t>
            </a:r>
            <a:endParaRPr lang="en-US" altLang="ja-JP" dirty="0"/>
          </a:p>
          <a:p>
            <a:endParaRPr lang="en-US" altLang="ja-JP" dirty="0"/>
          </a:p>
          <a:p>
            <a:pPr>
              <a:buNone/>
            </a:pPr>
            <a:r>
              <a:rPr lang="ja-JP" altLang="en-US" dirty="0"/>
              <a:t>　</a:t>
            </a:r>
            <a:r>
              <a:rPr lang="en-US" altLang="ja-JP" dirty="0"/>
              <a:t>-</a:t>
            </a:r>
            <a:r>
              <a:rPr lang="ja-JP" altLang="en-US" dirty="0"/>
              <a:t>何を（笑い話を）、何のために</a:t>
            </a:r>
            <a:r>
              <a:rPr lang="en-US" altLang="ja-JP" dirty="0"/>
              <a:t>(</a:t>
            </a:r>
            <a:r>
              <a:rPr lang="ja-JP" altLang="en-US" dirty="0"/>
              <a:t>落ちが分かるために）、どのように</a:t>
            </a:r>
            <a:r>
              <a:rPr lang="en-US" altLang="ja-JP" dirty="0"/>
              <a:t>(</a:t>
            </a:r>
            <a:r>
              <a:rPr lang="ja-JP" altLang="en-US" dirty="0"/>
              <a:t>分からない単語や文型などにこだわらずに）の３つの点を押さえて読めたかどうか、５段階評価</a:t>
            </a:r>
            <a:endParaRPr lang="ko-KR" altLang="en-US" dirty="0"/>
          </a:p>
          <a:p>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2319</TotalTime>
  <Words>1975</Words>
  <Application>Microsoft Office PowerPoint</Application>
  <PresentationFormat>화면 슬라이드 쇼(4:3)</PresentationFormat>
  <Paragraphs>166</Paragraphs>
  <Slides>27</Slides>
  <Notes>27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27</vt:i4>
      </vt:variant>
    </vt:vector>
  </HeadingPairs>
  <TitlesOfParts>
    <vt:vector size="30" baseType="lpstr">
      <vt:lpstr>맑은 고딕</vt:lpstr>
      <vt:lpstr>Arial</vt:lpstr>
      <vt:lpstr>Office 테마</vt:lpstr>
      <vt:lpstr>理解の過程をめぐる研究と現場への示唆</vt:lpstr>
      <vt:lpstr>禁酒（読解内容) 産能短期大学日本語教育研究室編（1991）『日本語を楽しく読む本・中級』産能短期大学　国際交流センター</vt:lpstr>
      <vt:lpstr>PowerPoint 프레젠테이션</vt:lpstr>
      <vt:lpstr>PowerPoint 프레젠테이션</vt:lpstr>
      <vt:lpstr>読解中心の活動</vt:lpstr>
      <vt:lpstr>先行タスク</vt:lpstr>
      <vt:lpstr>PowerPoint 프레젠테이션</vt:lpstr>
      <vt:lpstr>PowerPoint 프레젠테이션</vt:lpstr>
      <vt:lpstr>PowerPoint 프레젠테이션</vt:lpstr>
      <vt:lpstr>PowerPoint 프레젠테이션</vt:lpstr>
      <vt:lpstr>PowerPoint 프레젠테이션</vt:lpstr>
      <vt:lpstr>学習のデザイン</vt:lpstr>
      <vt:lpstr>先行タスク</vt:lpstr>
      <vt:lpstr>先行タスク</vt:lpstr>
      <vt:lpstr>PowerPoint 프레젠테이션</vt:lpstr>
      <vt:lpstr>PowerPoint 프레젠테이션</vt:lpstr>
      <vt:lpstr>PowerPoint 프레젠테이션</vt:lpstr>
      <vt:lpstr>読解そのものに関するタスク</vt:lpstr>
      <vt:lpstr>PowerPoint 프레젠테이션</vt:lpstr>
      <vt:lpstr>PowerPoint 프레젠테이션</vt:lpstr>
      <vt:lpstr>a、bタスクの効果</vt:lpstr>
      <vt:lpstr>PowerPoint 프레젠테이션</vt:lpstr>
      <vt:lpstr>PowerPoint 프레젠테이션</vt:lpstr>
      <vt:lpstr>Cタスクの効果</vt:lpstr>
      <vt:lpstr>フォローアップ</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理解（読むこと・聴くこと）の過程をめぐる研究と現場への示唆</dc:title>
  <dc:creator>user</dc:creator>
  <cp:lastModifiedBy>영남 조</cp:lastModifiedBy>
  <cp:revision>234</cp:revision>
  <dcterms:created xsi:type="dcterms:W3CDTF">2009-09-09T01:25:59Z</dcterms:created>
  <dcterms:modified xsi:type="dcterms:W3CDTF">2025-11-11T22:36:03Z</dcterms:modified>
</cp:coreProperties>
</file>