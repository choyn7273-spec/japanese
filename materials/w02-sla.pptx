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4" r:id="rId1"/>
  </p:sldMasterIdLst>
  <p:sldIdLst>
    <p:sldId id="264" r:id="rId2"/>
    <p:sldId id="265" r:id="rId3"/>
    <p:sldId id="266" r:id="rId4"/>
    <p:sldId id="327" r:id="rId5"/>
    <p:sldId id="267" r:id="rId6"/>
    <p:sldId id="268" r:id="rId7"/>
    <p:sldId id="269" r:id="rId8"/>
    <p:sldId id="324" r:id="rId9"/>
    <p:sldId id="270" r:id="rId10"/>
    <p:sldId id="271" r:id="rId11"/>
    <p:sldId id="272" r:id="rId12"/>
    <p:sldId id="325" r:id="rId13"/>
    <p:sldId id="273" r:id="rId14"/>
    <p:sldId id="326" r:id="rId15"/>
    <p:sldId id="274" r:id="rId16"/>
    <p:sldId id="275" r:id="rId17"/>
    <p:sldId id="323" r:id="rId18"/>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6" d="100"/>
          <a:sy n="106" d="100"/>
        </p:scale>
        <p:origin x="176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14" name="제목 13"/>
          <p:cNvSpPr>
            <a:spLocks noGrp="1"/>
          </p:cNvSpPr>
          <p:nvPr>
            <p:ph type="ctrTitle"/>
          </p:nvPr>
        </p:nvSpPr>
        <p:spPr>
          <a:xfrm>
            <a:off x="1432560" y="359898"/>
            <a:ext cx="7406640" cy="1472184"/>
          </a:xfrm>
        </p:spPr>
        <p:txBody>
          <a:bodyPr anchor="b"/>
          <a:lstStyle>
            <a:lvl1pPr algn="l">
              <a:defRPr/>
            </a:lvl1pPr>
            <a:extLst/>
          </a:lstStyle>
          <a:p>
            <a:r>
              <a:rPr kumimoji="0" lang="ko-KR" altLang="en-US"/>
              <a:t>마스터 제목 스타일 편집</a:t>
            </a:r>
            <a:endParaRPr kumimoji="0" lang="en-US"/>
          </a:p>
        </p:txBody>
      </p:sp>
      <p:sp>
        <p:nvSpPr>
          <p:cNvPr id="22" name="부제목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ko-KR" altLang="en-US"/>
              <a:t>마스터 부제목 스타일 편집</a:t>
            </a:r>
            <a:endParaRPr kumimoji="0" lang="en-US"/>
          </a:p>
        </p:txBody>
      </p:sp>
      <p:sp>
        <p:nvSpPr>
          <p:cNvPr id="7" name="날짜 개체 틀 6"/>
          <p:cNvSpPr>
            <a:spLocks noGrp="1"/>
          </p:cNvSpPr>
          <p:nvPr>
            <p:ph type="dt" sz="half" idx="10"/>
          </p:nvPr>
        </p:nvSpPr>
        <p:spPr/>
        <p:txBody>
          <a:bodyPr/>
          <a:lstStyle/>
          <a:p>
            <a:fld id="{22911E47-B722-4E3F-A33A-EDF002A456A6}" type="datetimeFigureOut">
              <a:rPr lang="ko-KR" altLang="en-US" smtClean="0"/>
              <a:pPr/>
              <a:t>2025-09-01</a:t>
            </a:fld>
            <a:endParaRPr lang="ko-KR" altLang="en-US"/>
          </a:p>
        </p:txBody>
      </p:sp>
      <p:sp>
        <p:nvSpPr>
          <p:cNvPr id="20" name="바닥글 개체 틀 19"/>
          <p:cNvSpPr>
            <a:spLocks noGrp="1"/>
          </p:cNvSpPr>
          <p:nvPr>
            <p:ph type="ftr" sz="quarter" idx="11"/>
          </p:nvPr>
        </p:nvSpPr>
        <p:spPr/>
        <p:txBody>
          <a:bodyPr/>
          <a:lstStyle/>
          <a:p>
            <a:endParaRPr lang="ko-KR" altLang="en-US"/>
          </a:p>
        </p:txBody>
      </p:sp>
      <p:sp>
        <p:nvSpPr>
          <p:cNvPr id="10" name="슬라이드 번호 개체 틀 9"/>
          <p:cNvSpPr>
            <a:spLocks noGrp="1"/>
          </p:cNvSpPr>
          <p:nvPr>
            <p:ph type="sldNum" sz="quarter" idx="12"/>
          </p:nvPr>
        </p:nvSpPr>
        <p:spPr/>
        <p:txBody>
          <a:bodyPr/>
          <a:lstStyle/>
          <a:p>
            <a:fld id="{DC7BC412-C3F2-462C-98C6-E9A5849470B9}" type="slidenum">
              <a:rPr lang="ko-KR" altLang="en-US" smtClean="0"/>
              <a:pPr/>
              <a:t>‹#›</a:t>
            </a:fld>
            <a:endParaRPr lang="ko-KR" altLang="en-US"/>
          </a:p>
        </p:txBody>
      </p:sp>
      <p:sp>
        <p:nvSpPr>
          <p:cNvPr id="8" name="타원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타원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0" lang="ko-KR" altLang="en-US"/>
              <a:t>마스터 제목 스타일 편집</a:t>
            </a:r>
            <a:endParaRPr kumimoji="0" lang="en-US"/>
          </a:p>
        </p:txBody>
      </p:sp>
      <p:sp>
        <p:nvSpPr>
          <p:cNvPr id="3" name="내용 개체 틀 2"/>
          <p:cNvSpPr>
            <a:spLocks noGrp="1"/>
          </p:cNvSpPr>
          <p:nvPr>
            <p:ph idx="1"/>
          </p:nvPr>
        </p:nvSpPr>
        <p:spPr/>
        <p:txBody>
          <a:bodyPr/>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4" name="날짜 개체 틀 3"/>
          <p:cNvSpPr>
            <a:spLocks noGrp="1"/>
          </p:cNvSpPr>
          <p:nvPr>
            <p:ph type="dt" sz="half" idx="10"/>
          </p:nvPr>
        </p:nvSpPr>
        <p:spPr/>
        <p:txBody>
          <a:bodyPr/>
          <a:lstStyle/>
          <a:p>
            <a:fld id="{22911E47-B722-4E3F-A33A-EDF002A456A6}" type="datetimeFigureOut">
              <a:rPr lang="ko-KR" altLang="en-US" smtClean="0"/>
              <a:pPr/>
              <a:t>2025-09-01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DC7BC412-C3F2-462C-98C6-E9A5849470B9}" type="slidenum">
              <a:rPr lang="ko-KR" altLang="en-US" smtClean="0"/>
              <a:pPr/>
              <a:t>‹#›</a:t>
            </a:fld>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구역 머리글">
    <p:spTree>
      <p:nvGrpSpPr>
        <p:cNvPr id="1" name=""/>
        <p:cNvGrpSpPr/>
        <p:nvPr/>
      </p:nvGrpSpPr>
      <p:grpSpPr>
        <a:xfrm>
          <a:off x="0" y="0"/>
          <a:ext cx="0" cy="0"/>
          <a:chOff x="0" y="0"/>
          <a:chExt cx="0" cy="0"/>
        </a:xfrm>
      </p:grpSpPr>
      <p:sp>
        <p:nvSpPr>
          <p:cNvPr id="7" name="직사각형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제목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ko-KR" altLang="en-US"/>
              <a:t>마스터 제목 스타일 편집</a:t>
            </a:r>
            <a:endParaRPr kumimoji="0" lang="en-US"/>
          </a:p>
        </p:txBody>
      </p:sp>
      <p:sp>
        <p:nvSpPr>
          <p:cNvPr id="3" name="텍스트 개체 틀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ko-KR" altLang="en-US"/>
              <a:t>마스터 텍스트 스타일을 편집합니다</a:t>
            </a:r>
          </a:p>
        </p:txBody>
      </p:sp>
      <p:sp>
        <p:nvSpPr>
          <p:cNvPr id="4" name="날짜 개체 틀 3"/>
          <p:cNvSpPr>
            <a:spLocks noGrp="1"/>
          </p:cNvSpPr>
          <p:nvPr>
            <p:ph type="dt" sz="half" idx="10"/>
          </p:nvPr>
        </p:nvSpPr>
        <p:spPr/>
        <p:txBody>
          <a:bodyPr/>
          <a:lstStyle/>
          <a:p>
            <a:fld id="{22911E47-B722-4E3F-A33A-EDF002A456A6}" type="datetimeFigureOut">
              <a:rPr lang="ko-KR" altLang="en-US" smtClean="0"/>
              <a:pPr/>
              <a:t>2025-09-01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DC7BC412-C3F2-462C-98C6-E9A5849470B9}" type="slidenum">
              <a:rPr lang="ko-KR" altLang="en-US" smtClean="0"/>
              <a:pPr/>
              <a:t>‹#›</a:t>
            </a:fld>
            <a:endParaRPr lang="ko-KR" altLang="en-US"/>
          </a:p>
        </p:txBody>
      </p:sp>
      <p:sp>
        <p:nvSpPr>
          <p:cNvPr id="10" name="직사각형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타원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타원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a:xfrm>
            <a:off x="1435608" y="274320"/>
            <a:ext cx="7498080" cy="1143000"/>
          </a:xfrm>
        </p:spPr>
        <p:txBody>
          <a:bodyPr/>
          <a:lstStyle/>
          <a:p>
            <a:r>
              <a:rPr kumimoji="0" lang="ko-KR" altLang="en-US"/>
              <a:t>마스터 제목 스타일 편집</a:t>
            </a:r>
            <a:endParaRPr kumimoji="0" lang="en-US"/>
          </a:p>
        </p:txBody>
      </p:sp>
      <p:sp>
        <p:nvSpPr>
          <p:cNvPr id="3" name="내용 개체 틀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4" name="내용 개체 틀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5" name="날짜 개체 틀 4"/>
          <p:cNvSpPr>
            <a:spLocks noGrp="1"/>
          </p:cNvSpPr>
          <p:nvPr>
            <p:ph type="dt" sz="half" idx="10"/>
          </p:nvPr>
        </p:nvSpPr>
        <p:spPr/>
        <p:txBody>
          <a:bodyPr/>
          <a:lstStyle/>
          <a:p>
            <a:fld id="{22911E47-B722-4E3F-A33A-EDF002A456A6}" type="datetimeFigureOut">
              <a:rPr lang="ko-KR" altLang="en-US" smtClean="0"/>
              <a:pPr/>
              <a:t>2025-09-01</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DC7BC412-C3F2-462C-98C6-E9A5849470B9}" type="slidenum">
              <a:rPr lang="ko-KR" altLang="en-US" smtClean="0"/>
              <a:pPr/>
              <a:t>‹#›</a:t>
            </a:fld>
            <a:endParaRPr lang="ko-KR"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ko-KR" altLang="en-US"/>
              <a:t>마스터 제목 스타일 편집</a:t>
            </a:r>
            <a:endParaRPr kumimoji="0" lang="en-US"/>
          </a:p>
        </p:txBody>
      </p:sp>
      <p:sp>
        <p:nvSpPr>
          <p:cNvPr id="3" name="텍스트 개체 틀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ko-KR" altLang="en-US"/>
              <a:t>마스터 텍스트 스타일을 편집합니다</a:t>
            </a:r>
          </a:p>
        </p:txBody>
      </p:sp>
      <p:sp>
        <p:nvSpPr>
          <p:cNvPr id="4" name="텍스트 개체 틀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ko-KR" altLang="en-US"/>
              <a:t>마스터 텍스트 스타일을 편집합니다</a:t>
            </a:r>
          </a:p>
        </p:txBody>
      </p:sp>
      <p:sp>
        <p:nvSpPr>
          <p:cNvPr id="5" name="내용 개체 틀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6" name="내용 개체 틀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7" name="날짜 개체 틀 6"/>
          <p:cNvSpPr>
            <a:spLocks noGrp="1"/>
          </p:cNvSpPr>
          <p:nvPr>
            <p:ph type="dt" sz="half" idx="10"/>
          </p:nvPr>
        </p:nvSpPr>
        <p:spPr/>
        <p:txBody>
          <a:bodyPr/>
          <a:lstStyle/>
          <a:p>
            <a:fld id="{22911E47-B722-4E3F-A33A-EDF002A456A6}" type="datetimeFigureOut">
              <a:rPr lang="ko-KR" altLang="en-US" smtClean="0"/>
              <a:pPr/>
              <a:t>2025-09-01</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DC7BC412-C3F2-462C-98C6-E9A5849470B9}" type="slidenum">
              <a:rPr lang="ko-KR" altLang="en-US" smtClean="0"/>
              <a:pPr/>
              <a:t>‹#›</a:t>
            </a:fld>
            <a:endParaRPr lang="ko-KR"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a:xfrm>
            <a:off x="1435608" y="274320"/>
            <a:ext cx="7498080" cy="1143000"/>
          </a:xfrm>
        </p:spPr>
        <p:txBody>
          <a:bodyPr anchor="ctr"/>
          <a:lstStyle/>
          <a:p>
            <a:r>
              <a:rPr kumimoji="0" lang="ko-KR" altLang="en-US"/>
              <a:t>마스터 제목 스타일 편집</a:t>
            </a:r>
            <a:endParaRPr kumimoji="0" lang="en-US"/>
          </a:p>
        </p:txBody>
      </p:sp>
      <p:sp>
        <p:nvSpPr>
          <p:cNvPr id="3" name="날짜 개체 틀 2"/>
          <p:cNvSpPr>
            <a:spLocks noGrp="1"/>
          </p:cNvSpPr>
          <p:nvPr>
            <p:ph type="dt" sz="half" idx="10"/>
          </p:nvPr>
        </p:nvSpPr>
        <p:spPr/>
        <p:txBody>
          <a:bodyPr/>
          <a:lstStyle/>
          <a:p>
            <a:fld id="{22911E47-B722-4E3F-A33A-EDF002A456A6}" type="datetimeFigureOut">
              <a:rPr lang="ko-KR" altLang="en-US" smtClean="0"/>
              <a:pPr/>
              <a:t>2025-09-01</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DC7BC412-C3F2-462C-98C6-E9A5849470B9}" type="slidenum">
              <a:rPr lang="ko-KR" altLang="en-US" smtClean="0"/>
              <a:pPr/>
              <a:t>‹#›</a:t>
            </a:fld>
            <a:endParaRPr lang="ko-KR"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빈 화면">
    <p:spTree>
      <p:nvGrpSpPr>
        <p:cNvPr id="1" name=""/>
        <p:cNvGrpSpPr/>
        <p:nvPr/>
      </p:nvGrpSpPr>
      <p:grpSpPr>
        <a:xfrm>
          <a:off x="0" y="0"/>
          <a:ext cx="0" cy="0"/>
          <a:chOff x="0" y="0"/>
          <a:chExt cx="0" cy="0"/>
        </a:xfrm>
      </p:grpSpPr>
      <p:sp>
        <p:nvSpPr>
          <p:cNvPr id="5" name="직사각형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날짜 개체 틀 1"/>
          <p:cNvSpPr>
            <a:spLocks noGrp="1"/>
          </p:cNvSpPr>
          <p:nvPr>
            <p:ph type="dt" sz="half" idx="10"/>
          </p:nvPr>
        </p:nvSpPr>
        <p:spPr/>
        <p:txBody>
          <a:bodyPr/>
          <a:lstStyle/>
          <a:p>
            <a:fld id="{22911E47-B722-4E3F-A33A-EDF002A456A6}" type="datetimeFigureOut">
              <a:rPr lang="ko-KR" altLang="en-US" smtClean="0"/>
              <a:pPr/>
              <a:t>2025-09-01</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DC7BC412-C3F2-462C-98C6-E9A5849470B9}" type="slidenum">
              <a:rPr lang="ko-KR" altLang="en-US" smtClean="0"/>
              <a:pPr/>
              <a:t>‹#›</a:t>
            </a:fld>
            <a:endParaRPr lang="ko-KR" altLang="en-US"/>
          </a:p>
        </p:txBody>
      </p:sp>
      <p:sp>
        <p:nvSpPr>
          <p:cNvPr id="6" name="직사각형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ko-KR" altLang="en-US"/>
              <a:t>마스터 제목 스타일 편집</a:t>
            </a:r>
            <a:endParaRPr kumimoji="0" lang="en-US"/>
          </a:p>
        </p:txBody>
      </p:sp>
      <p:sp>
        <p:nvSpPr>
          <p:cNvPr id="3" name="텍스트 개체 틀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ko-KR" altLang="en-US"/>
              <a:t>마스터 텍스트 스타일을 편집합니다</a:t>
            </a:r>
          </a:p>
        </p:txBody>
      </p:sp>
      <p:sp>
        <p:nvSpPr>
          <p:cNvPr id="4" name="내용 개체 틀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5" name="날짜 개체 틀 4"/>
          <p:cNvSpPr>
            <a:spLocks noGrp="1"/>
          </p:cNvSpPr>
          <p:nvPr>
            <p:ph type="dt" sz="half" idx="10"/>
          </p:nvPr>
        </p:nvSpPr>
        <p:spPr/>
        <p:txBody>
          <a:bodyPr/>
          <a:lstStyle/>
          <a:p>
            <a:fld id="{22911E47-B722-4E3F-A33A-EDF002A456A6}" type="datetimeFigureOut">
              <a:rPr lang="ko-KR" altLang="en-US" smtClean="0"/>
              <a:pPr/>
              <a:t>2025-09-01</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DC7BC412-C3F2-462C-98C6-E9A5849470B9}" type="slidenum">
              <a:rPr lang="ko-KR" altLang="en-US" smtClean="0"/>
              <a:pPr/>
              <a:t>‹#›</a:t>
            </a:fld>
            <a:endParaRPr lang="ko-KR"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ko-KR" altLang="en-US"/>
              <a:t>마스터 제목 스타일 편집</a:t>
            </a:r>
            <a:endParaRPr kumimoji="0" lang="en-US"/>
          </a:p>
        </p:txBody>
      </p:sp>
      <p:sp>
        <p:nvSpPr>
          <p:cNvPr id="5" name="날짜 개체 틀 4"/>
          <p:cNvSpPr>
            <a:spLocks noGrp="1"/>
          </p:cNvSpPr>
          <p:nvPr>
            <p:ph type="dt" sz="half" idx="10"/>
          </p:nvPr>
        </p:nvSpPr>
        <p:spPr/>
        <p:txBody>
          <a:bodyPr/>
          <a:lstStyle/>
          <a:p>
            <a:fld id="{22911E47-B722-4E3F-A33A-EDF002A456A6}" type="datetimeFigureOut">
              <a:rPr lang="ko-KR" altLang="en-US" smtClean="0"/>
              <a:pPr/>
              <a:t>2025-09-01</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DC7BC412-C3F2-462C-98C6-E9A5849470B9}" type="slidenum">
              <a:rPr lang="ko-KR" altLang="en-US" smtClean="0"/>
              <a:pPr/>
              <a:t>‹#›</a:t>
            </a:fld>
            <a:endParaRPr lang="ko-KR" altLang="en-US"/>
          </a:p>
        </p:txBody>
      </p:sp>
      <p:sp>
        <p:nvSpPr>
          <p:cNvPr id="8" name="직사각형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그림 개체 틀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ko-KR" altLang="en-US"/>
              <a:t>그림을 추가하려면 아이콘을 클릭하십시오</a:t>
            </a:r>
            <a:endParaRPr kumimoji="0" lang="en-US" dirty="0"/>
          </a:p>
        </p:txBody>
      </p:sp>
      <p:sp>
        <p:nvSpPr>
          <p:cNvPr id="9" name="순서도: 처리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순서도: 처리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텍스트 개체 틀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ko-KR" altLang="en-US"/>
              <a:t>마스터 텍스트 스타일을 편집합니다</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0" lang="ko-KR" altLang="en-US"/>
              <a:t>마스터 제목 스타일 편집</a:t>
            </a:r>
            <a:endParaRPr kumimoji="0" lang="en-US"/>
          </a:p>
        </p:txBody>
      </p:sp>
      <p:sp>
        <p:nvSpPr>
          <p:cNvPr id="3" name="세로 텍스트 개체 틀 2"/>
          <p:cNvSpPr>
            <a:spLocks noGrp="1"/>
          </p:cNvSpPr>
          <p:nvPr>
            <p:ph type="body" orient="vert" idx="1"/>
          </p:nvPr>
        </p:nvSpPr>
        <p:spPr/>
        <p:txBody>
          <a:bodyPr vert="eaVert"/>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4" name="날짜 개체 틀 3"/>
          <p:cNvSpPr>
            <a:spLocks noGrp="1"/>
          </p:cNvSpPr>
          <p:nvPr>
            <p:ph type="dt" sz="half" idx="10"/>
          </p:nvPr>
        </p:nvSpPr>
        <p:spPr/>
        <p:txBody>
          <a:bodyPr/>
          <a:lstStyle/>
          <a:p>
            <a:fld id="{22911E47-B722-4E3F-A33A-EDF002A456A6}" type="datetimeFigureOut">
              <a:rPr lang="ko-KR" altLang="en-US" smtClean="0"/>
              <a:pPr/>
              <a:t>2025-09-01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DC7BC412-C3F2-462C-98C6-E9A5849470B9}" type="slidenum">
              <a:rPr lang="ko-KR" altLang="en-US" smtClean="0"/>
              <a:pPr/>
              <a:t>‹#›</a:t>
            </a:fld>
            <a:endParaRPr lang="ko-KR"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858000" y="274639"/>
            <a:ext cx="1828800" cy="5851525"/>
          </a:xfrm>
        </p:spPr>
        <p:txBody>
          <a:bodyPr vert="eaVert"/>
          <a:lstStyle/>
          <a:p>
            <a:r>
              <a:rPr kumimoji="0" lang="ko-KR" altLang="en-US"/>
              <a:t>마스터 제목 스타일 편집</a:t>
            </a:r>
            <a:endParaRPr kumimoji="0" lang="en-US"/>
          </a:p>
        </p:txBody>
      </p:sp>
      <p:sp>
        <p:nvSpPr>
          <p:cNvPr id="3" name="세로 텍스트 개체 틀 2"/>
          <p:cNvSpPr>
            <a:spLocks noGrp="1"/>
          </p:cNvSpPr>
          <p:nvPr>
            <p:ph type="body" orient="vert" idx="1"/>
          </p:nvPr>
        </p:nvSpPr>
        <p:spPr>
          <a:xfrm>
            <a:off x="1143000" y="274640"/>
            <a:ext cx="5562600" cy="5851525"/>
          </a:xfrm>
        </p:spPr>
        <p:txBody>
          <a:bodyPr vert="eaVert"/>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4" name="날짜 개체 틀 3"/>
          <p:cNvSpPr>
            <a:spLocks noGrp="1"/>
          </p:cNvSpPr>
          <p:nvPr>
            <p:ph type="dt" sz="half" idx="10"/>
          </p:nvPr>
        </p:nvSpPr>
        <p:spPr/>
        <p:txBody>
          <a:bodyPr/>
          <a:lstStyle/>
          <a:p>
            <a:fld id="{22911E47-B722-4E3F-A33A-EDF002A456A6}" type="datetimeFigureOut">
              <a:rPr lang="ko-KR" altLang="en-US" smtClean="0"/>
              <a:pPr/>
              <a:t>2025-09-01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DC7BC412-C3F2-462C-98C6-E9A5849470B9}" type="slidenum">
              <a:rPr lang="ko-KR" altLang="en-US" smtClean="0"/>
              <a:pPr/>
              <a:t>‹#›</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원형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타원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도넛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직사각형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제목 개체 틀 4"/>
          <p:cNvSpPr>
            <a:spLocks noGrp="1"/>
          </p:cNvSpPr>
          <p:nvPr>
            <p:ph type="title"/>
          </p:nvPr>
        </p:nvSpPr>
        <p:spPr>
          <a:xfrm>
            <a:off x="1435608" y="274638"/>
            <a:ext cx="7498080" cy="1143000"/>
          </a:xfrm>
          <a:prstGeom prst="rect">
            <a:avLst/>
          </a:prstGeom>
        </p:spPr>
        <p:txBody>
          <a:bodyPr anchor="ctr">
            <a:normAutofit/>
          </a:bodyPr>
          <a:lstStyle/>
          <a:p>
            <a:r>
              <a:rPr kumimoji="0" lang="ko-KR" altLang="en-US"/>
              <a:t>마스터 제목 스타일 편집</a:t>
            </a:r>
            <a:endParaRPr kumimoji="0" lang="en-US"/>
          </a:p>
        </p:txBody>
      </p:sp>
      <p:sp>
        <p:nvSpPr>
          <p:cNvPr id="9" name="텍스트 개체 틀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ko-KR" altLang="en-US"/>
              <a:t>마스터 텍스트 스타일을 편집합니다</a:t>
            </a:r>
          </a:p>
          <a:p>
            <a:pPr lvl="1" eaLnBrk="1" latinLnBrk="0" hangingPunct="1"/>
            <a:r>
              <a:rPr kumimoji="0" lang="ko-KR" altLang="en-US"/>
              <a:t>둘째 수준</a:t>
            </a:r>
          </a:p>
          <a:p>
            <a:pPr lvl="2" eaLnBrk="1" latinLnBrk="0" hangingPunct="1"/>
            <a:r>
              <a:rPr kumimoji="0" lang="ko-KR" altLang="en-US"/>
              <a:t>셋째 수준</a:t>
            </a:r>
          </a:p>
          <a:p>
            <a:pPr lvl="3" eaLnBrk="1" latinLnBrk="0" hangingPunct="1"/>
            <a:r>
              <a:rPr kumimoji="0" lang="ko-KR" altLang="en-US"/>
              <a:t>넷째 수준</a:t>
            </a:r>
          </a:p>
          <a:p>
            <a:pPr lvl="4" eaLnBrk="1" latinLnBrk="0" hangingPunct="1"/>
            <a:r>
              <a:rPr kumimoji="0" lang="ko-KR" altLang="en-US"/>
              <a:t>다섯째 수준</a:t>
            </a:r>
            <a:endParaRPr kumimoji="0" lang="en-US"/>
          </a:p>
        </p:txBody>
      </p:sp>
      <p:sp>
        <p:nvSpPr>
          <p:cNvPr id="24" name="날짜 개체 틀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22911E47-B722-4E3F-A33A-EDF002A456A6}" type="datetimeFigureOut">
              <a:rPr lang="ko-KR" altLang="en-US" smtClean="0"/>
              <a:pPr/>
              <a:t>2025-09-01</a:t>
            </a:fld>
            <a:endParaRPr lang="ko-KR" altLang="en-US"/>
          </a:p>
        </p:txBody>
      </p:sp>
      <p:sp>
        <p:nvSpPr>
          <p:cNvPr id="10" name="바닥글 개체 틀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ko-KR" altLang="en-US"/>
          </a:p>
        </p:txBody>
      </p:sp>
      <p:sp>
        <p:nvSpPr>
          <p:cNvPr id="22" name="슬라이드 번호 개체 틀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DC7BC412-C3F2-462C-98C6-E9A5849470B9}" type="slidenum">
              <a:rPr lang="ko-KR" altLang="en-US" smtClean="0"/>
              <a:pPr/>
              <a:t>‹#›</a:t>
            </a:fld>
            <a:endParaRPr lang="ko-KR" altLang="en-US"/>
          </a:p>
        </p:txBody>
      </p:sp>
      <p:sp>
        <p:nvSpPr>
          <p:cNvPr id="15" name="직사각형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xStyles>
    <p:titleStyle>
      <a:lvl1pPr algn="l" rtl="0" eaLnBrk="1" latinLnBrk="1"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1"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1"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1"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1"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1"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1"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1"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1"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1"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1" hangingPunct="1">
        <a:defRPr kumimoji="0" kern="1200">
          <a:solidFill>
            <a:schemeClr val="tx1"/>
          </a:solidFill>
          <a:latin typeface="+mn-lt"/>
          <a:ea typeface="+mn-ea"/>
          <a:cs typeface="+mn-cs"/>
        </a:defRPr>
      </a:lvl1pPr>
      <a:lvl2pPr marL="457200" algn="l" rtl="0" eaLnBrk="1" latinLnBrk="1" hangingPunct="1">
        <a:defRPr kumimoji="0" kern="1200">
          <a:solidFill>
            <a:schemeClr val="tx1"/>
          </a:solidFill>
          <a:latin typeface="+mn-lt"/>
          <a:ea typeface="+mn-ea"/>
          <a:cs typeface="+mn-cs"/>
        </a:defRPr>
      </a:lvl2pPr>
      <a:lvl3pPr marL="914400" algn="l" rtl="0" eaLnBrk="1" latinLnBrk="1" hangingPunct="1">
        <a:defRPr kumimoji="0" kern="1200">
          <a:solidFill>
            <a:schemeClr val="tx1"/>
          </a:solidFill>
          <a:latin typeface="+mn-lt"/>
          <a:ea typeface="+mn-ea"/>
          <a:cs typeface="+mn-cs"/>
        </a:defRPr>
      </a:lvl3pPr>
      <a:lvl4pPr marL="1371600" algn="l" rtl="0" eaLnBrk="1" latinLnBrk="1" hangingPunct="1">
        <a:defRPr kumimoji="0" kern="1200">
          <a:solidFill>
            <a:schemeClr val="tx1"/>
          </a:solidFill>
          <a:latin typeface="+mn-lt"/>
          <a:ea typeface="+mn-ea"/>
          <a:cs typeface="+mn-cs"/>
        </a:defRPr>
      </a:lvl4pPr>
      <a:lvl5pPr marL="1828800" algn="l" rtl="0" eaLnBrk="1" latinLnBrk="1" hangingPunct="1">
        <a:defRPr kumimoji="0" kern="1200">
          <a:solidFill>
            <a:schemeClr val="tx1"/>
          </a:solidFill>
          <a:latin typeface="+mn-lt"/>
          <a:ea typeface="+mn-ea"/>
          <a:cs typeface="+mn-cs"/>
        </a:defRPr>
      </a:lvl5pPr>
      <a:lvl6pPr marL="2286000" algn="l" rtl="0" eaLnBrk="1" latinLnBrk="1" hangingPunct="1">
        <a:defRPr kumimoji="0" kern="1200">
          <a:solidFill>
            <a:schemeClr val="tx1"/>
          </a:solidFill>
          <a:latin typeface="+mn-lt"/>
          <a:ea typeface="+mn-ea"/>
          <a:cs typeface="+mn-cs"/>
        </a:defRPr>
      </a:lvl6pPr>
      <a:lvl7pPr marL="2743200" algn="l" rtl="0" eaLnBrk="1" latinLnBrk="1" hangingPunct="1">
        <a:defRPr kumimoji="0" kern="1200">
          <a:solidFill>
            <a:schemeClr val="tx1"/>
          </a:solidFill>
          <a:latin typeface="+mn-lt"/>
          <a:ea typeface="+mn-ea"/>
          <a:cs typeface="+mn-cs"/>
        </a:defRPr>
      </a:lvl7pPr>
      <a:lvl8pPr marL="3200400" algn="l" rtl="0" eaLnBrk="1" latinLnBrk="1" hangingPunct="1">
        <a:defRPr kumimoji="0" kern="1200">
          <a:solidFill>
            <a:schemeClr val="tx1"/>
          </a:solidFill>
          <a:latin typeface="+mn-lt"/>
          <a:ea typeface="+mn-ea"/>
          <a:cs typeface="+mn-cs"/>
        </a:defRPr>
      </a:lvl8pPr>
      <a:lvl9pPr marL="3657600" algn="l" rtl="0" eaLnBrk="1" latinLnBrk="1"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0" y="1340768"/>
            <a:ext cx="9144000" cy="1143000"/>
          </a:xfrm>
        </p:spPr>
        <p:txBody>
          <a:bodyPr>
            <a:normAutofit fontScale="90000"/>
          </a:bodyPr>
          <a:lstStyle/>
          <a:p>
            <a:r>
              <a:rPr lang="en-US" altLang="ko-KR" b="1" dirty="0"/>
              <a:t>1. </a:t>
            </a:r>
            <a:r>
              <a:rPr lang="ja-JP" altLang="en-US" b="1" dirty="0"/>
              <a:t>授業に活用できる第二言語習得の成果</a:t>
            </a:r>
            <a:endParaRPr lang="ko-KR" altLang="en-US" sz="4000" dirty="0"/>
          </a:p>
        </p:txBody>
      </p:sp>
      <p:sp>
        <p:nvSpPr>
          <p:cNvPr id="3" name="내용 개체 틀 2"/>
          <p:cNvSpPr>
            <a:spLocks noGrp="1"/>
          </p:cNvSpPr>
          <p:nvPr>
            <p:ph idx="1"/>
          </p:nvPr>
        </p:nvSpPr>
        <p:spPr>
          <a:xfrm>
            <a:off x="1043608" y="2276872"/>
            <a:ext cx="7890080" cy="3971528"/>
          </a:xfrm>
        </p:spPr>
        <p:txBody>
          <a:bodyPr/>
          <a:lstStyle/>
          <a:p>
            <a:pPr algn="ctr">
              <a:buNone/>
            </a:pPr>
            <a:endParaRPr lang="en-US" altLang="ko-KR" b="1" dirty="0"/>
          </a:p>
          <a:p>
            <a:pPr>
              <a:buNone/>
            </a:pPr>
            <a:r>
              <a:rPr lang="en-US" altLang="ko-KR" b="1" dirty="0"/>
              <a:t>(1) </a:t>
            </a:r>
            <a:r>
              <a:rPr lang="ja-JP" altLang="en-US" b="1" dirty="0"/>
              <a:t>インプット仮説（</a:t>
            </a:r>
            <a:r>
              <a:rPr lang="en-US" altLang="ko-KR" b="1" dirty="0"/>
              <a:t>Input Hypothesis</a:t>
            </a:r>
            <a:r>
              <a:rPr lang="en-US" altLang="ja-JP" b="1" dirty="0"/>
              <a:t>)</a:t>
            </a:r>
            <a:endParaRPr lang="en-US" altLang="ko-KR" b="1" dirty="0"/>
          </a:p>
          <a:p>
            <a:pPr>
              <a:buNone/>
            </a:pPr>
            <a:endParaRPr lang="en-US" altLang="ko-KR" b="1" dirty="0"/>
          </a:p>
          <a:p>
            <a:pPr>
              <a:buNone/>
            </a:pPr>
            <a:r>
              <a:rPr lang="en-US" altLang="ko-KR" b="1" dirty="0"/>
              <a:t>(2) </a:t>
            </a:r>
            <a:r>
              <a:rPr lang="ja-JP" altLang="en-US" b="1" dirty="0"/>
              <a:t>アウトプット仮説</a:t>
            </a:r>
            <a:r>
              <a:rPr lang="en-US" altLang="ja-JP" b="1" dirty="0"/>
              <a:t>(</a:t>
            </a:r>
            <a:r>
              <a:rPr lang="en-US" altLang="ko-KR" b="1" dirty="0"/>
              <a:t>Output Hypothesis</a:t>
            </a:r>
            <a:r>
              <a:rPr lang="en-US" altLang="ja-JP" b="1" dirty="0"/>
              <a:t>)</a:t>
            </a:r>
            <a:endParaRPr lang="en-US" altLang="ko-KR" dirty="0"/>
          </a:p>
          <a:p>
            <a:pPr>
              <a:buNone/>
            </a:pPr>
            <a:endParaRPr lang="en-US" altLang="ko-KR" b="1" dirty="0"/>
          </a:p>
          <a:p>
            <a:pPr>
              <a:buNone/>
            </a:pPr>
            <a:r>
              <a:rPr lang="en-US" altLang="ko-KR" b="1" dirty="0"/>
              <a:t>(3) </a:t>
            </a:r>
            <a:r>
              <a:rPr lang="ja-JP" altLang="en-US" b="1" dirty="0"/>
              <a:t>相互交渉仮説</a:t>
            </a:r>
            <a:r>
              <a:rPr lang="en-US" altLang="ko-KR" b="1" dirty="0"/>
              <a:t>(Interaction</a:t>
            </a:r>
            <a:r>
              <a:rPr lang="ja-JP" altLang="en-US" b="1" dirty="0"/>
              <a:t>　</a:t>
            </a:r>
            <a:r>
              <a:rPr lang="en-US" altLang="ko-KR" b="1" dirty="0"/>
              <a:t> Hypothesis)</a:t>
            </a:r>
            <a:endParaRPr lang="en-US" altLang="ko-KR" dirty="0"/>
          </a:p>
          <a:p>
            <a:pPr>
              <a:buNone/>
            </a:pPr>
            <a:endParaRPr lang="en-US" altLang="ko-KR" dirty="0"/>
          </a:p>
          <a:p>
            <a:endParaRPr lang="ko-KR" altLang="en-US" dirty="0"/>
          </a:p>
        </p:txBody>
      </p:sp>
      <p:sp>
        <p:nvSpPr>
          <p:cNvPr id="5" name="TextBox 4"/>
          <p:cNvSpPr txBox="1"/>
          <p:nvPr/>
        </p:nvSpPr>
        <p:spPr>
          <a:xfrm>
            <a:off x="107504" y="402839"/>
            <a:ext cx="6048672" cy="461665"/>
          </a:xfrm>
          <a:prstGeom prst="rect">
            <a:avLst/>
          </a:prstGeom>
          <a:noFill/>
        </p:spPr>
        <p:txBody>
          <a:bodyPr wrap="square" rtlCol="0">
            <a:spAutoFit/>
          </a:bodyPr>
          <a:lstStyle/>
          <a:p>
            <a:r>
              <a:rPr lang="ja-JP" altLang="en-US" sz="2400" b="1" dirty="0">
                <a:solidFill>
                  <a:srgbClr val="7030A0"/>
                </a:solidFill>
              </a:rPr>
              <a:t>日本語教科教材及び指導法（</a:t>
            </a:r>
            <a:r>
              <a:rPr lang="en-US" altLang="ja-JP" sz="2400" b="1" dirty="0">
                <a:solidFill>
                  <a:srgbClr val="7030A0"/>
                </a:solidFill>
              </a:rPr>
              <a:t>2025</a:t>
            </a:r>
            <a:r>
              <a:rPr lang="ja-JP" altLang="en-US" sz="2400" b="1" dirty="0">
                <a:solidFill>
                  <a:srgbClr val="7030A0"/>
                </a:solidFill>
              </a:rPr>
              <a:t>年後期）</a:t>
            </a:r>
            <a:endParaRPr lang="ko-KR" altLang="en-US" sz="2400" b="1" dirty="0">
              <a:solidFill>
                <a:srgbClr val="7030A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pPr algn="ctr"/>
            <a:br>
              <a:rPr lang="en-US" altLang="ko-KR" b="1" dirty="0"/>
            </a:br>
            <a:r>
              <a:rPr lang="ja-JP" altLang="en-US" b="1" dirty="0"/>
              <a:t>インプット仮説</a:t>
            </a:r>
            <a:r>
              <a:rPr lang="ko-KR" altLang="en-US" b="1" dirty="0"/>
              <a:t> </a:t>
            </a:r>
            <a:r>
              <a:rPr lang="en-US" altLang="ko-KR" b="1" dirty="0"/>
              <a:t>Input Hypothesis</a:t>
            </a:r>
            <a:br>
              <a:rPr lang="en-US" altLang="ko-KR" dirty="0"/>
            </a:br>
            <a:endParaRPr lang="ko-KR" altLang="en-US" dirty="0"/>
          </a:p>
        </p:txBody>
      </p:sp>
      <p:sp>
        <p:nvSpPr>
          <p:cNvPr id="3" name="내용 개체 틀 2"/>
          <p:cNvSpPr>
            <a:spLocks noGrp="1"/>
          </p:cNvSpPr>
          <p:nvPr>
            <p:ph idx="1"/>
          </p:nvPr>
        </p:nvSpPr>
        <p:spPr/>
        <p:txBody>
          <a:bodyPr>
            <a:normAutofit fontScale="92500" lnSpcReduction="10000"/>
          </a:bodyPr>
          <a:lstStyle/>
          <a:p>
            <a:pPr>
              <a:buNone/>
            </a:pPr>
            <a:r>
              <a:rPr lang="ko-KR" altLang="en-US" dirty="0"/>
              <a:t>①</a:t>
            </a:r>
            <a:r>
              <a:rPr lang="en-US" altLang="ko-KR" dirty="0"/>
              <a:t>1970</a:t>
            </a:r>
            <a:r>
              <a:rPr lang="ja-JP" altLang="en-US" dirty="0"/>
              <a:t>年代から</a:t>
            </a:r>
            <a:r>
              <a:rPr lang="en-US" altLang="ko-KR" dirty="0"/>
              <a:t>1980</a:t>
            </a:r>
            <a:r>
              <a:rPr lang="ja-JP" altLang="en-US" dirty="0"/>
              <a:t>年代初めにかけて第二言語習得研究に最も大きな影響を与えた学者</a:t>
            </a:r>
            <a:r>
              <a:rPr lang="en-US" altLang="ko-KR" dirty="0" err="1"/>
              <a:t>Krashen</a:t>
            </a:r>
            <a:r>
              <a:rPr lang="ja-JP" altLang="en-US" dirty="0"/>
              <a:t>の理論</a:t>
            </a:r>
            <a:endParaRPr lang="en-US" altLang="ko-KR" dirty="0"/>
          </a:p>
          <a:p>
            <a:endParaRPr lang="ko-KR" altLang="en-US" dirty="0"/>
          </a:p>
          <a:p>
            <a:pPr>
              <a:buNone/>
            </a:pPr>
            <a:r>
              <a:rPr lang="ko-KR" altLang="en-US" dirty="0"/>
              <a:t>②</a:t>
            </a:r>
            <a:r>
              <a:rPr lang="ja-JP" altLang="en-US" dirty="0"/>
              <a:t>言語習得の必要にして十分な条件は、大量の理解可能なインプット</a:t>
            </a:r>
            <a:r>
              <a:rPr lang="en-US" altLang="ko-KR" dirty="0"/>
              <a:t>(comprehensible input)</a:t>
            </a:r>
            <a:r>
              <a:rPr lang="ja-JP" altLang="en-US" dirty="0"/>
              <a:t>に接触すること</a:t>
            </a:r>
            <a:endParaRPr lang="en-US" altLang="ko-KR" dirty="0"/>
          </a:p>
          <a:p>
            <a:pPr>
              <a:buNone/>
            </a:pPr>
            <a:r>
              <a:rPr lang="ko-KR" altLang="en-US" sz="2400" dirty="0"/>
              <a:t>   입력이란 어떤 형태로든 학습자에게 들어오는 목표 언어의 정보로서</a:t>
            </a:r>
            <a:r>
              <a:rPr lang="en-US" altLang="ko-KR" sz="2400" dirty="0"/>
              <a:t>, </a:t>
            </a:r>
            <a:r>
              <a:rPr lang="ko-KR" altLang="en-US" sz="2400" dirty="0"/>
              <a:t>교사가 가르쳐 준 지식일 수도 있고 주위 사람들의 대화일 수도 있으며 </a:t>
            </a:r>
            <a:r>
              <a:rPr lang="en-US" altLang="ko-KR" sz="2400" dirty="0"/>
              <a:t>TV</a:t>
            </a:r>
            <a:r>
              <a:rPr lang="ko-KR" altLang="en-US" sz="2400" dirty="0"/>
              <a:t>나 녹음기에서 들리는 목표 언어의 대화</a:t>
            </a:r>
            <a:r>
              <a:rPr lang="en-US" altLang="ko-KR" sz="2400" dirty="0"/>
              <a:t>, </a:t>
            </a:r>
            <a:r>
              <a:rPr lang="ko-KR" altLang="en-US" sz="2400" dirty="0"/>
              <a:t>읽은 책이나 신문의 내용 등이 여기에 포함된다</a:t>
            </a:r>
            <a:r>
              <a:rPr lang="en-US" altLang="ko-KR" sz="2400" dirty="0"/>
              <a:t>. </a:t>
            </a:r>
          </a:p>
          <a:p>
            <a:pPr>
              <a:buNone/>
            </a:pPr>
            <a:endParaRPr lang="ko-KR" altLang="en-US" dirty="0"/>
          </a:p>
          <a:p>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fontScale="92500" lnSpcReduction="10000"/>
          </a:bodyPr>
          <a:lstStyle/>
          <a:p>
            <a:pPr>
              <a:buNone/>
            </a:pPr>
            <a:r>
              <a:rPr lang="ko-KR" altLang="en-US" dirty="0"/>
              <a:t>③</a:t>
            </a:r>
            <a:r>
              <a:rPr lang="ja-JP" altLang="en-US" dirty="0"/>
              <a:t>理解不可能なインプットとは、聞いたり読んだりしても理解できないほど難しいインプットで、学習者には雑音にしか聞こえず、習得につながらない</a:t>
            </a:r>
            <a:endParaRPr lang="en-US" altLang="ko-KR" dirty="0"/>
          </a:p>
          <a:p>
            <a:pPr>
              <a:buNone/>
            </a:pPr>
            <a:r>
              <a:rPr lang="en-US" altLang="ko-KR" dirty="0"/>
              <a:t>④</a:t>
            </a:r>
            <a:r>
              <a:rPr lang="ja-JP" altLang="en-US" dirty="0"/>
              <a:t>理解可能なインプットとは、学習者のその段階では分からない文法構造や語彙を含むが、前後の文脈、発話のコンテクスト、背景知識、既有の言語知識などの利用によって、意味が理解できる言語資料、それを</a:t>
            </a:r>
            <a:r>
              <a:rPr lang="en-US" altLang="ko-KR" dirty="0"/>
              <a:t>&lt;</a:t>
            </a:r>
            <a:r>
              <a:rPr lang="en-US" altLang="ko-KR" dirty="0">
                <a:highlight>
                  <a:srgbClr val="FFFF00"/>
                </a:highlight>
              </a:rPr>
              <a:t>i+1</a:t>
            </a:r>
            <a:r>
              <a:rPr lang="en-US" altLang="ko-KR" dirty="0"/>
              <a:t>&gt;</a:t>
            </a:r>
            <a:r>
              <a:rPr lang="en-US" altLang="ja-JP" dirty="0"/>
              <a:t>(</a:t>
            </a:r>
            <a:r>
              <a:rPr lang="ja-JP" altLang="en-US" dirty="0"/>
              <a:t>アイ・プラス・ワン、</a:t>
            </a:r>
            <a:r>
              <a:rPr lang="en-US" altLang="ko-KR" dirty="0">
                <a:highlight>
                  <a:srgbClr val="FFFF00"/>
                </a:highlight>
              </a:rPr>
              <a:t> </a:t>
            </a:r>
            <a:r>
              <a:rPr lang="en-US" altLang="ko-KR" dirty="0" err="1">
                <a:highlight>
                  <a:srgbClr val="FFFF00"/>
                </a:highlight>
              </a:rPr>
              <a:t>i</a:t>
            </a:r>
            <a:r>
              <a:rPr lang="ja-JP" altLang="en-US" dirty="0">
                <a:highlight>
                  <a:srgbClr val="FFFF00"/>
                </a:highlight>
              </a:rPr>
              <a:t>：</a:t>
            </a:r>
            <a:r>
              <a:rPr lang="ja-JP" altLang="en-US" dirty="0"/>
              <a:t>現在の学習者自身の能力、</a:t>
            </a:r>
            <a:r>
              <a:rPr lang="en-US" altLang="ko-KR" dirty="0">
                <a:highlight>
                  <a:srgbClr val="FFFF00"/>
                </a:highlight>
              </a:rPr>
              <a:t> 1</a:t>
            </a:r>
            <a:r>
              <a:rPr lang="ja-JP" altLang="en-US" dirty="0">
                <a:highlight>
                  <a:srgbClr val="FFFF00"/>
                </a:highlight>
              </a:rPr>
              <a:t>：</a:t>
            </a:r>
            <a:r>
              <a:rPr lang="ja-JP" altLang="en-US" dirty="0"/>
              <a:t>少し難しい言葉）</a:t>
            </a:r>
            <a:endParaRPr lang="en-US" altLang="ja-JP" dirty="0"/>
          </a:p>
          <a:p>
            <a:pPr>
              <a:buNone/>
            </a:pPr>
            <a:endParaRPr lang="en-US" altLang="ko-KR" dirty="0"/>
          </a:p>
          <a:p>
            <a:endParaRPr lang="ko-KR"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algn="ctr"/>
            <a:r>
              <a:rPr lang="ja-JP" altLang="en-US" dirty="0"/>
              <a:t>タスク</a:t>
            </a:r>
            <a:endParaRPr lang="ko-KR" altLang="en-US" dirty="0"/>
          </a:p>
        </p:txBody>
      </p:sp>
      <p:sp>
        <p:nvSpPr>
          <p:cNvPr id="3" name="내용 개체 틀 2"/>
          <p:cNvSpPr>
            <a:spLocks noGrp="1"/>
          </p:cNvSpPr>
          <p:nvPr>
            <p:ph idx="1"/>
          </p:nvPr>
        </p:nvSpPr>
        <p:spPr/>
        <p:txBody>
          <a:bodyPr/>
          <a:lstStyle/>
          <a:p>
            <a:endParaRPr lang="en-US" altLang="ko-KR" dirty="0"/>
          </a:p>
          <a:p>
            <a:endParaRPr lang="en-US" altLang="ko-KR" dirty="0"/>
          </a:p>
          <a:p>
            <a:r>
              <a:rPr lang="ja-JP" altLang="en-US" dirty="0"/>
              <a:t>みなさんにとって 「</a:t>
            </a:r>
            <a:r>
              <a:rPr lang="en-US" altLang="ja-JP" dirty="0"/>
              <a:t>i</a:t>
            </a:r>
            <a:r>
              <a:rPr lang="ja-JP" altLang="en-US" dirty="0"/>
              <a:t>＋１」の外国語の</a:t>
            </a:r>
            <a:endParaRPr lang="en-US" altLang="ja-JP" dirty="0"/>
          </a:p>
          <a:p>
            <a:pPr marL="82296" indent="0">
              <a:buNone/>
            </a:pPr>
            <a:r>
              <a:rPr lang="ja-JP" altLang="en-US" dirty="0"/>
              <a:t>インプット資料は何ですか。</a:t>
            </a:r>
            <a:endParaRPr lang="ko-KR" altLang="en-US" dirty="0"/>
          </a:p>
        </p:txBody>
      </p:sp>
    </p:spTree>
    <p:extLst>
      <p:ext uri="{BB962C8B-B14F-4D97-AF65-F5344CB8AC3E}">
        <p14:creationId xmlns:p14="http://schemas.microsoft.com/office/powerpoint/2010/main" val="4284039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a:bodyPr>
          <a:lstStyle/>
          <a:p>
            <a:pPr>
              <a:buNone/>
            </a:pPr>
            <a:r>
              <a:rPr lang="en-US" altLang="ko-KR" dirty="0"/>
              <a:t>⑤</a:t>
            </a:r>
            <a:r>
              <a:rPr lang="ja-JP" altLang="en-US" dirty="0"/>
              <a:t>習得を促進するためには言語の産出重視</a:t>
            </a:r>
            <a:r>
              <a:rPr lang="en-US" altLang="ja-JP" dirty="0"/>
              <a:t>(</a:t>
            </a:r>
            <a:r>
              <a:rPr lang="ja-JP" altLang="en-US" dirty="0"/>
              <a:t>話す・書く）ではなく、言語の理解、しかも文法的な理解ではなく、意味的な理解を重視する学習が必要</a:t>
            </a:r>
            <a:endParaRPr lang="en-US" altLang="ko-KR" dirty="0"/>
          </a:p>
          <a:p>
            <a:pPr>
              <a:buNone/>
            </a:pPr>
            <a:endParaRPr lang="en-US" altLang="ko-KR" dirty="0"/>
          </a:p>
          <a:p>
            <a:pPr>
              <a:buNone/>
            </a:pPr>
            <a:r>
              <a:rPr lang="ko-KR" altLang="en-US" dirty="0"/>
              <a:t>⑥</a:t>
            </a:r>
            <a:r>
              <a:rPr lang="ja-JP" altLang="en-US" dirty="0"/>
              <a:t>目標言語のサンプルの意味的理解を蓄積することを通して言語能力が養成され、その結果として話せるようになるのであって、その逆ではない。</a:t>
            </a:r>
            <a:endParaRPr lang="ko-KR"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pPr>
              <a:buNone/>
            </a:pPr>
            <a:r>
              <a:rPr lang="ja-JP" altLang="en-US" dirty="0"/>
              <a:t>⑦望ましい言語学習は、通常考えられているような</a:t>
            </a:r>
            <a:endParaRPr lang="ko-KR" altLang="en-US" dirty="0"/>
          </a:p>
          <a:p>
            <a:pPr>
              <a:buNone/>
            </a:pPr>
            <a:r>
              <a:rPr lang="ja-JP" altLang="en-US" dirty="0"/>
              <a:t>　</a:t>
            </a:r>
            <a:r>
              <a:rPr lang="en-US" altLang="ko-KR" dirty="0"/>
              <a:t>[</a:t>
            </a:r>
            <a:r>
              <a:rPr lang="ja-JP" altLang="en-US" dirty="0"/>
              <a:t>明示的な説明による文法や文型の理解</a:t>
            </a:r>
            <a:r>
              <a:rPr lang="en-US" altLang="ko-KR" dirty="0"/>
              <a:t>—</a:t>
            </a:r>
            <a:r>
              <a:rPr lang="ja-JP" altLang="en-US" dirty="0"/>
              <a:t>口頭による文型練習の繰り返し</a:t>
            </a:r>
            <a:r>
              <a:rPr lang="en-US" altLang="ko-KR" dirty="0"/>
              <a:t>—</a:t>
            </a:r>
            <a:r>
              <a:rPr lang="ja-JP" altLang="en-US" dirty="0"/>
              <a:t>言語能力の獲得</a:t>
            </a:r>
            <a:r>
              <a:rPr lang="en-US" altLang="ko-KR" dirty="0"/>
              <a:t>]</a:t>
            </a:r>
            <a:r>
              <a:rPr lang="ja-JP" altLang="en-US" dirty="0"/>
              <a:t>　ではない。</a:t>
            </a:r>
            <a:endParaRPr lang="ko-KR" altLang="en-US" dirty="0"/>
          </a:p>
          <a:p>
            <a:endParaRPr lang="ko-KR"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a:bodyPr>
          <a:lstStyle/>
          <a:p>
            <a:pPr>
              <a:buNone/>
            </a:pPr>
            <a:r>
              <a:rPr lang="ja-JP" altLang="en-US" dirty="0"/>
              <a:t>⑧習得・学習の関係</a:t>
            </a:r>
            <a:endParaRPr lang="ko-KR" altLang="en-US" dirty="0"/>
          </a:p>
          <a:p>
            <a:pPr>
              <a:buNone/>
            </a:pPr>
            <a:r>
              <a:rPr lang="en-US" altLang="ko-KR" dirty="0"/>
              <a:t>a. </a:t>
            </a:r>
            <a:r>
              <a:rPr lang="ja-JP" altLang="en-US" dirty="0"/>
              <a:t>クラッシェンは、無意識のうちになされるものを「習得」</a:t>
            </a:r>
            <a:r>
              <a:rPr lang="en-US" altLang="ko-KR" dirty="0"/>
              <a:t>(acquisition)</a:t>
            </a:r>
            <a:r>
              <a:rPr lang="ja-JP" altLang="en-US" dirty="0"/>
              <a:t>、意識的になされるものを学習</a:t>
            </a:r>
            <a:r>
              <a:rPr lang="en-US" altLang="ja-JP" dirty="0"/>
              <a:t>(</a:t>
            </a:r>
            <a:r>
              <a:rPr lang="en-US" altLang="ko-KR" dirty="0"/>
              <a:t>learning)</a:t>
            </a:r>
            <a:r>
              <a:rPr lang="ja-JP" altLang="en-US" dirty="0"/>
              <a:t>として厳密に区別し、両者の間の交流を完全に否定する。</a:t>
            </a:r>
            <a:endParaRPr lang="ko-KR" altLang="en-US" dirty="0"/>
          </a:p>
          <a:p>
            <a:pPr>
              <a:buNone/>
            </a:pPr>
            <a:r>
              <a:rPr lang="en-US" altLang="ko-KR" dirty="0"/>
              <a:t>b. </a:t>
            </a:r>
            <a:r>
              <a:rPr lang="ja-JP" altLang="en-US" dirty="0"/>
              <a:t>いくら学習しても、そこで獲得したものは、言語知識にとどまり、言語使用時に発動される言語能力にはならないという。</a:t>
            </a:r>
            <a:endParaRPr lang="en-US" altLang="ja-JP" dirty="0"/>
          </a:p>
          <a:p>
            <a:pPr>
              <a:buNone/>
            </a:pPr>
            <a:endParaRPr lang="ko-KR"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t>タスク</a:t>
            </a:r>
            <a:endParaRPr lang="ko-KR" altLang="en-US" dirty="0"/>
          </a:p>
        </p:txBody>
      </p:sp>
      <p:sp>
        <p:nvSpPr>
          <p:cNvPr id="3" name="내용 개체 틀 2"/>
          <p:cNvSpPr>
            <a:spLocks noGrp="1"/>
          </p:cNvSpPr>
          <p:nvPr>
            <p:ph idx="1"/>
          </p:nvPr>
        </p:nvSpPr>
        <p:spPr/>
        <p:txBody>
          <a:bodyPr/>
          <a:lstStyle/>
          <a:p>
            <a:r>
              <a:rPr lang="ja-JP" altLang="en-US" dirty="0"/>
              <a:t>学習と習得の関係について議論してみましょう。（学習の役割は何でしょうか）</a:t>
            </a:r>
            <a:endParaRPr lang="en-US" altLang="ja-JP" dirty="0"/>
          </a:p>
          <a:p>
            <a:endParaRPr lang="en-US" altLang="ko-KR" dirty="0"/>
          </a:p>
          <a:p>
            <a:r>
              <a:rPr lang="ja-JP" altLang="en-US" dirty="0"/>
              <a:t>インプット仮説に賛成ですか。反対ですか。</a:t>
            </a:r>
            <a:endParaRPr lang="ko-KR"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1435608" y="274638"/>
            <a:ext cx="7708392" cy="1143000"/>
          </a:xfrm>
        </p:spPr>
        <p:txBody>
          <a:bodyPr>
            <a:normAutofit fontScale="90000"/>
          </a:bodyPr>
          <a:lstStyle/>
          <a:p>
            <a:pPr algn="ctr"/>
            <a:r>
              <a:rPr lang="ja-JP" altLang="en-US" b="1" dirty="0"/>
              <a:t>アウトプット仮説</a:t>
            </a:r>
            <a:br>
              <a:rPr lang="en-US" altLang="ja-JP" b="1" dirty="0"/>
            </a:br>
            <a:r>
              <a:rPr lang="ko-KR" altLang="en-US" b="1" dirty="0"/>
              <a:t> </a:t>
            </a:r>
            <a:r>
              <a:rPr lang="en-US" altLang="ko-KR" b="1" dirty="0"/>
              <a:t>Output Hypothesis</a:t>
            </a:r>
            <a:endParaRPr lang="ko-KR" altLang="en-US" dirty="0"/>
          </a:p>
        </p:txBody>
      </p:sp>
      <p:sp>
        <p:nvSpPr>
          <p:cNvPr id="3" name="내용 개체 틀 2"/>
          <p:cNvSpPr>
            <a:spLocks noGrp="1"/>
          </p:cNvSpPr>
          <p:nvPr>
            <p:ph idx="1"/>
          </p:nvPr>
        </p:nvSpPr>
        <p:spPr>
          <a:xfrm>
            <a:off x="1043608" y="1447800"/>
            <a:ext cx="8100392" cy="4800600"/>
          </a:xfrm>
        </p:spPr>
        <p:txBody>
          <a:bodyPr>
            <a:normAutofit fontScale="92500" lnSpcReduction="10000"/>
          </a:bodyPr>
          <a:lstStyle/>
          <a:p>
            <a:r>
              <a:rPr lang="ja-JP" altLang="en-US" dirty="0"/>
              <a:t>言語習得における理解可能なインプットの重要性は認めつつも、それは言語習得の必要条件であってもクラッシェンの主張するような十分条件ではあり得ないと批判し、言語習得の十分条件として言語の産出に注目する考えが現れた。</a:t>
            </a:r>
            <a:r>
              <a:rPr lang="en-US" altLang="ko-KR" dirty="0"/>
              <a:t>(Swain,1985)</a:t>
            </a:r>
          </a:p>
          <a:p>
            <a:endParaRPr lang="en-US" altLang="ko-KR" dirty="0"/>
          </a:p>
          <a:p>
            <a:pPr>
              <a:buNone/>
            </a:pPr>
            <a:r>
              <a:rPr lang="en-US" altLang="ko-KR" dirty="0"/>
              <a:t>①</a:t>
            </a:r>
            <a:r>
              <a:rPr lang="ja-JP" altLang="en-US" dirty="0"/>
              <a:t>カナダのフランス語イマーションプログラムが成功しないケース</a:t>
            </a:r>
            <a:r>
              <a:rPr lang="en-US" altLang="ja-JP" dirty="0"/>
              <a:t>(</a:t>
            </a:r>
            <a:r>
              <a:rPr lang="ja-JP" altLang="en-US" dirty="0"/>
              <a:t>英語を母語とする子供たちが幼稚園から７年間フランス語教育を受けたが、フランス語能力は予想に反して低い）</a:t>
            </a:r>
            <a:endParaRPr lang="ko-KR" altLang="en-US" dirty="0"/>
          </a:p>
          <a:p>
            <a:endParaRPr lang="ko-KR"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fontScale="92500" lnSpcReduction="20000"/>
          </a:bodyPr>
          <a:lstStyle/>
          <a:p>
            <a:pPr>
              <a:buNone/>
            </a:pPr>
            <a:r>
              <a:rPr lang="en-US" altLang="ko-KR" dirty="0"/>
              <a:t>a. </a:t>
            </a:r>
            <a:r>
              <a:rPr lang="ja-JP" altLang="en-US" dirty="0"/>
              <a:t>「イマーションプログラムで理解可能なインプットを十分に受けていたにもかかわらずフランス語母語話者なみのフランス語能力が獲得できない」のは、理解可能なインプットのみでは言語習得が説明できないことを示していると考えた。</a:t>
            </a:r>
            <a:endParaRPr lang="ko-KR" altLang="en-US" dirty="0"/>
          </a:p>
          <a:p>
            <a:pPr>
              <a:buNone/>
            </a:pPr>
            <a:r>
              <a:rPr lang="en-US" altLang="ko-KR" dirty="0"/>
              <a:t>b. </a:t>
            </a:r>
            <a:r>
              <a:rPr lang="ja-JP" altLang="en-US" dirty="0"/>
              <a:t>外から正しい発話を強制された結果、相手が意味を理解できるだけでなく、文法的にも正確に語用論的にも適切になるように、学習者によって修正された発話を「理解可能なアウトプット」に至る過程が言語習得において不可欠であると主張。</a:t>
            </a:r>
            <a:endParaRPr lang="ko-KR" altLang="en-US" dirty="0"/>
          </a:p>
          <a:p>
            <a:endParaRPr lang="ko-KR"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a:xfrm>
            <a:off x="1259632" y="1447800"/>
            <a:ext cx="7674056" cy="4800600"/>
          </a:xfrm>
        </p:spPr>
        <p:txBody>
          <a:bodyPr>
            <a:normAutofit/>
          </a:bodyPr>
          <a:lstStyle/>
          <a:p>
            <a:pPr>
              <a:buNone/>
            </a:pPr>
            <a:r>
              <a:rPr lang="ko-KR" altLang="en-US" dirty="0"/>
              <a:t>②</a:t>
            </a:r>
            <a:r>
              <a:rPr lang="ja-JP" altLang="en-US" dirty="0"/>
              <a:t>アウトプットの役割</a:t>
            </a:r>
            <a:endParaRPr lang="ko-KR" altLang="en-US" dirty="0"/>
          </a:p>
          <a:p>
            <a:pPr>
              <a:buNone/>
            </a:pPr>
            <a:r>
              <a:rPr lang="en-US" altLang="ko-KR" dirty="0"/>
              <a:t>  a. </a:t>
            </a:r>
            <a:r>
              <a:rPr lang="ja-JP" altLang="en-US" dirty="0"/>
              <a:t>意味的理解の段階から統語的理解の段階へと言語習得を進める。</a:t>
            </a:r>
            <a:endParaRPr lang="ko-KR" altLang="en-US" dirty="0"/>
          </a:p>
          <a:p>
            <a:pPr>
              <a:buNone/>
            </a:pPr>
            <a:r>
              <a:rPr lang="en-US" altLang="ko-KR" dirty="0"/>
              <a:t>  b. </a:t>
            </a:r>
            <a:r>
              <a:rPr lang="ja-JP" altLang="en-US" dirty="0"/>
              <a:t>言えることと言いたいこととの間のギャップに気づかせることができる。</a:t>
            </a:r>
            <a:endParaRPr lang="ko-KR" altLang="en-US" dirty="0"/>
          </a:p>
          <a:p>
            <a:pPr>
              <a:buNone/>
            </a:pPr>
            <a:r>
              <a:rPr lang="en-US" altLang="ko-KR" dirty="0"/>
              <a:t>  c. </a:t>
            </a:r>
            <a:r>
              <a:rPr lang="ja-JP" altLang="en-US" dirty="0"/>
              <a:t>言語の正しさや適切さについての自分の仮説を検証させることができる。</a:t>
            </a:r>
            <a:endParaRPr lang="ko-KR" altLang="en-US" dirty="0"/>
          </a:p>
          <a:p>
            <a:endParaRPr lang="ko-KR"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t>タスク</a:t>
            </a:r>
            <a:endParaRPr lang="ko-KR" altLang="en-US" dirty="0"/>
          </a:p>
        </p:txBody>
      </p:sp>
      <p:sp>
        <p:nvSpPr>
          <p:cNvPr id="3" name="내용 개체 틀 2"/>
          <p:cNvSpPr>
            <a:spLocks noGrp="1"/>
          </p:cNvSpPr>
          <p:nvPr>
            <p:ph idx="1"/>
          </p:nvPr>
        </p:nvSpPr>
        <p:spPr/>
        <p:txBody>
          <a:bodyPr/>
          <a:lstStyle/>
          <a:p>
            <a:r>
              <a:rPr lang="ja-JP" altLang="en-US" dirty="0"/>
              <a:t>アウトプット仮説に賛成ですか。インプット仮</a:t>
            </a:r>
            <a:r>
              <a:rPr lang="ja-JP" altLang="en-US"/>
              <a:t>説との関</a:t>
            </a:r>
            <a:r>
              <a:rPr lang="ja-JP" altLang="en-US" dirty="0"/>
              <a:t>わりで討論してみましょう。</a:t>
            </a:r>
            <a:endParaRPr lang="ko-KR"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ja-JP" altLang="en-US" b="1" dirty="0"/>
              <a:t>相互交渉仮説</a:t>
            </a:r>
            <a:br>
              <a:rPr lang="en-US" altLang="ja-JP" b="1" dirty="0"/>
            </a:br>
            <a:r>
              <a:rPr lang="en-US" altLang="ko-KR" b="1" dirty="0"/>
              <a:t>(</a:t>
            </a:r>
            <a:r>
              <a:rPr lang="en-US" altLang="ja-JP" b="1" dirty="0"/>
              <a:t>I</a:t>
            </a:r>
            <a:r>
              <a:rPr lang="en-US" altLang="ko-KR" b="1" dirty="0"/>
              <a:t>nteraction Hypothesis)</a:t>
            </a:r>
            <a:endParaRPr lang="ko-KR" altLang="en-US" dirty="0"/>
          </a:p>
        </p:txBody>
      </p:sp>
      <p:sp>
        <p:nvSpPr>
          <p:cNvPr id="3" name="내용 개체 틀 2"/>
          <p:cNvSpPr>
            <a:spLocks noGrp="1"/>
          </p:cNvSpPr>
          <p:nvPr>
            <p:ph idx="1"/>
          </p:nvPr>
        </p:nvSpPr>
        <p:spPr/>
        <p:txBody>
          <a:bodyPr>
            <a:normAutofit fontScale="92500" lnSpcReduction="20000"/>
          </a:bodyPr>
          <a:lstStyle/>
          <a:p>
            <a:pPr>
              <a:buNone/>
            </a:pPr>
            <a:r>
              <a:rPr lang="ko-KR" altLang="en-US" dirty="0"/>
              <a:t>①</a:t>
            </a:r>
            <a:r>
              <a:rPr lang="ja-JP" altLang="en-US" dirty="0"/>
              <a:t>学習者と母語話者の間におけるやりとり自体を重視する考え方、特に母語話者が学習者の反応を見極めながら自分の発話を修正し、その結果として最初は理解不能であったものが、ついには理解可能になるという経過をたどった場合に限る。</a:t>
            </a:r>
            <a:r>
              <a:rPr lang="ko-KR" altLang="en-US" dirty="0"/>
              <a:t> </a:t>
            </a:r>
            <a:r>
              <a:rPr lang="en-US" altLang="ko-KR" dirty="0"/>
              <a:t>(Long </a:t>
            </a:r>
            <a:r>
              <a:rPr lang="en-US" altLang="ja-JP" dirty="0"/>
              <a:t>1985</a:t>
            </a:r>
            <a:r>
              <a:rPr lang="en-US" altLang="ko-KR" dirty="0"/>
              <a:t>). </a:t>
            </a:r>
          </a:p>
          <a:p>
            <a:pPr>
              <a:buNone/>
            </a:pPr>
            <a:endParaRPr lang="en-US" altLang="ko-KR" dirty="0"/>
          </a:p>
          <a:p>
            <a:pPr>
              <a:buNone/>
            </a:pPr>
            <a:r>
              <a:rPr lang="en-US" altLang="ko-KR" dirty="0"/>
              <a:t>②</a:t>
            </a:r>
            <a:r>
              <a:rPr lang="ja-JP" altLang="en-US" dirty="0"/>
              <a:t>母語話者との間で言語を使ってやりとりをする相互交渉を繰り返すことによって、非母語話者は母語話者からのインプットを自分にとってより理解可能なものに作り変える。</a:t>
            </a:r>
            <a:endParaRPr lang="ko-KR"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lnSpcReduction="10000"/>
          </a:bodyPr>
          <a:lstStyle/>
          <a:p>
            <a:pPr>
              <a:buNone/>
            </a:pPr>
            <a:r>
              <a:rPr lang="ko-KR" altLang="en-US" dirty="0"/>
              <a:t>③</a:t>
            </a:r>
            <a:r>
              <a:rPr lang="ja-JP" altLang="en-US" dirty="0"/>
              <a:t>母語話者と非母語話者の間で交わされるやりとりを意味交渉と呼び、この意味交渉の過程では母語話者だけでなく非母語話者も自らの発話を修正する点が注目され、言語習得の促進要因として考えられるようになった</a:t>
            </a:r>
            <a:r>
              <a:rPr lang="en-US" altLang="ja-JP" dirty="0"/>
              <a:t>(Pica1994b; Long 1996)</a:t>
            </a:r>
          </a:p>
          <a:p>
            <a:pPr>
              <a:buNone/>
            </a:pPr>
            <a:r>
              <a:rPr lang="en-US" altLang="ko-KR" dirty="0"/>
              <a:t>④</a:t>
            </a:r>
            <a:r>
              <a:rPr lang="ja-JP" altLang="en-US" dirty="0"/>
              <a:t>相互交渉におけるインプット、アウトプットの両方が言語習得の促進要因として重視されるようになった。</a:t>
            </a:r>
            <a:endParaRPr lang="ko-KR"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a:xfrm>
            <a:off x="1435608" y="1484784"/>
            <a:ext cx="7498080" cy="4763616"/>
          </a:xfrm>
        </p:spPr>
        <p:txBody>
          <a:bodyPr>
            <a:normAutofit fontScale="70000" lnSpcReduction="20000"/>
          </a:bodyPr>
          <a:lstStyle/>
          <a:p>
            <a:pPr>
              <a:buNone/>
            </a:pPr>
            <a:r>
              <a:rPr lang="en-US" altLang="ko-KR" sz="4600" dirty="0"/>
              <a:t>⑤</a:t>
            </a:r>
            <a:r>
              <a:rPr lang="ja-JP" altLang="en-US" sz="4600" dirty="0"/>
              <a:t>意味交渉の例</a:t>
            </a:r>
            <a:endParaRPr lang="en-US" altLang="ja-JP" sz="4600" dirty="0"/>
          </a:p>
          <a:p>
            <a:pPr>
              <a:buNone/>
            </a:pPr>
            <a:endParaRPr lang="ja-JP" altLang="en-US" dirty="0"/>
          </a:p>
          <a:p>
            <a:pPr>
              <a:buNone/>
            </a:pPr>
            <a:r>
              <a:rPr lang="ja-JP" altLang="en-US" dirty="0"/>
              <a:t>日本人</a:t>
            </a:r>
            <a:r>
              <a:rPr lang="en-US" altLang="ja-JP" dirty="0"/>
              <a:t>: </a:t>
            </a:r>
            <a:r>
              <a:rPr lang="ja-JP" altLang="en-US" dirty="0"/>
              <a:t>あのー住んだのはオーストラリアとドイツとどちらが長</a:t>
            </a:r>
            <a:endParaRPr lang="en-US" altLang="ja-JP" dirty="0"/>
          </a:p>
          <a:p>
            <a:pPr>
              <a:buNone/>
            </a:pPr>
            <a:r>
              <a:rPr lang="en-US" altLang="ja-JP" dirty="0"/>
              <a:t>           </a:t>
            </a:r>
            <a:r>
              <a:rPr lang="ja-JP" altLang="en-US" dirty="0"/>
              <a:t>いですか↑</a:t>
            </a:r>
          </a:p>
          <a:p>
            <a:pPr>
              <a:buNone/>
            </a:pPr>
            <a:r>
              <a:rPr lang="ja-JP" altLang="en-US" dirty="0"/>
              <a:t>学習者</a:t>
            </a:r>
            <a:r>
              <a:rPr lang="en-US" altLang="ja-JP" dirty="0"/>
              <a:t>: ······</a:t>
            </a:r>
            <a:r>
              <a:rPr lang="ja-JP" altLang="en-US" u="sng" dirty="0"/>
              <a:t>うーん</a:t>
            </a:r>
            <a:r>
              <a:rPr lang="en-US" altLang="ja-JP" u="sng" dirty="0"/>
              <a:t>······</a:t>
            </a:r>
            <a:r>
              <a:rPr lang="ja-JP" altLang="en-US" u="sng" dirty="0"/>
              <a:t>ながい　ちがい　ちがい</a:t>
            </a:r>
            <a:r>
              <a:rPr lang="ja-JP" altLang="en-US" dirty="0"/>
              <a:t>。↑</a:t>
            </a:r>
          </a:p>
          <a:p>
            <a:pPr>
              <a:buNone/>
            </a:pPr>
            <a:r>
              <a:rPr lang="ja-JP" altLang="en-US" dirty="0"/>
              <a:t>日本人</a:t>
            </a:r>
            <a:r>
              <a:rPr lang="en-US" altLang="ja-JP" dirty="0"/>
              <a:t>: </a:t>
            </a:r>
            <a:r>
              <a:rPr lang="ja-JP" altLang="en-US" dirty="0"/>
              <a:t>ながい　どちら</a:t>
            </a:r>
            <a:r>
              <a:rPr lang="en-US" altLang="ja-JP" dirty="0"/>
              <a:t>―</a:t>
            </a:r>
            <a:r>
              <a:rPr lang="ja-JP" altLang="en-US" dirty="0"/>
              <a:t>　のほうに長く住んでいましたか↑ </a:t>
            </a:r>
            <a:r>
              <a:rPr lang="en-US" altLang="ja-JP" dirty="0"/>
              <a:t>·   </a:t>
            </a:r>
          </a:p>
          <a:p>
            <a:pPr>
              <a:buNone/>
            </a:pPr>
            <a:r>
              <a:rPr lang="en-US" altLang="ja-JP" dirty="0"/>
              <a:t>          ····· </a:t>
            </a:r>
            <a:r>
              <a:rPr lang="ja-JP" altLang="en-US" dirty="0"/>
              <a:t>オーストラリアとドイツと↓</a:t>
            </a:r>
          </a:p>
          <a:p>
            <a:pPr>
              <a:buNone/>
            </a:pPr>
            <a:r>
              <a:rPr lang="ja-JP" altLang="en-US" dirty="0"/>
              <a:t>学習者</a:t>
            </a:r>
            <a:r>
              <a:rPr lang="en-US" altLang="ja-JP" dirty="0"/>
              <a:t>: ······</a:t>
            </a:r>
            <a:r>
              <a:rPr lang="ja-JP" altLang="en-US" dirty="0"/>
              <a:t>あ　よくわかりません（笑い）すいません </a:t>
            </a:r>
          </a:p>
          <a:p>
            <a:pPr>
              <a:buNone/>
            </a:pPr>
            <a:r>
              <a:rPr lang="ja-JP" altLang="en-US" dirty="0"/>
              <a:t>日本人</a:t>
            </a:r>
            <a:r>
              <a:rPr lang="en-US" altLang="ja-JP" dirty="0"/>
              <a:t>: </a:t>
            </a:r>
            <a:r>
              <a:rPr lang="ja-JP" altLang="en-US" dirty="0"/>
              <a:t>あーじゃあねえ　オーストラリアには何年</a:t>
            </a:r>
            <a:r>
              <a:rPr lang="en-US" altLang="ja-JP" dirty="0"/>
              <a:t>······</a:t>
            </a:r>
          </a:p>
          <a:p>
            <a:pPr>
              <a:buNone/>
            </a:pPr>
            <a:r>
              <a:rPr lang="en-US" altLang="ja-JP" dirty="0"/>
              <a:t>          [</a:t>
            </a:r>
            <a:r>
              <a:rPr lang="ja-JP" altLang="en-US" dirty="0"/>
              <a:t>あー</a:t>
            </a:r>
            <a:r>
              <a:rPr lang="en-US" altLang="ja-JP" dirty="0"/>
              <a:t>] </a:t>
            </a:r>
            <a:r>
              <a:rPr lang="ja-JP" altLang="en-US" dirty="0"/>
              <a:t>住んでいましたか↑ </a:t>
            </a:r>
          </a:p>
          <a:p>
            <a:pPr>
              <a:buNone/>
            </a:pPr>
            <a:r>
              <a:rPr lang="en-US" altLang="ja-JP" dirty="0"/>
              <a:t>                                                          (</a:t>
            </a:r>
            <a:r>
              <a:rPr lang="ja-JP" altLang="en-US" dirty="0"/>
              <a:t>尾崎 </a:t>
            </a:r>
            <a:r>
              <a:rPr lang="en-US" altLang="ja-JP" dirty="0"/>
              <a:t>1993: 23)</a:t>
            </a:r>
            <a:endParaRPr lang="ja-JP" altLang="en-US" dirty="0"/>
          </a:p>
          <a:p>
            <a:endParaRPr lang="ko-KR"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学習者が「聞き返し」をすることによって、理解されやすく修正した日本語を日本人に要求し、その結果理解可能なインプットを引き出す重要な役割をする。</a:t>
            </a:r>
            <a:endParaRPr lang="ko-KR" altLang="en-US" dirty="0"/>
          </a:p>
          <a:p>
            <a:endParaRPr lang="ko-KR"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t>タスク</a:t>
            </a:r>
            <a:endParaRPr lang="ko-KR" altLang="en-US" dirty="0"/>
          </a:p>
        </p:txBody>
      </p:sp>
      <p:sp>
        <p:nvSpPr>
          <p:cNvPr id="3" name="내용 개체 틀 2"/>
          <p:cNvSpPr>
            <a:spLocks noGrp="1"/>
          </p:cNvSpPr>
          <p:nvPr>
            <p:ph idx="1"/>
          </p:nvPr>
        </p:nvSpPr>
        <p:spPr/>
        <p:txBody>
          <a:bodyPr/>
          <a:lstStyle/>
          <a:p>
            <a:pPr marL="82296" indent="0">
              <a:buNone/>
            </a:pPr>
            <a:endParaRPr lang="en-US" altLang="ko-KR" dirty="0"/>
          </a:p>
          <a:p>
            <a:r>
              <a:rPr lang="ja-JP" altLang="en-US" dirty="0"/>
              <a:t>言語習得を促進するためには「インプット仮説」「アウトプット仮説」「相互交渉仮説」どれ？</a:t>
            </a:r>
            <a:endParaRPr lang="en-US" altLang="ja-JP" dirty="0"/>
          </a:p>
          <a:p>
            <a:endParaRPr lang="en-US" altLang="ja-JP" dirty="0"/>
          </a:p>
          <a:p>
            <a:r>
              <a:rPr lang="ja-JP" altLang="en-US" dirty="0">
                <a:solidFill>
                  <a:srgbClr val="00B050"/>
                </a:solidFill>
              </a:rPr>
              <a:t>みなさんはどのような形で外国語習得（日本語、韓国語、英語）を進めてきましたか。</a:t>
            </a:r>
            <a:endParaRPr lang="en-US" altLang="ko-KR" dirty="0">
              <a:solidFill>
                <a:srgbClr val="00B050"/>
              </a:solidFil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태양">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광장">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태양">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491</TotalTime>
  <Words>2112</Words>
  <Application>Microsoft Office PowerPoint</Application>
  <PresentationFormat>화면 슬라이드 쇼(4:3)</PresentationFormat>
  <Paragraphs>67</Paragraphs>
  <Slides>17</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17</vt:i4>
      </vt:variant>
    </vt:vector>
  </HeadingPairs>
  <TitlesOfParts>
    <vt:vector size="21" baseType="lpstr">
      <vt:lpstr>Lucida Sans Unicode</vt:lpstr>
      <vt:lpstr>Verdana</vt:lpstr>
      <vt:lpstr>Wingdings 2</vt:lpstr>
      <vt:lpstr>태양</vt:lpstr>
      <vt:lpstr>1. 授業に活用できる第二言語習得の成果</vt:lpstr>
      <vt:lpstr> インプット仮説 Input Hypothesis </vt:lpstr>
      <vt:lpstr>PowerPoint 프레젠테이션</vt:lpstr>
      <vt:lpstr>タスク</vt:lpstr>
      <vt:lpstr>PowerPoint 프레젠테이션</vt:lpstr>
      <vt:lpstr>PowerPoint 프레젠테이션</vt:lpstr>
      <vt:lpstr>PowerPoint 프레젠테이션</vt:lpstr>
      <vt:lpstr>タスク</vt:lpstr>
      <vt:lpstr>アウトプット仮説  Output Hypothesis</vt:lpstr>
      <vt:lpstr>PowerPoint 프레젠테이션</vt:lpstr>
      <vt:lpstr>PowerPoint 프레젠테이션</vt:lpstr>
      <vt:lpstr>タスク</vt:lpstr>
      <vt:lpstr>相互交渉仮説 (Interaction Hypothesis)</vt:lpstr>
      <vt:lpstr>PowerPoint 프레젠테이션</vt:lpstr>
      <vt:lpstr>PowerPoint 프레젠테이션</vt:lpstr>
      <vt:lpstr>PowerPoint 프레젠테이션</vt:lpstr>
      <vt:lpstr>タスク</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창의력 향상을 위한 일본어교육</dc:title>
  <dc:creator>user</dc:creator>
  <cp:lastModifiedBy>조영남[ 교수 / 일어일문학과 ]</cp:lastModifiedBy>
  <cp:revision>163</cp:revision>
  <dcterms:created xsi:type="dcterms:W3CDTF">2010-08-11T08:06:25Z</dcterms:created>
  <dcterms:modified xsi:type="dcterms:W3CDTF">2025-09-01T02:53:01Z</dcterms:modified>
</cp:coreProperties>
</file>