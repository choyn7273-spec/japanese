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90" r:id="rId12"/>
    <p:sldId id="291" r:id="rId13"/>
    <p:sldId id="292" r:id="rId14"/>
    <p:sldId id="266" r:id="rId15"/>
    <p:sldId id="267" r:id="rId16"/>
    <p:sldId id="268" r:id="rId17"/>
    <p:sldId id="269" r:id="rId18"/>
    <p:sldId id="286" r:id="rId19"/>
    <p:sldId id="270" r:id="rId20"/>
    <p:sldId id="271" r:id="rId21"/>
    <p:sldId id="272" r:id="rId22"/>
    <p:sldId id="273" r:id="rId23"/>
    <p:sldId id="293" r:id="rId24"/>
    <p:sldId id="295" r:id="rId25"/>
    <p:sldId id="296" r:id="rId26"/>
    <p:sldId id="297" r:id="rId27"/>
    <p:sldId id="298" r:id="rId28"/>
    <p:sldId id="299" r:id="rId29"/>
    <p:sldId id="300" r:id="rId30"/>
    <p:sldId id="274" r:id="rId31"/>
    <p:sldId id="275" r:id="rId32"/>
    <p:sldId id="276" r:id="rId33"/>
    <p:sldId id="277" r:id="rId34"/>
    <p:sldId id="278" r:id="rId35"/>
    <p:sldId id="279" r:id="rId36"/>
    <p:sldId id="280" r:id="rId37"/>
    <p:sldId id="281" r:id="rId38"/>
    <p:sldId id="282" r:id="rId39"/>
    <p:sldId id="283" r:id="rId40"/>
    <p:sldId id="284" r:id="rId41"/>
    <p:sldId id="288" r:id="rId42"/>
    <p:sldId id="285" r:id="rId43"/>
    <p:sldId id="289" r:id="rId44"/>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22DD6F2-E0FD-40C1-BAD9-1BA78E17D3DC}"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5C1F8-6F82-4925-8DD4-84BD2A89172A}" type="datetimeFigureOut">
              <a:rPr lang="ko-KR" altLang="en-US" smtClean="0"/>
              <a:pPr/>
              <a:t>2024-09-27</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2DD6F2-E0FD-40C1-BAD9-1BA78E17D3DC}"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ja-JP" altLang="en-US" b="1" dirty="0">
                <a:solidFill>
                  <a:schemeClr val="accent6"/>
                </a:solidFill>
              </a:rPr>
              <a:t>聴くことをどう教えるか。</a:t>
            </a:r>
            <a:endParaRPr lang="ko-KR" altLang="en-US" b="1" dirty="0">
              <a:solidFill>
                <a:schemeClr val="accent6"/>
              </a:solidFill>
            </a:endParaRPr>
          </a:p>
        </p:txBody>
      </p:sp>
      <p:sp>
        <p:nvSpPr>
          <p:cNvPr id="3" name="부제목 2"/>
          <p:cNvSpPr>
            <a:spLocks noGrp="1"/>
          </p:cNvSpPr>
          <p:nvPr>
            <p:ph type="subTitle" idx="1"/>
          </p:nvPr>
        </p:nvSpPr>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92D050"/>
                </a:solidFill>
              </a:rPr>
              <a:t>聴解能力の位置づけ</a:t>
            </a:r>
            <a:endParaRPr lang="ko-KR" altLang="en-US" b="1" dirty="0">
              <a:solidFill>
                <a:srgbClr val="92D050"/>
              </a:solidFill>
            </a:endParaRPr>
          </a:p>
        </p:txBody>
      </p:sp>
      <p:sp>
        <p:nvSpPr>
          <p:cNvPr id="3" name="내용 개체 틀 2"/>
          <p:cNvSpPr>
            <a:spLocks noGrp="1"/>
          </p:cNvSpPr>
          <p:nvPr>
            <p:ph idx="1"/>
          </p:nvPr>
        </p:nvSpPr>
        <p:spPr/>
        <p:txBody>
          <a:bodyPr>
            <a:normAutofit fontScale="92500" lnSpcReduction="20000"/>
          </a:bodyPr>
          <a:lstStyle/>
          <a:p>
            <a:r>
              <a:rPr lang="ja-JP" altLang="en-US" dirty="0"/>
              <a:t>四技能を対象とする場合、聴解は日ごろの授業では文型練習や会話練習の影に隠れ、テストの時にだけ使われることが</a:t>
            </a:r>
            <a:r>
              <a:rPr lang="ja-JP" altLang="en-US"/>
              <a:t>多い。</a:t>
            </a:r>
            <a:endParaRPr lang="en-US" altLang="ja-JP" dirty="0"/>
          </a:p>
          <a:p>
            <a:r>
              <a:rPr lang="ja-JP" altLang="en-US" dirty="0"/>
              <a:t>しかし聴解も含めた理解過程全般の言語習得に占める位置は極めて高い。</a:t>
            </a:r>
            <a:endParaRPr lang="en-US" altLang="ja-JP" dirty="0"/>
          </a:p>
          <a:p>
            <a:r>
              <a:rPr lang="ja-JP" altLang="en-US" dirty="0"/>
              <a:t>特に初・中級前半期はそれ以降の言語能力の基礎を作る大切な時期に当たる。</a:t>
            </a:r>
            <a:endParaRPr lang="en-US" altLang="ja-JP" dirty="0"/>
          </a:p>
          <a:p>
            <a:r>
              <a:rPr lang="ja-JP" altLang="en-US" dirty="0"/>
              <a:t>相手の話を聞いてそのトピックをつかんだり、聞き手としての会話への参加の仕方を学んだりする学習は、話すための学習とは別に設定されるべき。</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b="1" dirty="0">
                <a:solidFill>
                  <a:srgbClr val="92D050"/>
                </a:solidFill>
              </a:rPr>
              <a:t>初・中級の聴解練習のタイプ</a:t>
            </a:r>
            <a:br>
              <a:rPr lang="en-US" altLang="ja-JP" b="1" dirty="0">
                <a:solidFill>
                  <a:srgbClr val="92D050"/>
                </a:solidFill>
              </a:rPr>
            </a:br>
            <a:r>
              <a:rPr lang="ja-JP" altLang="en-US" b="1" dirty="0">
                <a:solidFill>
                  <a:srgbClr val="92D050"/>
                </a:solidFill>
              </a:rPr>
              <a:t>（タイプ</a:t>
            </a:r>
            <a:r>
              <a:rPr lang="en-US" altLang="ja-JP" b="1" dirty="0">
                <a:solidFill>
                  <a:srgbClr val="92D050"/>
                </a:solidFill>
              </a:rPr>
              <a:t>A</a:t>
            </a:r>
            <a:r>
              <a:rPr lang="ja-JP" altLang="en-US" b="1" dirty="0">
                <a:solidFill>
                  <a:srgbClr val="92D050"/>
                </a:solidFill>
              </a:rPr>
              <a:t>聴解練習）</a:t>
            </a:r>
            <a:endParaRPr lang="ko-KR" altLang="en-US" b="1" dirty="0">
              <a:solidFill>
                <a:srgbClr val="92D050"/>
              </a:solidFill>
            </a:endParaRPr>
          </a:p>
        </p:txBody>
      </p:sp>
      <p:sp>
        <p:nvSpPr>
          <p:cNvPr id="3" name="내용 개체 틀 2"/>
          <p:cNvSpPr>
            <a:spLocks noGrp="1"/>
          </p:cNvSpPr>
          <p:nvPr>
            <p:ph idx="1"/>
          </p:nvPr>
        </p:nvSpPr>
        <p:spPr>
          <a:xfrm>
            <a:off x="107504" y="1600200"/>
            <a:ext cx="8928992" cy="5069160"/>
          </a:xfrm>
        </p:spPr>
        <p:txBody>
          <a:bodyPr>
            <a:normAutofit fontScale="62500" lnSpcReduction="20000"/>
          </a:bodyPr>
          <a:lstStyle/>
          <a:p>
            <a:pPr>
              <a:buNone/>
            </a:pPr>
            <a:r>
              <a:rPr lang="en-US" altLang="ja-JP" dirty="0">
                <a:solidFill>
                  <a:schemeClr val="tx2"/>
                </a:solidFill>
              </a:rPr>
              <a:t>A:</a:t>
            </a:r>
            <a:r>
              <a:rPr lang="ja-JP" altLang="en-US" dirty="0">
                <a:solidFill>
                  <a:schemeClr val="tx2"/>
                </a:solidFill>
              </a:rPr>
              <a:t>ごめんください。</a:t>
            </a:r>
            <a:endParaRPr lang="en-US" altLang="ja-JP" dirty="0">
              <a:solidFill>
                <a:schemeClr val="tx2"/>
              </a:solidFill>
            </a:endParaRPr>
          </a:p>
          <a:p>
            <a:pPr>
              <a:buNone/>
            </a:pPr>
            <a:r>
              <a:rPr lang="en-US" altLang="ja-JP" dirty="0">
                <a:solidFill>
                  <a:schemeClr val="tx2"/>
                </a:solidFill>
              </a:rPr>
              <a:t>B:</a:t>
            </a:r>
            <a:r>
              <a:rPr lang="ja-JP" altLang="en-US" dirty="0">
                <a:solidFill>
                  <a:schemeClr val="tx2"/>
                </a:solidFill>
              </a:rPr>
              <a:t>はい。</a:t>
            </a:r>
            <a:endParaRPr lang="en-US" altLang="ja-JP" dirty="0">
              <a:solidFill>
                <a:schemeClr val="tx2"/>
              </a:solidFill>
            </a:endParaRPr>
          </a:p>
          <a:p>
            <a:pPr>
              <a:buNone/>
            </a:pPr>
            <a:r>
              <a:rPr lang="en-US" altLang="ja-JP" dirty="0">
                <a:solidFill>
                  <a:schemeClr val="tx2"/>
                </a:solidFill>
              </a:rPr>
              <a:t>A:</a:t>
            </a:r>
            <a:r>
              <a:rPr lang="ja-JP" altLang="en-US" dirty="0">
                <a:solidFill>
                  <a:schemeClr val="tx2"/>
                </a:solidFill>
              </a:rPr>
              <a:t>今日は。鈴木さんはご在宅でしょうか。</a:t>
            </a:r>
            <a:endParaRPr lang="en-US" altLang="ja-JP" dirty="0">
              <a:solidFill>
                <a:schemeClr val="tx2"/>
              </a:solidFill>
            </a:endParaRPr>
          </a:p>
          <a:p>
            <a:pPr>
              <a:buNone/>
            </a:pPr>
            <a:r>
              <a:rPr lang="en-US" altLang="ja-JP" dirty="0">
                <a:solidFill>
                  <a:schemeClr val="tx2"/>
                </a:solidFill>
              </a:rPr>
              <a:t>B:</a:t>
            </a:r>
            <a:r>
              <a:rPr lang="ja-JP" altLang="en-US" dirty="0">
                <a:solidFill>
                  <a:schemeClr val="tx2"/>
                </a:solidFill>
              </a:rPr>
              <a:t>いいえ、兄は荷物を出しに近くのスーパーに出かけたところです。すぐ帰ります。</a:t>
            </a:r>
            <a:endParaRPr lang="en-US" altLang="ja-JP" dirty="0">
              <a:solidFill>
                <a:schemeClr val="tx2"/>
              </a:solidFill>
            </a:endParaRPr>
          </a:p>
          <a:p>
            <a:pPr>
              <a:buNone/>
            </a:pPr>
            <a:r>
              <a:rPr lang="en-US" altLang="ja-JP" dirty="0">
                <a:solidFill>
                  <a:schemeClr val="tx2"/>
                </a:solidFill>
              </a:rPr>
              <a:t>A</a:t>
            </a:r>
            <a:r>
              <a:rPr lang="ja-JP" altLang="en-US" dirty="0">
                <a:solidFill>
                  <a:schemeClr val="tx2"/>
                </a:solidFill>
              </a:rPr>
              <a:t>：ああ、そうですか。じゃ、ここでお待ちしてもいいですか。</a:t>
            </a:r>
            <a:endParaRPr lang="en-US" altLang="ja-JP" dirty="0">
              <a:solidFill>
                <a:schemeClr val="tx2"/>
              </a:solidFill>
            </a:endParaRPr>
          </a:p>
          <a:p>
            <a:pPr>
              <a:buNone/>
            </a:pPr>
            <a:r>
              <a:rPr lang="ja-JP" altLang="en-US" dirty="0">
                <a:solidFill>
                  <a:schemeClr val="tx2"/>
                </a:solidFill>
              </a:rPr>
              <a:t>　　弟さんでいらっしゃいますか。</a:t>
            </a:r>
            <a:endParaRPr lang="en-US" altLang="ja-JP" dirty="0">
              <a:solidFill>
                <a:schemeClr val="tx2"/>
              </a:solidFill>
            </a:endParaRPr>
          </a:p>
          <a:p>
            <a:pPr>
              <a:buNone/>
            </a:pPr>
            <a:r>
              <a:rPr lang="en-US" altLang="ja-JP" dirty="0">
                <a:solidFill>
                  <a:schemeClr val="tx2"/>
                </a:solidFill>
              </a:rPr>
              <a:t>B:</a:t>
            </a:r>
            <a:r>
              <a:rPr lang="ja-JP" altLang="en-US" dirty="0">
                <a:solidFill>
                  <a:schemeClr val="tx2"/>
                </a:solidFill>
              </a:rPr>
              <a:t>はい、そうです。</a:t>
            </a:r>
            <a:endParaRPr lang="en-US" altLang="ja-JP" dirty="0">
              <a:solidFill>
                <a:schemeClr val="tx2"/>
              </a:solidFill>
            </a:endParaRPr>
          </a:p>
          <a:p>
            <a:pPr>
              <a:buNone/>
            </a:pPr>
            <a:r>
              <a:rPr lang="en-US" altLang="ja-JP" dirty="0">
                <a:solidFill>
                  <a:schemeClr val="tx2"/>
                </a:solidFill>
              </a:rPr>
              <a:t>A</a:t>
            </a:r>
            <a:r>
              <a:rPr lang="ja-JP" altLang="en-US" dirty="0">
                <a:solidFill>
                  <a:schemeClr val="tx2"/>
                </a:solidFill>
              </a:rPr>
              <a:t>：小説がお好きだそうですね。</a:t>
            </a:r>
            <a:endParaRPr lang="en-US" altLang="ja-JP" dirty="0">
              <a:solidFill>
                <a:schemeClr val="tx2"/>
              </a:solidFill>
            </a:endParaRPr>
          </a:p>
          <a:p>
            <a:pPr>
              <a:buNone/>
            </a:pPr>
            <a:r>
              <a:rPr lang="en-US" altLang="ja-JP" dirty="0">
                <a:solidFill>
                  <a:schemeClr val="tx2"/>
                </a:solidFill>
              </a:rPr>
              <a:t>B:</a:t>
            </a:r>
            <a:r>
              <a:rPr lang="ja-JP" altLang="en-US" dirty="0">
                <a:solidFill>
                  <a:schemeClr val="tx2"/>
                </a:solidFill>
              </a:rPr>
              <a:t>はい、探偵小説が好きです。</a:t>
            </a:r>
            <a:endParaRPr lang="ko-KR" altLang="en-US" dirty="0">
              <a:solidFill>
                <a:schemeClr val="tx2"/>
              </a:solidFill>
            </a:endParaRPr>
          </a:p>
          <a:p>
            <a:endParaRPr lang="en-US" altLang="ja-JP" dirty="0"/>
          </a:p>
          <a:p>
            <a:endParaRPr lang="en-US" altLang="ja-JP" dirty="0"/>
          </a:p>
          <a:p>
            <a:r>
              <a:rPr lang="en-US" altLang="ja-JP" dirty="0"/>
              <a:t>CD</a:t>
            </a:r>
            <a:r>
              <a:rPr lang="ja-JP" altLang="en-US" dirty="0"/>
              <a:t>の会話を聴いて次の質問に答えなさい。</a:t>
            </a:r>
            <a:endParaRPr lang="en-US" altLang="ja-JP" dirty="0"/>
          </a:p>
          <a:p>
            <a:pPr>
              <a:buNone/>
            </a:pPr>
            <a:r>
              <a:rPr lang="ja-JP" altLang="en-US" dirty="0"/>
              <a:t>　</a:t>
            </a:r>
            <a:r>
              <a:rPr lang="en-US" altLang="ja-JP" dirty="0"/>
              <a:t>(1)</a:t>
            </a:r>
            <a:r>
              <a:rPr lang="ja-JP" altLang="en-US" dirty="0"/>
              <a:t>男の人は庭で誰を待っていますか。</a:t>
            </a:r>
            <a:endParaRPr lang="en-US" altLang="ja-JP" dirty="0"/>
          </a:p>
          <a:p>
            <a:pPr>
              <a:buNone/>
            </a:pPr>
            <a:r>
              <a:rPr lang="ja-JP" altLang="en-US" dirty="0"/>
              <a:t>　</a:t>
            </a:r>
            <a:r>
              <a:rPr lang="en-US" altLang="ja-JP" dirty="0"/>
              <a:t>(2)</a:t>
            </a:r>
            <a:r>
              <a:rPr lang="ja-JP" altLang="en-US" dirty="0"/>
              <a:t>兄さんはどこへ行ったのですか。</a:t>
            </a:r>
            <a:endParaRPr lang="en-US" altLang="ja-JP" dirty="0"/>
          </a:p>
          <a:p>
            <a:pPr>
              <a:buNone/>
            </a:pPr>
            <a:r>
              <a:rPr lang="ja-JP" altLang="en-US" dirty="0"/>
              <a:t>　</a:t>
            </a:r>
            <a:r>
              <a:rPr lang="en-US" altLang="ja-JP" dirty="0"/>
              <a:t>(3)</a:t>
            </a:r>
            <a:r>
              <a:rPr lang="ja-JP" altLang="en-US" dirty="0"/>
              <a:t>何をしに行ったのですか。</a:t>
            </a:r>
            <a:endParaRPr lang="en-US" altLang="ja-JP" dirty="0"/>
          </a:p>
          <a:p>
            <a:pPr>
              <a:buNone/>
            </a:pPr>
            <a:r>
              <a:rPr lang="ja-JP" altLang="en-US" dirty="0"/>
              <a:t>　</a:t>
            </a:r>
            <a:r>
              <a:rPr lang="en-US" altLang="ja-JP" dirty="0"/>
              <a:t>(4)</a:t>
            </a:r>
            <a:r>
              <a:rPr lang="ja-JP" altLang="en-US" dirty="0"/>
              <a:t>弟は何の本が好きですか。</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92D050"/>
                </a:solidFill>
              </a:rPr>
              <a:t>タイプ</a:t>
            </a:r>
            <a:r>
              <a:rPr lang="en-US" altLang="ja-JP" b="1" dirty="0">
                <a:solidFill>
                  <a:srgbClr val="92D050"/>
                </a:solidFill>
              </a:rPr>
              <a:t>A</a:t>
            </a:r>
            <a:r>
              <a:rPr lang="ja-JP" altLang="en-US" b="1" dirty="0">
                <a:solidFill>
                  <a:srgbClr val="92D050"/>
                </a:solidFill>
              </a:rPr>
              <a:t>聴解練習の特徴</a:t>
            </a:r>
            <a:endParaRPr lang="ko-KR" altLang="en-US" b="1" dirty="0">
              <a:solidFill>
                <a:srgbClr val="92D050"/>
              </a:solidFill>
            </a:endParaRPr>
          </a:p>
        </p:txBody>
      </p:sp>
      <p:sp>
        <p:nvSpPr>
          <p:cNvPr id="3" name="내용 개체 틀 2"/>
          <p:cNvSpPr>
            <a:spLocks noGrp="1"/>
          </p:cNvSpPr>
          <p:nvPr>
            <p:ph idx="1"/>
          </p:nvPr>
        </p:nvSpPr>
        <p:spPr/>
        <p:txBody>
          <a:bodyPr>
            <a:normAutofit lnSpcReduction="10000"/>
          </a:bodyPr>
          <a:lstStyle/>
          <a:p>
            <a:r>
              <a:rPr lang="ja-JP" altLang="en-US" dirty="0"/>
              <a:t>練習の目的は、文脈の中に入れられた既習の文型や語彙が耳で聴いて分析でき、内容が分かるようにすること。</a:t>
            </a:r>
            <a:endParaRPr lang="en-US" altLang="ja-JP" dirty="0"/>
          </a:p>
          <a:p>
            <a:r>
              <a:rPr lang="ja-JP" altLang="en-US" dirty="0"/>
              <a:t>聞かせるテキストの内容は、既習の文型や語彙が文脈の中に埋め込まれたもの。</a:t>
            </a:r>
            <a:endParaRPr lang="en-US" altLang="ja-JP" dirty="0"/>
          </a:p>
          <a:p>
            <a:r>
              <a:rPr lang="en-US" altLang="ja-JP" dirty="0"/>
              <a:t>CD</a:t>
            </a:r>
            <a:r>
              <a:rPr lang="ja-JP" altLang="en-US" dirty="0"/>
              <a:t>を３度ぐらい聴けば、内容が完全に理解できるように作られている。</a:t>
            </a:r>
            <a:endParaRPr lang="en-US" altLang="ja-JP" dirty="0"/>
          </a:p>
          <a:p>
            <a:r>
              <a:rPr lang="ja-JP" altLang="en-US" dirty="0"/>
              <a:t>特定のテキストを聞く目的は与えられていない。</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例にあるように、設問を読んで、それに対して書いて答える形式が多い。</a:t>
            </a:r>
            <a:endParaRPr lang="en-US" altLang="ja-JP" dirty="0"/>
          </a:p>
          <a:p>
            <a:r>
              <a:rPr lang="en-US" altLang="ja-JP" dirty="0"/>
              <a:t>CD</a:t>
            </a:r>
            <a:r>
              <a:rPr lang="ja-JP" altLang="en-US" dirty="0"/>
              <a:t>を聴く前や聴いた後の活動は特に考えられていない。</a:t>
            </a:r>
            <a:endParaRPr lang="en-US" altLang="ja-JP" dirty="0"/>
          </a:p>
          <a:p>
            <a:r>
              <a:rPr lang="ja-JP" altLang="en-US" dirty="0"/>
              <a:t>話し手は多くの場合、日本語の母語話者で原稿を読んでいるような話し方をする。</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92D050"/>
                </a:solidFill>
              </a:rPr>
              <a:t>タイプ</a:t>
            </a:r>
            <a:r>
              <a:rPr lang="en-US" altLang="ja-JP" b="1" dirty="0">
                <a:solidFill>
                  <a:srgbClr val="92D050"/>
                </a:solidFill>
              </a:rPr>
              <a:t>A</a:t>
            </a:r>
            <a:r>
              <a:rPr lang="ja-JP" altLang="en-US" b="1" dirty="0">
                <a:solidFill>
                  <a:srgbClr val="92D050"/>
                </a:solidFill>
              </a:rPr>
              <a:t>聴解練習の問題点</a:t>
            </a:r>
            <a:endParaRPr lang="ko-KR" altLang="en-US" b="1" dirty="0">
              <a:solidFill>
                <a:srgbClr val="92D050"/>
              </a:solidFill>
            </a:endParaRPr>
          </a:p>
        </p:txBody>
      </p:sp>
      <p:sp>
        <p:nvSpPr>
          <p:cNvPr id="3" name="내용 개체 틀 2"/>
          <p:cNvSpPr>
            <a:spLocks noGrp="1"/>
          </p:cNvSpPr>
          <p:nvPr>
            <p:ph idx="1"/>
          </p:nvPr>
        </p:nvSpPr>
        <p:spPr/>
        <p:txBody>
          <a:bodyPr>
            <a:normAutofit fontScale="92500" lnSpcReduction="10000"/>
          </a:bodyPr>
          <a:lstStyle/>
          <a:p>
            <a:r>
              <a:rPr lang="ja-JP" altLang="en-US" dirty="0"/>
              <a:t>テキストを聴く目的が設定しにくい点。</a:t>
            </a:r>
            <a:endParaRPr lang="en-US" altLang="ja-JP" dirty="0"/>
          </a:p>
          <a:p>
            <a:pPr>
              <a:buNone/>
            </a:pPr>
            <a:r>
              <a:rPr lang="ja-JP" altLang="en-US" dirty="0"/>
              <a:t>　</a:t>
            </a:r>
            <a:r>
              <a:rPr lang="en-US" altLang="ja-JP" dirty="0"/>
              <a:t>--</a:t>
            </a:r>
            <a:r>
              <a:rPr lang="ja-JP" altLang="en-US" dirty="0"/>
              <a:t>習った文型や語彙が聴いて分かるようにするという一般的な目的はあるが、テキストを何のために聴くのかという具体的な目的は設定しづらい。</a:t>
            </a:r>
            <a:endParaRPr lang="en-US" altLang="ja-JP" dirty="0"/>
          </a:p>
          <a:p>
            <a:pPr>
              <a:buNone/>
            </a:pPr>
            <a:r>
              <a:rPr lang="ja-JP" altLang="en-US" dirty="0"/>
              <a:t>　</a:t>
            </a:r>
            <a:r>
              <a:rPr lang="en-US" altLang="ja-JP" dirty="0"/>
              <a:t>--</a:t>
            </a:r>
            <a:r>
              <a:rPr lang="ja-JP" altLang="en-US" dirty="0"/>
              <a:t>「明日の天気予報」</a:t>
            </a:r>
            <a:endParaRPr lang="en-US" altLang="ja-JP" dirty="0"/>
          </a:p>
          <a:p>
            <a:pPr>
              <a:buNone/>
            </a:pPr>
            <a:r>
              <a:rPr lang="ja-JP" altLang="en-US" dirty="0"/>
              <a:t>　　＊明日の天気について情報を得る。</a:t>
            </a:r>
            <a:endParaRPr lang="en-US" altLang="ja-JP" dirty="0"/>
          </a:p>
          <a:p>
            <a:pPr>
              <a:buNone/>
            </a:pPr>
            <a:r>
              <a:rPr lang="ja-JP" altLang="en-US" dirty="0"/>
              <a:t>　　＊明日の予定を決める。</a:t>
            </a:r>
            <a:endParaRPr lang="en-US" altLang="ja-JP" dirty="0"/>
          </a:p>
          <a:p>
            <a:pPr>
              <a:buNone/>
            </a:pPr>
            <a:r>
              <a:rPr lang="ja-JP" altLang="en-US" dirty="0"/>
              <a:t>　</a:t>
            </a:r>
            <a:r>
              <a:rPr lang="en-US" altLang="ja-JP" dirty="0"/>
              <a:t>--</a:t>
            </a:r>
            <a:r>
              <a:rPr lang="ja-JP" altLang="en-US" dirty="0"/>
              <a:t>タイプ</a:t>
            </a:r>
            <a:r>
              <a:rPr lang="en-US" altLang="ja-JP" dirty="0"/>
              <a:t>A</a:t>
            </a:r>
            <a:r>
              <a:rPr lang="ja-JP" altLang="en-US" dirty="0"/>
              <a:t>は聴いて何かを達成する形にすることが難しい。</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dirty="0"/>
              <a:t>「とにかく聴いたことを記憶する」ことが重視される。聴く力よりも記憶力に重点が置かれてしまう危険性が出てくる。</a:t>
            </a:r>
            <a:endParaRPr lang="en-US" altLang="ja-JP" dirty="0"/>
          </a:p>
          <a:p>
            <a:pPr>
              <a:buNone/>
            </a:pPr>
            <a:r>
              <a:rPr lang="ja-JP" altLang="en-US" dirty="0"/>
              <a:t>　　　　　　　</a:t>
            </a:r>
            <a:endParaRPr lang="en-US" altLang="ja-JP"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b="1" dirty="0">
                <a:solidFill>
                  <a:srgbClr val="00B0F0"/>
                </a:solidFill>
              </a:rPr>
              <a:t>改善１</a:t>
            </a:r>
            <a:br>
              <a:rPr lang="en-US" altLang="ja-JP" b="1" dirty="0">
                <a:solidFill>
                  <a:srgbClr val="00B0F0"/>
                </a:solidFill>
              </a:rPr>
            </a:br>
            <a:r>
              <a:rPr lang="ja-JP" altLang="en-US" b="1" dirty="0">
                <a:solidFill>
                  <a:srgbClr val="00B0F0"/>
                </a:solidFill>
              </a:rPr>
              <a:t>（目的を持って集中した聴き方</a:t>
            </a:r>
            <a:r>
              <a:rPr lang="en-US" altLang="ja-JP" b="1" dirty="0">
                <a:solidFill>
                  <a:srgbClr val="00B0F0"/>
                </a:solidFill>
              </a:rPr>
              <a:t>)</a:t>
            </a:r>
            <a:endParaRPr lang="ko-KR" altLang="en-US" b="1" dirty="0">
              <a:solidFill>
                <a:srgbClr val="00B0F0"/>
              </a:solidFill>
            </a:endParaRPr>
          </a:p>
        </p:txBody>
      </p:sp>
      <p:sp>
        <p:nvSpPr>
          <p:cNvPr id="3" name="내용 개체 틀 2"/>
          <p:cNvSpPr>
            <a:spLocks noGrp="1"/>
          </p:cNvSpPr>
          <p:nvPr>
            <p:ph idx="1"/>
          </p:nvPr>
        </p:nvSpPr>
        <p:spPr/>
        <p:txBody>
          <a:bodyPr>
            <a:normAutofit lnSpcReduction="10000"/>
          </a:bodyPr>
          <a:lstStyle/>
          <a:p>
            <a:r>
              <a:rPr lang="ja-JP" altLang="en-US" dirty="0"/>
              <a:t>聴く目的を最初に与え、後は半ば自動的に予測を立てて聴くことが伴う。</a:t>
            </a:r>
            <a:endParaRPr lang="en-US" altLang="ja-JP" dirty="0"/>
          </a:p>
          <a:p>
            <a:r>
              <a:rPr lang="en-US" altLang="ja-JP" dirty="0"/>
              <a:t>CD</a:t>
            </a:r>
            <a:r>
              <a:rPr lang="ja-JP" altLang="en-US" dirty="0"/>
              <a:t>を聴かせる前に設問を与え、かつその設問がよく理解できるように、</a:t>
            </a:r>
            <a:r>
              <a:rPr lang="en-US" altLang="ja-JP" dirty="0"/>
              <a:t>CD</a:t>
            </a:r>
            <a:r>
              <a:rPr lang="ja-JP" altLang="en-US" dirty="0"/>
              <a:t>を流す前に充分時間をとること。</a:t>
            </a:r>
            <a:endParaRPr lang="en-US" altLang="ja-JP" dirty="0"/>
          </a:p>
          <a:p>
            <a:r>
              <a:rPr lang="ja-JP" altLang="en-US" dirty="0"/>
              <a:t>設問に答えるためには何を聴き取らねばならないのかを考え、必要な情報をあらかじめ絞り込んだり、そこに集中して聴いたりということが可能。（⇔能動的に聴く態勢が作られる）</a:t>
            </a:r>
            <a:endParaRPr lang="ko-KR" altLang="en-US" dirty="0"/>
          </a:p>
          <a:p>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b="1" dirty="0">
                <a:solidFill>
                  <a:srgbClr val="00B0F0"/>
                </a:solidFill>
              </a:rPr>
              <a:t>改善</a:t>
            </a:r>
            <a:r>
              <a:rPr lang="en-US" altLang="ja-JP" b="1" dirty="0">
                <a:solidFill>
                  <a:srgbClr val="00B0F0"/>
                </a:solidFill>
              </a:rPr>
              <a:t>2</a:t>
            </a:r>
            <a:br>
              <a:rPr lang="en-US" altLang="ja-JP" b="1" dirty="0">
                <a:solidFill>
                  <a:srgbClr val="00B0F0"/>
                </a:solidFill>
              </a:rPr>
            </a:br>
            <a:r>
              <a:rPr lang="ja-JP" altLang="en-US" sz="3600" b="1" dirty="0">
                <a:solidFill>
                  <a:srgbClr val="00B0F0"/>
                </a:solidFill>
              </a:rPr>
              <a:t>（適切な予測のもとに聴き取りができるか。</a:t>
            </a:r>
            <a:r>
              <a:rPr lang="en-US" altLang="ja-JP" sz="3600" b="1" dirty="0">
                <a:solidFill>
                  <a:srgbClr val="00B0F0"/>
                </a:solidFill>
              </a:rPr>
              <a:t>)</a:t>
            </a:r>
            <a:endParaRPr lang="ko-KR" altLang="en-US" sz="3600" b="1" dirty="0">
              <a:solidFill>
                <a:srgbClr val="00B0F0"/>
              </a:solidFill>
            </a:endParaRPr>
          </a:p>
        </p:txBody>
      </p:sp>
      <p:sp>
        <p:nvSpPr>
          <p:cNvPr id="3" name="내용 개체 틀 2"/>
          <p:cNvSpPr>
            <a:spLocks noGrp="1"/>
          </p:cNvSpPr>
          <p:nvPr>
            <p:ph idx="1"/>
          </p:nvPr>
        </p:nvSpPr>
        <p:spPr>
          <a:xfrm>
            <a:off x="457200" y="1600200"/>
            <a:ext cx="8229600" cy="5043510"/>
          </a:xfrm>
        </p:spPr>
        <p:txBody>
          <a:bodyPr>
            <a:normAutofit lnSpcReduction="10000"/>
          </a:bodyPr>
          <a:lstStyle/>
          <a:p>
            <a:r>
              <a:rPr lang="ja-JP" altLang="en-US" dirty="0"/>
              <a:t>目的が設定されることによって予測を立てること自体は可能であるが、その予測がなかなか有効なものとならない場合がある。</a:t>
            </a:r>
            <a:endParaRPr lang="en-US" altLang="ja-JP" dirty="0"/>
          </a:p>
          <a:p>
            <a:r>
              <a:rPr lang="ja-JP" altLang="en-US" dirty="0"/>
              <a:t>予測を立てようにも背景知識が不十分で予測が立てられないことがある。</a:t>
            </a:r>
            <a:endParaRPr lang="en-US" altLang="ja-JP" dirty="0"/>
          </a:p>
          <a:p>
            <a:pPr>
              <a:buNone/>
            </a:pPr>
            <a:r>
              <a:rPr lang="ja-JP" altLang="en-US" dirty="0"/>
              <a:t>　例</a:t>
            </a:r>
            <a:r>
              <a:rPr lang="en-US" altLang="ja-JP" dirty="0"/>
              <a:t>)</a:t>
            </a:r>
            <a:r>
              <a:rPr lang="ja-JP" altLang="en-US" dirty="0"/>
              <a:t>初めて訪れた町：道聞きをした状況</a:t>
            </a:r>
            <a:endParaRPr lang="en-US" altLang="ja-JP" dirty="0"/>
          </a:p>
          <a:p>
            <a:pPr>
              <a:buNone/>
            </a:pPr>
            <a:r>
              <a:rPr lang="ja-JP" altLang="en-US" dirty="0"/>
              <a:t>　→私たちの理解は文型や語彙の字義通りの意味のみで成立しているのではなく、それを支えている背景知識</a:t>
            </a:r>
            <a:r>
              <a:rPr lang="en-US" altLang="ja-JP" dirty="0"/>
              <a:t>(</a:t>
            </a:r>
            <a:r>
              <a:rPr lang="ja-JP" altLang="en-US" dirty="0"/>
              <a:t>スキーマ</a:t>
            </a:r>
            <a:r>
              <a:rPr lang="en-US" altLang="ja-JP" dirty="0"/>
              <a:t>)</a:t>
            </a:r>
            <a:r>
              <a:rPr lang="ja-JP" altLang="en-US" dirty="0"/>
              <a:t>が重要な働きをしている。</a:t>
            </a:r>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予測が立てられ、かつ聴き取ったことをもとにして、意味のある課題が達成できるようなテキストの内容とすることが前提。</a:t>
            </a:r>
            <a:endParaRPr lang="en-US" altLang="ja-JP" dirty="0"/>
          </a:p>
          <a:p>
            <a:r>
              <a:rPr lang="ja-JP" altLang="en-US" dirty="0"/>
              <a:t>そこで</a:t>
            </a:r>
            <a:r>
              <a:rPr lang="en-US" altLang="ja-JP" dirty="0"/>
              <a:t>CD</a:t>
            </a:r>
            <a:r>
              <a:rPr lang="ja-JP" altLang="en-US" dirty="0"/>
              <a:t>を聴く前に、予測が立てられるように適切な先行タスクを入れる。</a:t>
            </a:r>
            <a:endParaRPr lang="en-US" altLang="ja-JP" dirty="0"/>
          </a:p>
          <a:p>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07504" y="274638"/>
            <a:ext cx="9036496" cy="1143000"/>
          </a:xfrm>
        </p:spPr>
        <p:txBody>
          <a:bodyPr>
            <a:normAutofit fontScale="90000"/>
          </a:bodyPr>
          <a:lstStyle/>
          <a:p>
            <a:r>
              <a:rPr lang="ja-JP" altLang="en-US" b="1" dirty="0">
                <a:solidFill>
                  <a:srgbClr val="92D050"/>
                </a:solidFill>
              </a:rPr>
              <a:t>同じ</a:t>
            </a:r>
            <a:r>
              <a:rPr lang="en-US" altLang="ja-JP" b="1" dirty="0">
                <a:solidFill>
                  <a:srgbClr val="92D050"/>
                </a:solidFill>
              </a:rPr>
              <a:t>CD</a:t>
            </a:r>
            <a:r>
              <a:rPr lang="ja-JP" altLang="en-US" b="1" dirty="0">
                <a:solidFill>
                  <a:srgbClr val="92D050"/>
                </a:solidFill>
              </a:rPr>
              <a:t>を使ってなされる聴解練習</a:t>
            </a:r>
            <a:r>
              <a:rPr lang="en-US" altLang="ja-JP" b="1" dirty="0">
                <a:solidFill>
                  <a:srgbClr val="92D050"/>
                </a:solidFill>
              </a:rPr>
              <a:t>A</a:t>
            </a:r>
            <a:r>
              <a:rPr lang="ja-JP" altLang="en-US" b="1" dirty="0">
                <a:solidFill>
                  <a:srgbClr val="92D050"/>
                </a:solidFill>
              </a:rPr>
              <a:t>と</a:t>
            </a:r>
            <a:r>
              <a:rPr lang="en-US" altLang="ja-JP" b="1" dirty="0">
                <a:solidFill>
                  <a:srgbClr val="92D050"/>
                </a:solidFill>
              </a:rPr>
              <a:t>B</a:t>
            </a:r>
            <a:endParaRPr lang="ko-KR" altLang="en-US" b="1" dirty="0">
              <a:solidFill>
                <a:srgbClr val="92D050"/>
              </a:solidFill>
            </a:endParaRPr>
          </a:p>
        </p:txBody>
      </p:sp>
      <p:sp>
        <p:nvSpPr>
          <p:cNvPr id="3" name="내용 개체 틀 2"/>
          <p:cNvSpPr>
            <a:spLocks noGrp="1"/>
          </p:cNvSpPr>
          <p:nvPr>
            <p:ph idx="1"/>
          </p:nvPr>
        </p:nvSpPr>
        <p:spPr/>
        <p:txBody>
          <a:bodyPr>
            <a:normAutofit fontScale="92500" lnSpcReduction="10000"/>
          </a:bodyPr>
          <a:lstStyle/>
          <a:p>
            <a:r>
              <a:rPr lang="en-US" altLang="ja-JP" dirty="0"/>
              <a:t>CD</a:t>
            </a:r>
            <a:r>
              <a:rPr lang="ja-JP" altLang="en-US" dirty="0"/>
              <a:t>のスクリプト</a:t>
            </a:r>
            <a:endParaRPr lang="en-US" altLang="ja-JP" dirty="0"/>
          </a:p>
          <a:p>
            <a:pPr>
              <a:buNone/>
            </a:pPr>
            <a:endParaRPr lang="en-US" altLang="ja-JP" sz="2400" dirty="0"/>
          </a:p>
          <a:p>
            <a:pPr>
              <a:buNone/>
            </a:pPr>
            <a:r>
              <a:rPr lang="en-US" altLang="ja-JP" sz="2800" dirty="0"/>
              <a:t>A:</a:t>
            </a:r>
            <a:r>
              <a:rPr lang="ja-JP" altLang="en-US" sz="2800" dirty="0"/>
              <a:t>もしもし。そちらの図書館ではビデオテープは借りられますか。</a:t>
            </a:r>
            <a:endParaRPr lang="en-US" altLang="ja-JP" sz="2800" dirty="0"/>
          </a:p>
          <a:p>
            <a:pPr>
              <a:buNone/>
            </a:pPr>
            <a:r>
              <a:rPr lang="en-US" altLang="ja-JP" sz="2800" dirty="0"/>
              <a:t>B</a:t>
            </a:r>
            <a:r>
              <a:rPr lang="ja-JP" altLang="en-US" sz="2800" dirty="0"/>
              <a:t>：ビデオテープですか。はい。貸し出ししております。</a:t>
            </a:r>
            <a:endParaRPr lang="en-US" altLang="ja-JP" sz="2800" dirty="0"/>
          </a:p>
          <a:p>
            <a:pPr>
              <a:buNone/>
            </a:pPr>
            <a:r>
              <a:rPr lang="en-US" altLang="ja-JP" sz="2800" dirty="0"/>
              <a:t>A:</a:t>
            </a:r>
            <a:r>
              <a:rPr lang="ja-JP" altLang="en-US" sz="2800" dirty="0"/>
              <a:t>えーと、ビデオテープは</a:t>
            </a:r>
            <a:r>
              <a:rPr lang="en-US" altLang="ja-JP" sz="2800" dirty="0"/>
              <a:t>OK</a:t>
            </a:r>
            <a:r>
              <a:rPr lang="ja-JP" altLang="en-US" sz="2800" dirty="0"/>
              <a:t>。じゃ、</a:t>
            </a:r>
            <a:r>
              <a:rPr lang="en-US" altLang="ja-JP" sz="2800" dirty="0"/>
              <a:t>CD</a:t>
            </a:r>
            <a:r>
              <a:rPr lang="ja-JP" altLang="en-US" sz="2800" dirty="0"/>
              <a:t>は？</a:t>
            </a:r>
            <a:r>
              <a:rPr lang="en-US" altLang="ja-JP" sz="2800" dirty="0"/>
              <a:t>CD</a:t>
            </a:r>
            <a:r>
              <a:rPr lang="ja-JP" altLang="en-US" sz="2800" dirty="0"/>
              <a:t>も借りられますか。</a:t>
            </a:r>
            <a:endParaRPr lang="en-US" altLang="ja-JP" sz="2800" dirty="0"/>
          </a:p>
          <a:p>
            <a:pPr>
              <a:buNone/>
            </a:pPr>
            <a:r>
              <a:rPr lang="en-US" altLang="ja-JP" sz="2800" dirty="0"/>
              <a:t>B:</a:t>
            </a:r>
            <a:r>
              <a:rPr lang="ja-JP" altLang="en-US" sz="2800" dirty="0"/>
              <a:t>いいえ、</a:t>
            </a:r>
            <a:r>
              <a:rPr lang="en-US" altLang="ja-JP" sz="2800" dirty="0"/>
              <a:t>CD</a:t>
            </a:r>
            <a:r>
              <a:rPr lang="ja-JP" altLang="en-US" sz="2800" dirty="0"/>
              <a:t>は貸し出しできません。</a:t>
            </a:r>
            <a:r>
              <a:rPr lang="en-US" altLang="ja-JP" sz="2800" dirty="0"/>
              <a:t>CD</a:t>
            </a:r>
            <a:r>
              <a:rPr lang="ja-JP" altLang="en-US" sz="2800" dirty="0"/>
              <a:t>は貸し出しをしておりません。</a:t>
            </a:r>
            <a:endParaRPr lang="en-US" altLang="ja-JP" sz="2800" dirty="0"/>
          </a:p>
          <a:p>
            <a:pPr>
              <a:buNone/>
            </a:pPr>
            <a:r>
              <a:rPr lang="en-US" altLang="ja-JP" sz="2800" dirty="0"/>
              <a:t>A:</a:t>
            </a:r>
            <a:r>
              <a:rPr lang="ja-JP" altLang="en-US" sz="2800" dirty="0"/>
              <a:t>そうですか、</a:t>
            </a:r>
            <a:r>
              <a:rPr lang="en-US" altLang="ja-JP" sz="2800" dirty="0"/>
              <a:t>CD</a:t>
            </a:r>
            <a:r>
              <a:rPr lang="ja-JP" altLang="en-US" sz="2800" dirty="0"/>
              <a:t>はできない。じゃ、絵芝居はどうですか。借りられますか。</a:t>
            </a:r>
            <a:endParaRPr lang="en-US" altLang="ja-JP" sz="2800" dirty="0"/>
          </a:p>
          <a:p>
            <a:pPr>
              <a:buNone/>
            </a:pP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pPr>
              <a:buNone/>
            </a:pPr>
            <a:r>
              <a:rPr lang="en-US" altLang="ja-JP" sz="2800" dirty="0"/>
              <a:t>B:</a:t>
            </a:r>
            <a:r>
              <a:rPr lang="ja-JP" altLang="en-US" sz="2800" dirty="0"/>
              <a:t>はい、絵芝居は大丈夫です。貸し出しできます。</a:t>
            </a:r>
            <a:endParaRPr lang="en-US" altLang="ja-JP" sz="2800" dirty="0"/>
          </a:p>
          <a:p>
            <a:pPr>
              <a:buNone/>
            </a:pPr>
            <a:r>
              <a:rPr lang="en-US" altLang="ja-JP" sz="2800" dirty="0"/>
              <a:t>A:</a:t>
            </a:r>
            <a:r>
              <a:rPr lang="ja-JP" altLang="en-US" sz="2800" dirty="0"/>
              <a:t>絵芝居は大丈夫。では、辞書はどうでしょうか。</a:t>
            </a:r>
            <a:endParaRPr lang="en-US" altLang="ja-JP" sz="2800" dirty="0"/>
          </a:p>
          <a:p>
            <a:pPr>
              <a:buNone/>
            </a:pPr>
            <a:r>
              <a:rPr lang="en-US" altLang="ja-JP" sz="2800" dirty="0"/>
              <a:t>B:</a:t>
            </a:r>
            <a:r>
              <a:rPr lang="ja-JP" altLang="en-US" sz="2800" dirty="0"/>
              <a:t>辞書ですか。辞書類はだめです。貸し出しできません。</a:t>
            </a:r>
            <a:endParaRPr lang="en-US" altLang="ja-JP" sz="2800" dirty="0"/>
          </a:p>
          <a:p>
            <a:pPr>
              <a:buNone/>
            </a:pPr>
            <a:r>
              <a:rPr lang="en-US" altLang="ja-JP" sz="2800" dirty="0"/>
              <a:t>A:</a:t>
            </a:r>
            <a:r>
              <a:rPr lang="ja-JP" altLang="en-US" sz="2800" dirty="0"/>
              <a:t>辞書類はできない。はい、それだけです。ありがとうございました。</a:t>
            </a:r>
            <a:endParaRPr lang="en-US" altLang="ja-JP" sz="2800" dirty="0"/>
          </a:p>
          <a:p>
            <a:pPr>
              <a:buNone/>
            </a:pPr>
            <a:r>
              <a:rPr lang="en-US" altLang="ja-JP" sz="2800" dirty="0"/>
              <a:t>B:</a:t>
            </a:r>
            <a:r>
              <a:rPr lang="ja-JP" altLang="en-US" sz="2800" dirty="0"/>
              <a:t>はい、どういたしまして。</a:t>
            </a:r>
            <a:endParaRPr lang="ko-KR"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F0"/>
                </a:solidFill>
              </a:rPr>
              <a:t>練習</a:t>
            </a:r>
            <a:r>
              <a:rPr lang="en-US" altLang="ja-JP" b="1" dirty="0">
                <a:solidFill>
                  <a:srgbClr val="00B0F0"/>
                </a:solidFill>
              </a:rPr>
              <a:t>A</a:t>
            </a:r>
            <a:endParaRPr lang="ko-KR" altLang="en-US" b="1" dirty="0">
              <a:solidFill>
                <a:srgbClr val="00B0F0"/>
              </a:solidFill>
            </a:endParaRPr>
          </a:p>
        </p:txBody>
      </p:sp>
      <p:sp>
        <p:nvSpPr>
          <p:cNvPr id="3" name="내용 개체 틀 2"/>
          <p:cNvSpPr>
            <a:spLocks noGrp="1"/>
          </p:cNvSpPr>
          <p:nvPr>
            <p:ph idx="1"/>
          </p:nvPr>
        </p:nvSpPr>
        <p:spPr/>
        <p:txBody>
          <a:bodyPr/>
          <a:lstStyle/>
          <a:p>
            <a:r>
              <a:rPr lang="en-US" altLang="ja-JP" dirty="0"/>
              <a:t>CD</a:t>
            </a:r>
            <a:r>
              <a:rPr lang="ja-JP" altLang="en-US" dirty="0"/>
              <a:t>をよく聴いて、次の</a:t>
            </a:r>
            <a:r>
              <a:rPr lang="en-US" altLang="ja-JP" dirty="0"/>
              <a:t>(1)</a:t>
            </a:r>
            <a:r>
              <a:rPr lang="ja-JP" altLang="en-US" dirty="0"/>
              <a:t>から</a:t>
            </a:r>
            <a:r>
              <a:rPr lang="en-US" altLang="ja-JP" dirty="0"/>
              <a:t>(4)</a:t>
            </a:r>
            <a:r>
              <a:rPr lang="ja-JP" altLang="en-US" dirty="0"/>
              <a:t>で貸し出しのできるものには○、できないものには☓をつけなさい。</a:t>
            </a:r>
            <a:endParaRPr lang="en-US" altLang="ja-JP" dirty="0"/>
          </a:p>
          <a:p>
            <a:pPr>
              <a:buNone/>
            </a:pPr>
            <a:r>
              <a:rPr lang="ja-JP" altLang="en-US" dirty="0"/>
              <a:t>　（１）</a:t>
            </a:r>
            <a:r>
              <a:rPr lang="en-US" altLang="ja-JP" dirty="0"/>
              <a:t>CD</a:t>
            </a:r>
          </a:p>
          <a:p>
            <a:pPr>
              <a:buNone/>
            </a:pPr>
            <a:r>
              <a:rPr lang="ja-JP" altLang="en-US" dirty="0"/>
              <a:t>　（２）ビデオテープ</a:t>
            </a:r>
            <a:endParaRPr lang="en-US" altLang="ja-JP" dirty="0"/>
          </a:p>
          <a:p>
            <a:pPr>
              <a:buNone/>
            </a:pPr>
            <a:r>
              <a:rPr lang="ja-JP" altLang="en-US" dirty="0"/>
              <a:t>　（</a:t>
            </a:r>
            <a:r>
              <a:rPr lang="en-US" altLang="ja-JP" dirty="0"/>
              <a:t>3</a:t>
            </a:r>
            <a:r>
              <a:rPr lang="ja-JP" altLang="en-US" dirty="0"/>
              <a:t>）辞書類</a:t>
            </a:r>
            <a:endParaRPr lang="en-US" altLang="ja-JP" dirty="0"/>
          </a:p>
          <a:p>
            <a:pPr>
              <a:buNone/>
            </a:pPr>
            <a:r>
              <a:rPr lang="ja-JP" altLang="en-US" dirty="0"/>
              <a:t>　（４）絵芝居</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F0"/>
                </a:solidFill>
              </a:rPr>
              <a:t>練習</a:t>
            </a:r>
            <a:r>
              <a:rPr lang="en-US" altLang="ja-JP" b="1" dirty="0">
                <a:solidFill>
                  <a:srgbClr val="00B0F0"/>
                </a:solidFill>
              </a:rPr>
              <a:t>B</a:t>
            </a:r>
            <a:endParaRPr lang="ko-KR" altLang="en-US" b="1" dirty="0">
              <a:solidFill>
                <a:srgbClr val="00B0F0"/>
              </a:solidFill>
            </a:endParaRPr>
          </a:p>
        </p:txBody>
      </p:sp>
      <p:sp>
        <p:nvSpPr>
          <p:cNvPr id="3" name="내용 개체 틀 2"/>
          <p:cNvSpPr>
            <a:spLocks noGrp="1"/>
          </p:cNvSpPr>
          <p:nvPr>
            <p:ph idx="1"/>
          </p:nvPr>
        </p:nvSpPr>
        <p:spPr>
          <a:xfrm>
            <a:off x="457200" y="1600200"/>
            <a:ext cx="8229600" cy="4997152"/>
          </a:xfrm>
        </p:spPr>
        <p:txBody>
          <a:bodyPr>
            <a:normAutofit fontScale="92500" lnSpcReduction="10000"/>
          </a:bodyPr>
          <a:lstStyle/>
          <a:p>
            <a:pPr>
              <a:buNone/>
            </a:pPr>
            <a:r>
              <a:rPr lang="ja-JP" altLang="en-US" dirty="0"/>
              <a:t>　　新しい図書館ができました。大きな図書館です。電話をして次の</a:t>
            </a:r>
            <a:r>
              <a:rPr lang="en-US" altLang="ja-JP" dirty="0"/>
              <a:t>(1)</a:t>
            </a:r>
            <a:r>
              <a:rPr lang="ja-JP" altLang="en-US" dirty="0"/>
              <a:t>から</a:t>
            </a:r>
            <a:r>
              <a:rPr lang="en-US" altLang="ja-JP" dirty="0"/>
              <a:t>(3)</a:t>
            </a:r>
            <a:r>
              <a:rPr lang="ja-JP" altLang="en-US" dirty="0"/>
              <a:t>のものが借りられるか、たずねてみることにしました。電話の</a:t>
            </a:r>
            <a:r>
              <a:rPr lang="en-US" altLang="ja-JP" dirty="0"/>
              <a:t>CD</a:t>
            </a:r>
            <a:r>
              <a:rPr lang="ja-JP" altLang="en-US" dirty="0"/>
              <a:t>会話を聴く前に、次のものが借りられるか、それとも借りられないか推測してみましょう。貸し出しができると思うものには○、できないと思うものには☓を付けてください。それから</a:t>
            </a:r>
            <a:r>
              <a:rPr lang="en-US" altLang="ja-JP" dirty="0"/>
              <a:t>CD</a:t>
            </a:r>
            <a:r>
              <a:rPr lang="ja-JP" altLang="en-US" dirty="0"/>
              <a:t>を聴いて自分の答えを確かめてください。</a:t>
            </a:r>
          </a:p>
          <a:p>
            <a:pPr>
              <a:buNone/>
            </a:pPr>
            <a:r>
              <a:rPr lang="en-US" altLang="ja-JP" dirty="0"/>
              <a:t>  (1)CD</a:t>
            </a:r>
            <a:r>
              <a:rPr lang="ja-JP" altLang="en-US" dirty="0"/>
              <a:t>　　　　　 　（　　　）</a:t>
            </a:r>
            <a:endParaRPr lang="en-US" altLang="ja-JP" dirty="0"/>
          </a:p>
          <a:p>
            <a:pPr>
              <a:buNone/>
            </a:pPr>
            <a:r>
              <a:rPr lang="en-US" altLang="ja-JP" dirty="0"/>
              <a:t>  (2)</a:t>
            </a:r>
            <a:r>
              <a:rPr lang="ja-JP" altLang="en-US" dirty="0"/>
              <a:t>ビデオテープ　　（　　　）</a:t>
            </a:r>
          </a:p>
          <a:p>
            <a:pPr>
              <a:buNone/>
            </a:pPr>
            <a:r>
              <a:rPr lang="en-US" altLang="ja-JP" dirty="0"/>
              <a:t>  (3)</a:t>
            </a:r>
            <a:r>
              <a:rPr lang="ja-JP" altLang="en-US" dirty="0"/>
              <a:t>辞書類 （　　　）</a:t>
            </a:r>
          </a:p>
          <a:p>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F0"/>
                </a:solidFill>
              </a:rPr>
              <a:t>練習</a:t>
            </a:r>
            <a:r>
              <a:rPr lang="en-US" altLang="ja-JP" b="1" dirty="0">
                <a:solidFill>
                  <a:srgbClr val="00B0F0"/>
                </a:solidFill>
              </a:rPr>
              <a:t>A</a:t>
            </a:r>
            <a:r>
              <a:rPr lang="ja-JP" altLang="en-US" b="1" dirty="0">
                <a:solidFill>
                  <a:srgbClr val="00B0F0"/>
                </a:solidFill>
              </a:rPr>
              <a:t>と練習</a:t>
            </a:r>
            <a:r>
              <a:rPr lang="en-US" altLang="ja-JP" b="1" dirty="0">
                <a:solidFill>
                  <a:srgbClr val="00B0F0"/>
                </a:solidFill>
              </a:rPr>
              <a:t>B</a:t>
            </a:r>
            <a:r>
              <a:rPr lang="ja-JP" altLang="en-US" b="1" dirty="0">
                <a:solidFill>
                  <a:srgbClr val="00B0F0"/>
                </a:solidFill>
              </a:rPr>
              <a:t>の違い</a:t>
            </a:r>
            <a:endParaRPr lang="ko-KR" altLang="en-US" b="1" dirty="0">
              <a:solidFill>
                <a:srgbClr val="00B0F0"/>
              </a:solidFill>
            </a:endParaRPr>
          </a:p>
        </p:txBody>
      </p:sp>
      <p:sp>
        <p:nvSpPr>
          <p:cNvPr id="3" name="내용 개체 틀 2"/>
          <p:cNvSpPr>
            <a:spLocks noGrp="1"/>
          </p:cNvSpPr>
          <p:nvPr>
            <p:ph idx="1"/>
          </p:nvPr>
        </p:nvSpPr>
        <p:spPr/>
        <p:txBody>
          <a:bodyPr>
            <a:normAutofit/>
          </a:bodyPr>
          <a:lstStyle/>
          <a:p>
            <a:endParaRPr lang="en-US" altLang="ja-JP" dirty="0"/>
          </a:p>
          <a:p>
            <a:r>
              <a:rPr lang="ja-JP" altLang="en-US" dirty="0"/>
              <a:t>練習</a:t>
            </a:r>
            <a:r>
              <a:rPr lang="en-US" altLang="ja-JP" dirty="0"/>
              <a:t>A</a:t>
            </a:r>
            <a:r>
              <a:rPr lang="ja-JP" altLang="en-US" dirty="0"/>
              <a:t>：すぐ</a:t>
            </a:r>
            <a:r>
              <a:rPr lang="en-US" altLang="ja-JP" dirty="0"/>
              <a:t>CD</a:t>
            </a:r>
            <a:r>
              <a:rPr lang="ja-JP" altLang="en-US" dirty="0"/>
              <a:t>を聴いている</a:t>
            </a:r>
            <a:endParaRPr lang="en-US" altLang="ja-JP" dirty="0"/>
          </a:p>
          <a:p>
            <a:r>
              <a:rPr lang="ja-JP" altLang="en-US" dirty="0"/>
              <a:t>練習</a:t>
            </a:r>
            <a:r>
              <a:rPr lang="en-US" altLang="ja-JP" dirty="0"/>
              <a:t>B</a:t>
            </a:r>
            <a:r>
              <a:rPr lang="ja-JP" altLang="en-US" dirty="0"/>
              <a:t>：まず予測を立てさせ、その予測が正しいかどうかを確かめるために</a:t>
            </a:r>
            <a:r>
              <a:rPr lang="en-US" altLang="ja-JP" dirty="0"/>
              <a:t>CD</a:t>
            </a:r>
            <a:r>
              <a:rPr lang="ja-JP" altLang="en-US" dirty="0"/>
              <a:t>を聴かせている。</a:t>
            </a:r>
            <a:endParaRPr lang="en-US" altLang="ja-JP" dirty="0"/>
          </a:p>
          <a:p>
            <a:r>
              <a:rPr lang="ja-JP" altLang="en-US" dirty="0"/>
              <a:t>つまり、</a:t>
            </a:r>
            <a:r>
              <a:rPr lang="en-US" altLang="ja-JP" dirty="0"/>
              <a:t>CD</a:t>
            </a:r>
            <a:r>
              <a:rPr lang="ja-JP" altLang="en-US" dirty="0"/>
              <a:t>を聴く前に先行タスクが入っているかいないかにある。</a:t>
            </a:r>
            <a:endParaRPr lang="en-US" altLang="ja-JP" dirty="0"/>
          </a:p>
          <a:p>
            <a:endParaRPr lang="en-US" altLang="ja-JP" dirty="0"/>
          </a:p>
          <a:p>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a:bodyPr>
          <a:lstStyle/>
          <a:p>
            <a:r>
              <a:rPr lang="ja-JP" altLang="en-US" dirty="0"/>
              <a:t>予測を立てるとき、学習者は自分自身が持っている図書館についてのスキーマを活性化する。そしてそのスキーマの下に立てた予測に照らして、この図書館はどうなのか調べるという目的で</a:t>
            </a:r>
            <a:r>
              <a:rPr lang="en-US" altLang="ja-JP"/>
              <a:t>CD</a:t>
            </a:r>
            <a:r>
              <a:rPr lang="ja-JP" altLang="en-US"/>
              <a:t>を</a:t>
            </a:r>
            <a:r>
              <a:rPr lang="ja-JP" altLang="en-US" dirty="0"/>
              <a:t>聴く。</a:t>
            </a:r>
            <a:endParaRPr lang="en-US" altLang="ja-JP" dirty="0"/>
          </a:p>
          <a:p>
            <a:r>
              <a:rPr lang="ja-JP" altLang="en-US" dirty="0"/>
              <a:t>これは日常生活の聞きで母語話者が無意識のうちにとっているストラテジーである。このようにすると、学習者にとっては、実生活で行われる聴きの能力を養成することにつながると思われる。</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42844" y="274638"/>
            <a:ext cx="8858312" cy="1143000"/>
          </a:xfrm>
        </p:spPr>
        <p:txBody>
          <a:bodyPr>
            <a:noAutofit/>
          </a:bodyPr>
          <a:lstStyle/>
          <a:p>
            <a:r>
              <a:rPr lang="ja-JP" altLang="en-US" sz="3600" b="1" dirty="0">
                <a:solidFill>
                  <a:srgbClr val="00B0F0"/>
                </a:solidFill>
              </a:rPr>
              <a:t>聴かせるテキストは話し言葉の特徴</a:t>
            </a:r>
            <a:br>
              <a:rPr lang="en-US" altLang="ja-JP" sz="3600" b="1" dirty="0">
                <a:solidFill>
                  <a:srgbClr val="00B0F0"/>
                </a:solidFill>
              </a:rPr>
            </a:br>
            <a:r>
              <a:rPr lang="ja-JP" altLang="en-US" sz="3600" b="1" dirty="0">
                <a:solidFill>
                  <a:srgbClr val="00B0F0"/>
                </a:solidFill>
              </a:rPr>
              <a:t>を備えているか。</a:t>
            </a:r>
            <a:endParaRPr lang="ko-KR" altLang="en-US" sz="3600" b="1" dirty="0">
              <a:solidFill>
                <a:srgbClr val="00B0F0"/>
              </a:solidFill>
            </a:endParaRPr>
          </a:p>
        </p:txBody>
      </p:sp>
      <p:sp>
        <p:nvSpPr>
          <p:cNvPr id="3" name="내용 개체 틀 2"/>
          <p:cNvSpPr>
            <a:spLocks noGrp="1"/>
          </p:cNvSpPr>
          <p:nvPr>
            <p:ph idx="1"/>
          </p:nvPr>
        </p:nvSpPr>
        <p:spPr/>
        <p:txBody>
          <a:bodyPr>
            <a:normAutofit/>
          </a:bodyPr>
          <a:lstStyle/>
          <a:p>
            <a:pPr>
              <a:buNone/>
            </a:pPr>
            <a:r>
              <a:rPr lang="en-US" altLang="ja-JP" sz="2400" dirty="0"/>
              <a:t>A:</a:t>
            </a:r>
            <a:r>
              <a:rPr lang="ja-JP" altLang="en-US" sz="2400" dirty="0"/>
              <a:t>ごめんください。</a:t>
            </a:r>
            <a:endParaRPr lang="en-US" altLang="ja-JP" sz="2400" dirty="0"/>
          </a:p>
          <a:p>
            <a:pPr>
              <a:buNone/>
            </a:pPr>
            <a:r>
              <a:rPr lang="en-US" altLang="ja-JP" sz="2400" dirty="0"/>
              <a:t>B:</a:t>
            </a:r>
            <a:r>
              <a:rPr lang="ja-JP" altLang="en-US" sz="2400" dirty="0"/>
              <a:t>はい。</a:t>
            </a:r>
            <a:endParaRPr lang="en-US" altLang="ja-JP" sz="2400" dirty="0"/>
          </a:p>
          <a:p>
            <a:pPr>
              <a:buNone/>
            </a:pPr>
            <a:r>
              <a:rPr lang="en-US" altLang="ja-JP" sz="2400" dirty="0"/>
              <a:t>A:</a:t>
            </a:r>
            <a:r>
              <a:rPr lang="ja-JP" altLang="en-US" sz="2400" dirty="0"/>
              <a:t>今日は。鈴木さんはご在宅でしょうか。</a:t>
            </a:r>
            <a:endParaRPr lang="en-US" altLang="ja-JP" sz="2400" dirty="0"/>
          </a:p>
          <a:p>
            <a:pPr>
              <a:buNone/>
            </a:pPr>
            <a:r>
              <a:rPr lang="en-US" altLang="ja-JP" sz="2400" dirty="0"/>
              <a:t>B:</a:t>
            </a:r>
            <a:r>
              <a:rPr lang="ja-JP" altLang="en-US" sz="2400" dirty="0"/>
              <a:t>いいえ、兄は荷物を出しに近くのスーパーに出かけたところです。すぐ帰ります。</a:t>
            </a:r>
            <a:endParaRPr lang="en-US" altLang="ja-JP" sz="2400" dirty="0"/>
          </a:p>
          <a:p>
            <a:pPr>
              <a:buNone/>
            </a:pPr>
            <a:r>
              <a:rPr lang="en-US" altLang="ja-JP" sz="2400" dirty="0"/>
              <a:t>A</a:t>
            </a:r>
            <a:r>
              <a:rPr lang="ja-JP" altLang="en-US" sz="2400" dirty="0"/>
              <a:t>：ああ、そうですか。じゃ、ここでお待ちしてもいいですか。</a:t>
            </a:r>
            <a:endParaRPr lang="en-US" altLang="ja-JP" sz="2400" dirty="0"/>
          </a:p>
          <a:p>
            <a:pPr>
              <a:buNone/>
            </a:pPr>
            <a:r>
              <a:rPr lang="ja-JP" altLang="en-US" sz="2400" dirty="0"/>
              <a:t>　　弟さんでいらっしゃいますか。</a:t>
            </a:r>
            <a:endParaRPr lang="en-US" altLang="ja-JP" sz="2400" dirty="0"/>
          </a:p>
          <a:p>
            <a:pPr>
              <a:buNone/>
            </a:pPr>
            <a:r>
              <a:rPr lang="en-US" altLang="ja-JP" sz="2400" dirty="0"/>
              <a:t>B:</a:t>
            </a:r>
            <a:r>
              <a:rPr lang="ja-JP" altLang="en-US" sz="2400" dirty="0"/>
              <a:t>はい、そうです。</a:t>
            </a:r>
            <a:endParaRPr lang="en-US" altLang="ja-JP" sz="2400" dirty="0"/>
          </a:p>
          <a:p>
            <a:pPr>
              <a:buNone/>
            </a:pPr>
            <a:r>
              <a:rPr lang="en-US" altLang="ja-JP" sz="2400" dirty="0"/>
              <a:t>A</a:t>
            </a:r>
            <a:r>
              <a:rPr lang="ja-JP" altLang="en-US" sz="2400" dirty="0"/>
              <a:t>：小説がお好きだそうですね。</a:t>
            </a:r>
            <a:endParaRPr lang="en-US" altLang="ja-JP" sz="2400" dirty="0"/>
          </a:p>
          <a:p>
            <a:pPr>
              <a:buNone/>
            </a:pPr>
            <a:r>
              <a:rPr lang="en-US" altLang="ja-JP" sz="2400" dirty="0"/>
              <a:t>B:</a:t>
            </a:r>
            <a:r>
              <a:rPr lang="ja-JP" altLang="en-US" sz="2400" dirty="0"/>
              <a:t>はい、探偵小説が好きです。</a:t>
            </a:r>
            <a:endParaRPr lang="ko-KR" altLang="en-US" sz="2400" dirty="0"/>
          </a:p>
          <a:p>
            <a:pPr>
              <a:buNone/>
            </a:pPr>
            <a:endParaRPr lang="en-US" altLang="ja-JP"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会話であっても、書き言葉の特徴を備えていて、書き言葉が会話になっていることが多い。つまり、話し言葉の特徴を備えていることは少ない。</a:t>
            </a:r>
            <a:endParaRPr lang="en-US" altLang="ja-JP" dirty="0"/>
          </a:p>
          <a:p>
            <a:r>
              <a:rPr lang="ja-JP" altLang="en-US" dirty="0"/>
              <a:t>話し言葉の特徴：句や節で終わる、修正や繰り返しを多用、フィラー、ポーズなどがある。など</a:t>
            </a:r>
            <a:endParaRPr lang="ko-KR" altLang="en-US" dirty="0"/>
          </a:p>
          <a:p>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F0"/>
                </a:solidFill>
              </a:rPr>
              <a:t>話し手は見えているか。</a:t>
            </a:r>
            <a:endParaRPr lang="ko-KR" altLang="en-US" b="1" dirty="0">
              <a:solidFill>
                <a:srgbClr val="00B0F0"/>
              </a:solidFill>
            </a:endParaRPr>
          </a:p>
        </p:txBody>
      </p:sp>
      <p:sp>
        <p:nvSpPr>
          <p:cNvPr id="3" name="내용 개체 틀 2"/>
          <p:cNvSpPr>
            <a:spLocks noGrp="1"/>
          </p:cNvSpPr>
          <p:nvPr>
            <p:ph idx="1"/>
          </p:nvPr>
        </p:nvSpPr>
        <p:spPr/>
        <p:txBody>
          <a:bodyPr/>
          <a:lstStyle/>
          <a:p>
            <a:r>
              <a:rPr lang="ja-JP" altLang="en-US" dirty="0"/>
              <a:t>聴解練習は必ずしも</a:t>
            </a:r>
            <a:r>
              <a:rPr lang="en-US" altLang="ja-JP" dirty="0"/>
              <a:t>CD</a:t>
            </a:r>
            <a:r>
              <a:rPr lang="ja-JP" altLang="en-US" dirty="0"/>
              <a:t>付で行う必要はなく、クラスの全体活動では教師が、グループやペア活動では仲間の学習者が話すことを聴きの素材であることを、もっと積極的に取り入れてもよい。</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F0"/>
                </a:solidFill>
              </a:rPr>
              <a:t>答え方に工夫が見られるか。</a:t>
            </a:r>
            <a:endParaRPr lang="ko-KR" altLang="en-US" b="1" dirty="0">
              <a:solidFill>
                <a:srgbClr val="00B0F0"/>
              </a:solidFill>
            </a:endParaRPr>
          </a:p>
        </p:txBody>
      </p:sp>
      <p:sp>
        <p:nvSpPr>
          <p:cNvPr id="3" name="내용 개체 틀 2"/>
          <p:cNvSpPr>
            <a:spLocks noGrp="1"/>
          </p:cNvSpPr>
          <p:nvPr>
            <p:ph idx="1"/>
          </p:nvPr>
        </p:nvSpPr>
        <p:spPr/>
        <p:txBody>
          <a:bodyPr/>
          <a:lstStyle/>
          <a:p>
            <a:r>
              <a:rPr lang="ja-JP" altLang="en-US" dirty="0"/>
              <a:t>質問を読み、それに書いて答える式の聴解練習では、聴くことより、読んだり書いたりといった他の能力が肝要であり、そうした能力の養成にも力が注がれていることに気がつく。</a:t>
            </a:r>
            <a:endParaRPr lang="en-US" altLang="ja-JP" dirty="0"/>
          </a:p>
          <a:p>
            <a:r>
              <a:rPr lang="ja-JP" altLang="en-US" dirty="0"/>
              <a:t>書かれた質問に書いて答える形式は、特別に聴くことと書くことを並行する状況の聴解練習を目指すのでない限り、特に初級レベルでは避けることが望ましい。</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聴いた情報をもとにして、与えられた図に、線や絵を書き込む、数字で答える、あるいは適切な絵や図表を選ぶなど、文字を読んだり書いたりすることを伴わない解答形式をとることによって、聴くことに集中させることを追及したい。</a:t>
            </a:r>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92D050"/>
                </a:solidFill>
              </a:rPr>
              <a:t>聴解中心の活動</a:t>
            </a:r>
            <a:endParaRPr lang="ko-KR" altLang="en-US" b="1" dirty="0">
              <a:solidFill>
                <a:srgbClr val="92D050"/>
              </a:solidFill>
            </a:endParaRPr>
          </a:p>
        </p:txBody>
      </p:sp>
      <p:sp>
        <p:nvSpPr>
          <p:cNvPr id="3" name="내용 개체 틀 2"/>
          <p:cNvSpPr>
            <a:spLocks noGrp="1"/>
          </p:cNvSpPr>
          <p:nvPr>
            <p:ph idx="1"/>
          </p:nvPr>
        </p:nvSpPr>
        <p:spPr/>
        <p:txBody>
          <a:bodyPr>
            <a:normAutofit lnSpcReduction="10000"/>
          </a:bodyPr>
          <a:lstStyle/>
          <a:p>
            <a:r>
              <a:rPr lang="ja-JP" altLang="en-US" dirty="0"/>
              <a:t>実現されていると考えられる学習</a:t>
            </a:r>
            <a:endParaRPr lang="en-US" altLang="ja-JP" dirty="0"/>
          </a:p>
          <a:p>
            <a:r>
              <a:rPr lang="ja-JP" altLang="en-US" dirty="0"/>
              <a:t>観点）</a:t>
            </a:r>
            <a:endParaRPr lang="en-US" altLang="ja-JP" dirty="0"/>
          </a:p>
          <a:p>
            <a:pPr>
              <a:buNone/>
            </a:pPr>
            <a:r>
              <a:rPr lang="ja-JP" altLang="en-US" dirty="0"/>
              <a:t>　</a:t>
            </a:r>
            <a:r>
              <a:rPr lang="en-US" altLang="ja-JP" dirty="0"/>
              <a:t>(A)</a:t>
            </a:r>
            <a:r>
              <a:rPr lang="ja-JP" altLang="en-US" dirty="0"/>
              <a:t>目的をもって集中した聴きができるか</a:t>
            </a:r>
            <a:endParaRPr lang="en-US" altLang="ja-JP" dirty="0"/>
          </a:p>
          <a:p>
            <a:pPr>
              <a:buNone/>
            </a:pPr>
            <a:r>
              <a:rPr lang="en-US" altLang="ko-KR" dirty="0"/>
              <a:t>  (B)</a:t>
            </a:r>
            <a:r>
              <a:rPr lang="ja-JP" altLang="en-US" dirty="0"/>
              <a:t>適切な予測のもとに聴き取りができるか</a:t>
            </a:r>
            <a:endParaRPr lang="en-US" altLang="ko-KR" dirty="0"/>
          </a:p>
          <a:p>
            <a:pPr>
              <a:buNone/>
            </a:pPr>
            <a:r>
              <a:rPr lang="en-US" altLang="ko-KR" dirty="0"/>
              <a:t>  (C)</a:t>
            </a:r>
            <a:r>
              <a:rPr lang="ja-JP" altLang="en-US" dirty="0"/>
              <a:t>聴かせるテキストは話し言葉の特徴を備え</a:t>
            </a:r>
            <a:endParaRPr lang="en-US" altLang="ja-JP" dirty="0"/>
          </a:p>
          <a:p>
            <a:pPr>
              <a:buNone/>
            </a:pPr>
            <a:r>
              <a:rPr lang="ja-JP" altLang="en-US" dirty="0"/>
              <a:t>　　　ているか</a:t>
            </a:r>
            <a:endParaRPr lang="en-US" altLang="ko-KR" dirty="0"/>
          </a:p>
          <a:p>
            <a:pPr>
              <a:buNone/>
            </a:pPr>
            <a:r>
              <a:rPr lang="en-US" altLang="ko-KR" dirty="0"/>
              <a:t>  (D)</a:t>
            </a:r>
            <a:r>
              <a:rPr lang="ja-JP" altLang="en-US" dirty="0"/>
              <a:t>話し手は見えているか</a:t>
            </a:r>
            <a:endParaRPr lang="en-US" altLang="ko-KR" dirty="0"/>
          </a:p>
          <a:p>
            <a:pPr>
              <a:buNone/>
            </a:pPr>
            <a:r>
              <a:rPr lang="en-US" altLang="ko-KR" dirty="0"/>
              <a:t>  (E)</a:t>
            </a:r>
            <a:r>
              <a:rPr lang="ja-JP" altLang="en-US" dirty="0"/>
              <a:t>答え方に工夫が見られるか</a:t>
            </a:r>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79512" y="116632"/>
            <a:ext cx="8784976" cy="6624736"/>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S:</a:t>
            </a:r>
            <a:r>
              <a:rPr lang="ja-JP" altLang="ko-KR" dirty="0"/>
              <a:t>中年のサラリマン、</a:t>
            </a:r>
            <a:r>
              <a:rPr lang="en-US" altLang="ko-KR" dirty="0"/>
              <a:t>W:</a:t>
            </a:r>
            <a:r>
              <a:rPr lang="ja-JP" altLang="ko-KR" dirty="0"/>
              <a:t>女性</a:t>
            </a:r>
            <a:endParaRPr lang="ko-KR" altLang="en-US" dirty="0"/>
          </a:p>
        </p:txBody>
      </p:sp>
      <p:sp>
        <p:nvSpPr>
          <p:cNvPr id="3" name="내용 개체 틀 2"/>
          <p:cNvSpPr>
            <a:spLocks noGrp="1"/>
          </p:cNvSpPr>
          <p:nvPr>
            <p:ph idx="1"/>
          </p:nvPr>
        </p:nvSpPr>
        <p:spPr/>
        <p:txBody>
          <a:bodyPr/>
          <a:lstStyle/>
          <a:p>
            <a:r>
              <a:rPr lang="en-US" altLang="ko-KR" dirty="0"/>
              <a:t>S:</a:t>
            </a:r>
            <a:r>
              <a:rPr lang="ja-JP" altLang="ko-KR" dirty="0"/>
              <a:t>すいません、でんわ、どこですか。</a:t>
            </a:r>
            <a:endParaRPr lang="ko-KR" altLang="ko-KR" dirty="0"/>
          </a:p>
          <a:p>
            <a:r>
              <a:rPr lang="en-US" altLang="ko-KR" dirty="0"/>
              <a:t>W:</a:t>
            </a:r>
            <a:r>
              <a:rPr lang="ja-JP" altLang="ko-KR" dirty="0"/>
              <a:t>え？</a:t>
            </a:r>
            <a:endParaRPr lang="ko-KR" altLang="ko-KR" dirty="0"/>
          </a:p>
          <a:p>
            <a:r>
              <a:rPr lang="en-US" altLang="ko-KR" dirty="0"/>
              <a:t>S:</a:t>
            </a:r>
            <a:r>
              <a:rPr lang="ja-JP" altLang="ko-KR" dirty="0"/>
              <a:t>すいません、でんわ　どこですか。</a:t>
            </a:r>
            <a:endParaRPr lang="ko-KR" altLang="ko-KR" dirty="0"/>
          </a:p>
          <a:p>
            <a:r>
              <a:rPr lang="en-US" altLang="ko-KR" dirty="0"/>
              <a:t>W:</a:t>
            </a:r>
            <a:r>
              <a:rPr lang="ja-JP" altLang="ko-KR" dirty="0"/>
              <a:t>ああ、電話はね、まっすぐ行って左。</a:t>
            </a:r>
            <a:endParaRPr lang="ko-KR" altLang="ko-KR" dirty="0"/>
          </a:p>
          <a:p>
            <a:r>
              <a:rPr lang="en-US" altLang="ko-KR" dirty="0"/>
              <a:t>S:</a:t>
            </a:r>
            <a:r>
              <a:rPr lang="ja-JP" altLang="ko-KR" dirty="0"/>
              <a:t>まっすぐ行って左ですね。どうも。</a:t>
            </a:r>
            <a:endParaRPr lang="ko-KR" altLang="ko-KR" dirty="0"/>
          </a:p>
          <a:p>
            <a:endParaRPr lang="ko-KR" altLang="en-US" dirty="0"/>
          </a:p>
        </p:txBody>
      </p:sp>
    </p:spTree>
    <p:extLst>
      <p:ext uri="{BB962C8B-B14F-4D97-AF65-F5344CB8AC3E}">
        <p14:creationId xmlns:p14="http://schemas.microsoft.com/office/powerpoint/2010/main" val="3477888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08520" y="274638"/>
            <a:ext cx="9252520" cy="1143000"/>
          </a:xfrm>
        </p:spPr>
        <p:txBody>
          <a:bodyPr>
            <a:normAutofit fontScale="90000"/>
          </a:bodyPr>
          <a:lstStyle/>
          <a:p>
            <a:br>
              <a:rPr lang="en-US" altLang="ko-KR" dirty="0"/>
            </a:br>
            <a:r>
              <a:rPr lang="en-US" altLang="ko-KR" dirty="0"/>
              <a:t>M</a:t>
            </a:r>
            <a:r>
              <a:rPr lang="ja-JP" altLang="ko-KR" dirty="0"/>
              <a:t>：若いビジネスマン</a:t>
            </a:r>
            <a:r>
              <a:rPr lang="ja-JP" altLang="en-US" dirty="0"/>
              <a:t>、</a:t>
            </a:r>
            <a:br>
              <a:rPr lang="en-US" altLang="ja-JP" dirty="0"/>
            </a:br>
            <a:r>
              <a:rPr lang="en-US" altLang="ko-KR" dirty="0"/>
              <a:t>W:</a:t>
            </a:r>
            <a:r>
              <a:rPr lang="ja-JP" altLang="ko-KR" dirty="0"/>
              <a:t>若い女性事務員</a:t>
            </a:r>
            <a:br>
              <a:rPr lang="ko-KR" altLang="ko-KR" dirty="0"/>
            </a:br>
            <a:endParaRPr lang="ko-KR" altLang="en-US" dirty="0"/>
          </a:p>
        </p:txBody>
      </p:sp>
      <p:sp>
        <p:nvSpPr>
          <p:cNvPr id="3" name="내용 개체 틀 2"/>
          <p:cNvSpPr>
            <a:spLocks noGrp="1"/>
          </p:cNvSpPr>
          <p:nvPr>
            <p:ph idx="1"/>
          </p:nvPr>
        </p:nvSpPr>
        <p:spPr/>
        <p:txBody>
          <a:bodyPr/>
          <a:lstStyle/>
          <a:p>
            <a:r>
              <a:rPr lang="en-US" altLang="ko-KR" dirty="0"/>
              <a:t>M:</a:t>
            </a:r>
            <a:r>
              <a:rPr lang="ja-JP" altLang="ko-KR" dirty="0"/>
              <a:t>すいません、ポストどこですか。</a:t>
            </a:r>
            <a:endParaRPr lang="ko-KR" altLang="ko-KR" dirty="0"/>
          </a:p>
          <a:p>
            <a:r>
              <a:rPr lang="en-US" altLang="ko-KR" dirty="0"/>
              <a:t>W:</a:t>
            </a:r>
            <a:r>
              <a:rPr lang="ja-JP" altLang="ko-KR" dirty="0"/>
              <a:t>ポスト。</a:t>
            </a:r>
            <a:endParaRPr lang="ko-KR" altLang="ko-KR" dirty="0"/>
          </a:p>
          <a:p>
            <a:r>
              <a:rPr lang="en-US" altLang="ko-KR" dirty="0"/>
              <a:t>M</a:t>
            </a:r>
            <a:r>
              <a:rPr lang="ja-JP" altLang="ko-KR" dirty="0"/>
              <a:t>：はい。</a:t>
            </a:r>
            <a:endParaRPr lang="ko-KR" altLang="ko-KR" dirty="0"/>
          </a:p>
          <a:p>
            <a:r>
              <a:rPr lang="en-US" altLang="ko-KR" dirty="0"/>
              <a:t>W:</a:t>
            </a:r>
            <a:r>
              <a:rPr lang="ja-JP" altLang="ko-KR" dirty="0"/>
              <a:t>えっとそうですね。確かまっすぐ行くとえっと右側にあったと思いますけど。</a:t>
            </a:r>
            <a:endParaRPr lang="ko-KR" altLang="ko-KR" dirty="0"/>
          </a:p>
          <a:p>
            <a:r>
              <a:rPr lang="en-US" altLang="ko-KR" dirty="0"/>
              <a:t>M:</a:t>
            </a:r>
            <a:r>
              <a:rPr lang="ja-JP" altLang="ko-KR" dirty="0"/>
              <a:t>右、どうもありがとう。</a:t>
            </a:r>
            <a:endParaRPr lang="ko-KR" altLang="ko-KR" dirty="0"/>
          </a:p>
          <a:p>
            <a:endParaRPr lang="ko-KR" altLang="en-US" dirty="0"/>
          </a:p>
        </p:txBody>
      </p:sp>
    </p:spTree>
    <p:extLst>
      <p:ext uri="{BB962C8B-B14F-4D97-AF65-F5344CB8AC3E}">
        <p14:creationId xmlns:p14="http://schemas.microsoft.com/office/powerpoint/2010/main" val="901649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W:</a:t>
            </a:r>
            <a:r>
              <a:rPr lang="ja-JP" altLang="ko-KR" dirty="0"/>
              <a:t>年配の女性　</a:t>
            </a:r>
            <a:r>
              <a:rPr lang="en-US" altLang="ko-KR" dirty="0"/>
              <a:t>S:</a:t>
            </a:r>
            <a:r>
              <a:rPr lang="ja-JP" altLang="ko-KR" dirty="0"/>
              <a:t>若い店員</a:t>
            </a:r>
            <a:endParaRPr lang="ko-KR" altLang="en-US" dirty="0"/>
          </a:p>
        </p:txBody>
      </p:sp>
      <p:sp>
        <p:nvSpPr>
          <p:cNvPr id="3" name="내용 개체 틀 2"/>
          <p:cNvSpPr>
            <a:spLocks noGrp="1"/>
          </p:cNvSpPr>
          <p:nvPr>
            <p:ph idx="1"/>
          </p:nvPr>
        </p:nvSpPr>
        <p:spPr/>
        <p:txBody>
          <a:bodyPr/>
          <a:lstStyle/>
          <a:p>
            <a:r>
              <a:rPr lang="en-US" altLang="ko-KR" dirty="0"/>
              <a:t>W:</a:t>
            </a:r>
            <a:r>
              <a:rPr lang="ja-JP" altLang="ko-KR" dirty="0"/>
              <a:t>あの、すいません。ちょっとお尋ねしますが。</a:t>
            </a:r>
            <a:endParaRPr lang="ko-KR" altLang="ko-KR" dirty="0"/>
          </a:p>
          <a:p>
            <a:r>
              <a:rPr lang="en-US" altLang="ko-KR" dirty="0"/>
              <a:t>S:</a:t>
            </a:r>
            <a:r>
              <a:rPr lang="ja-JP" altLang="ko-KR" dirty="0"/>
              <a:t>はい。いらっしゃいませ。</a:t>
            </a:r>
            <a:endParaRPr lang="ko-KR" altLang="ko-KR" dirty="0"/>
          </a:p>
          <a:p>
            <a:r>
              <a:rPr lang="en-US" altLang="ko-KR" dirty="0"/>
              <a:t>W</a:t>
            </a:r>
            <a:r>
              <a:rPr lang="ja-JP" altLang="ko-KR" dirty="0"/>
              <a:t>：エレベーターはどこですか。</a:t>
            </a:r>
            <a:endParaRPr lang="ko-KR" altLang="ko-KR" dirty="0"/>
          </a:p>
          <a:p>
            <a:r>
              <a:rPr lang="en-US" altLang="ko-KR" dirty="0"/>
              <a:t>S:</a:t>
            </a:r>
            <a:r>
              <a:rPr lang="ja-JP" altLang="ko-KR" dirty="0"/>
              <a:t>はい、エレベーターはですね。こちら、まっすぐいらっしゃいますと、左手になります。</a:t>
            </a:r>
            <a:endParaRPr lang="ko-KR" altLang="ko-KR" dirty="0"/>
          </a:p>
          <a:p>
            <a:r>
              <a:rPr lang="en-US" altLang="ko-KR" dirty="0"/>
              <a:t>W:</a:t>
            </a:r>
            <a:r>
              <a:rPr lang="ja-JP" altLang="ko-KR" dirty="0"/>
              <a:t>ああ、そうですか。はい、どうもありがとう。</a:t>
            </a:r>
            <a:endParaRPr lang="ko-KR" altLang="ko-KR" dirty="0"/>
          </a:p>
          <a:p>
            <a:endParaRPr lang="ko-KR" altLang="en-US" dirty="0"/>
          </a:p>
        </p:txBody>
      </p:sp>
    </p:spTree>
    <p:extLst>
      <p:ext uri="{BB962C8B-B14F-4D97-AF65-F5344CB8AC3E}">
        <p14:creationId xmlns:p14="http://schemas.microsoft.com/office/powerpoint/2010/main" val="1610889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W:</a:t>
            </a:r>
            <a:r>
              <a:rPr lang="ja-JP" altLang="ko-KR" dirty="0"/>
              <a:t>女性　　</a:t>
            </a:r>
            <a:r>
              <a:rPr lang="en-US" altLang="ko-KR" dirty="0"/>
              <a:t>M:</a:t>
            </a:r>
            <a:r>
              <a:rPr lang="ja-JP" altLang="ko-KR" dirty="0"/>
              <a:t>改札の駅員</a:t>
            </a:r>
            <a:endParaRPr lang="ko-KR" altLang="en-US" dirty="0"/>
          </a:p>
        </p:txBody>
      </p:sp>
      <p:sp>
        <p:nvSpPr>
          <p:cNvPr id="3" name="내용 개체 틀 2"/>
          <p:cNvSpPr>
            <a:spLocks noGrp="1"/>
          </p:cNvSpPr>
          <p:nvPr>
            <p:ph idx="1"/>
          </p:nvPr>
        </p:nvSpPr>
        <p:spPr/>
        <p:txBody>
          <a:bodyPr/>
          <a:lstStyle/>
          <a:p>
            <a:r>
              <a:rPr lang="en-US" altLang="ko-KR" dirty="0"/>
              <a:t>W:</a:t>
            </a:r>
            <a:r>
              <a:rPr lang="ja-JP" altLang="ko-KR" dirty="0"/>
              <a:t>あの、すいません。</a:t>
            </a:r>
            <a:endParaRPr lang="ko-KR" altLang="ko-KR" dirty="0"/>
          </a:p>
          <a:p>
            <a:r>
              <a:rPr lang="en-US" altLang="ko-KR" dirty="0"/>
              <a:t>M</a:t>
            </a:r>
            <a:r>
              <a:rPr lang="ja-JP" altLang="ko-KR" dirty="0"/>
              <a:t>：は</a:t>
            </a:r>
            <a:endParaRPr lang="ko-KR" altLang="ko-KR" dirty="0"/>
          </a:p>
          <a:p>
            <a:r>
              <a:rPr lang="en-US" altLang="ko-KR" dirty="0"/>
              <a:t>W:</a:t>
            </a:r>
            <a:r>
              <a:rPr lang="ja-JP" altLang="ko-KR" dirty="0"/>
              <a:t>タクシーはどこですか。</a:t>
            </a:r>
            <a:endParaRPr lang="ko-KR" altLang="ko-KR" dirty="0"/>
          </a:p>
          <a:p>
            <a:r>
              <a:rPr lang="en-US" altLang="ko-KR" dirty="0"/>
              <a:t>M:</a:t>
            </a:r>
            <a:r>
              <a:rPr lang="ja-JP" altLang="ko-KR" dirty="0"/>
              <a:t>タクシーはまっすぐ行って、右。</a:t>
            </a:r>
            <a:endParaRPr lang="ko-KR" altLang="ko-KR" dirty="0"/>
          </a:p>
          <a:p>
            <a:r>
              <a:rPr lang="en-US" altLang="ko-KR" dirty="0"/>
              <a:t>W:</a:t>
            </a:r>
            <a:r>
              <a:rPr lang="ja-JP" altLang="ko-KR" dirty="0"/>
              <a:t>右ですね。どうもありがとうございます。</a:t>
            </a:r>
            <a:endParaRPr lang="ko-KR" altLang="ko-KR" dirty="0"/>
          </a:p>
          <a:p>
            <a:endParaRPr lang="ko-KR" altLang="en-US" dirty="0"/>
          </a:p>
        </p:txBody>
      </p:sp>
    </p:spTree>
    <p:extLst>
      <p:ext uri="{BB962C8B-B14F-4D97-AF65-F5344CB8AC3E}">
        <p14:creationId xmlns:p14="http://schemas.microsoft.com/office/powerpoint/2010/main" val="2889552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W:</a:t>
            </a:r>
            <a:r>
              <a:rPr lang="ja-JP" altLang="ko-KR" dirty="0"/>
              <a:t>荷物を持った若い女性</a:t>
            </a:r>
            <a:r>
              <a:rPr lang="ja-JP" altLang="en-US" dirty="0"/>
              <a:t>、</a:t>
            </a:r>
            <a:br>
              <a:rPr lang="en-US" altLang="ja-JP" dirty="0"/>
            </a:br>
            <a:r>
              <a:rPr lang="en-US" altLang="ko-KR" dirty="0"/>
              <a:t>M</a:t>
            </a:r>
            <a:r>
              <a:rPr lang="ja-JP" altLang="ko-KR" dirty="0"/>
              <a:t>：若い男性</a:t>
            </a:r>
            <a:endParaRPr lang="ko-KR" altLang="en-US" dirty="0"/>
          </a:p>
        </p:txBody>
      </p:sp>
      <p:sp>
        <p:nvSpPr>
          <p:cNvPr id="3" name="내용 개체 틀 2"/>
          <p:cNvSpPr>
            <a:spLocks noGrp="1"/>
          </p:cNvSpPr>
          <p:nvPr>
            <p:ph idx="1"/>
          </p:nvPr>
        </p:nvSpPr>
        <p:spPr/>
        <p:txBody>
          <a:bodyPr/>
          <a:lstStyle/>
          <a:p>
            <a:r>
              <a:rPr lang="en-US" altLang="ko-KR" dirty="0"/>
              <a:t>W:</a:t>
            </a:r>
            <a:r>
              <a:rPr lang="ja-JP" altLang="ko-KR" dirty="0"/>
              <a:t>すいません。あの、コインロッカーはどこですか。</a:t>
            </a:r>
            <a:endParaRPr lang="ko-KR" altLang="ko-KR" dirty="0"/>
          </a:p>
          <a:p>
            <a:r>
              <a:rPr lang="en-US" altLang="ko-KR" dirty="0"/>
              <a:t>M</a:t>
            </a:r>
            <a:r>
              <a:rPr lang="ja-JP" altLang="ko-KR" dirty="0"/>
              <a:t>：え。</a:t>
            </a:r>
            <a:endParaRPr lang="ko-KR" altLang="ko-KR" dirty="0"/>
          </a:p>
          <a:p>
            <a:r>
              <a:rPr lang="en-US" altLang="ko-KR" dirty="0"/>
              <a:t>W:</a:t>
            </a:r>
            <a:r>
              <a:rPr lang="ja-JP" altLang="ko-KR" dirty="0"/>
              <a:t>コインロッカーは。</a:t>
            </a:r>
            <a:endParaRPr lang="ko-KR" altLang="ko-KR" dirty="0"/>
          </a:p>
          <a:p>
            <a:r>
              <a:rPr lang="en-US" altLang="ko-KR" dirty="0"/>
              <a:t>M</a:t>
            </a:r>
            <a:r>
              <a:rPr lang="ja-JP" altLang="ko-KR" dirty="0"/>
              <a:t>：ああ、はい、はい、コインロッカーはね。ここまっすぐ行って左なんだけどね。分かる？</a:t>
            </a:r>
            <a:endParaRPr lang="ko-KR" altLang="ko-KR" dirty="0"/>
          </a:p>
          <a:p>
            <a:r>
              <a:rPr lang="en-US" altLang="ko-KR" dirty="0"/>
              <a:t>W</a:t>
            </a:r>
            <a:r>
              <a:rPr lang="ja-JP" altLang="ko-KR" dirty="0"/>
              <a:t>：はい、分かりました。どうも。</a:t>
            </a:r>
            <a:endParaRPr lang="ko-KR" altLang="ko-KR" dirty="0"/>
          </a:p>
          <a:p>
            <a:endParaRPr lang="ko-KR" altLang="en-US" dirty="0"/>
          </a:p>
        </p:txBody>
      </p:sp>
    </p:spTree>
    <p:extLst>
      <p:ext uri="{BB962C8B-B14F-4D97-AF65-F5344CB8AC3E}">
        <p14:creationId xmlns:p14="http://schemas.microsoft.com/office/powerpoint/2010/main" val="221755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M</a:t>
            </a:r>
            <a:r>
              <a:rPr lang="ja-JP" altLang="ko-KR" dirty="0"/>
              <a:t>：中年男性　　</a:t>
            </a:r>
            <a:r>
              <a:rPr lang="en-US" altLang="ko-KR" dirty="0"/>
              <a:t>W:</a:t>
            </a:r>
            <a:r>
              <a:rPr lang="ja-JP" altLang="ko-KR" dirty="0"/>
              <a:t>案内の女性</a:t>
            </a:r>
            <a:endParaRPr lang="ko-KR" altLang="en-US" dirty="0"/>
          </a:p>
        </p:txBody>
      </p:sp>
      <p:sp>
        <p:nvSpPr>
          <p:cNvPr id="3" name="내용 개체 틀 2"/>
          <p:cNvSpPr>
            <a:spLocks noGrp="1"/>
          </p:cNvSpPr>
          <p:nvPr>
            <p:ph idx="1"/>
          </p:nvPr>
        </p:nvSpPr>
        <p:spPr/>
        <p:txBody>
          <a:bodyPr>
            <a:normAutofit fontScale="92500" lnSpcReduction="20000"/>
          </a:bodyPr>
          <a:lstStyle/>
          <a:p>
            <a:r>
              <a:rPr lang="en-US" altLang="ko-KR" dirty="0"/>
              <a:t>M</a:t>
            </a:r>
            <a:r>
              <a:rPr lang="ja-JP" altLang="ko-KR" dirty="0"/>
              <a:t>：すいません。ちょっとお尋ねしますけど。ステーションホテルはどこですか。</a:t>
            </a:r>
            <a:endParaRPr lang="ko-KR" altLang="ko-KR" dirty="0"/>
          </a:p>
          <a:p>
            <a:r>
              <a:rPr lang="en-US" altLang="ko-KR" dirty="0"/>
              <a:t>W:</a:t>
            </a:r>
            <a:r>
              <a:rPr lang="ja-JP" altLang="ko-KR" dirty="0"/>
              <a:t>ステーションホテルね。はい。ちょっと待ってください。ここから出てまっすぐ行くと交差点がありますので。</a:t>
            </a:r>
            <a:endParaRPr lang="ko-KR" altLang="ko-KR" dirty="0"/>
          </a:p>
          <a:p>
            <a:r>
              <a:rPr lang="en-US" altLang="ko-KR" dirty="0"/>
              <a:t>M:</a:t>
            </a:r>
            <a:r>
              <a:rPr lang="ja-JP" altLang="ko-KR" dirty="0"/>
              <a:t>まっすぐ行って、交差点を・・</a:t>
            </a:r>
            <a:endParaRPr lang="ko-KR" altLang="ko-KR" dirty="0"/>
          </a:p>
          <a:p>
            <a:r>
              <a:rPr lang="en-US" altLang="ko-KR" dirty="0"/>
              <a:t>W:</a:t>
            </a:r>
            <a:r>
              <a:rPr lang="ja-JP" altLang="ko-KR" dirty="0"/>
              <a:t>ええ、でここが交差点です。交差点を右に曲がって、三つ目のビル。一つ目、二つ目、三つ目がステーションホテルです。</a:t>
            </a:r>
            <a:endParaRPr lang="ko-KR" altLang="ko-KR" dirty="0"/>
          </a:p>
          <a:p>
            <a:r>
              <a:rPr lang="en-US" altLang="ko-KR" dirty="0"/>
              <a:t>M</a:t>
            </a:r>
            <a:r>
              <a:rPr lang="ja-JP" altLang="ko-KR" dirty="0"/>
              <a:t>：まっすぐ行って、交差点を右。で、三つ目のビルですね。ありがとうございます。</a:t>
            </a:r>
            <a:endParaRPr lang="ko-KR" altLang="ko-KR"/>
          </a:p>
          <a:p>
            <a:endParaRPr lang="ko-KR" altLang="en-US"/>
          </a:p>
        </p:txBody>
      </p:sp>
    </p:spTree>
    <p:extLst>
      <p:ext uri="{BB962C8B-B14F-4D97-AF65-F5344CB8AC3E}">
        <p14:creationId xmlns:p14="http://schemas.microsoft.com/office/powerpoint/2010/main" val="1001892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ja-JP" sz="3600" b="1" dirty="0">
                <a:solidFill>
                  <a:srgbClr val="00B0F0"/>
                </a:solidFill>
              </a:rPr>
              <a:t>(A)</a:t>
            </a:r>
            <a:r>
              <a:rPr lang="ja-JP" altLang="en-US" sz="3600" b="1" dirty="0">
                <a:solidFill>
                  <a:srgbClr val="00B0F0"/>
                </a:solidFill>
              </a:rPr>
              <a:t>目的をもって集中した聴きができるか</a:t>
            </a:r>
            <a:endParaRPr lang="ko-KR" altLang="en-US" sz="3600" b="1" dirty="0">
              <a:solidFill>
                <a:srgbClr val="00B0F0"/>
              </a:solidFill>
            </a:endParaRPr>
          </a:p>
        </p:txBody>
      </p:sp>
      <p:sp>
        <p:nvSpPr>
          <p:cNvPr id="3" name="내용 개체 틀 2"/>
          <p:cNvSpPr>
            <a:spLocks noGrp="1"/>
          </p:cNvSpPr>
          <p:nvPr>
            <p:ph idx="1"/>
          </p:nvPr>
        </p:nvSpPr>
        <p:spPr/>
        <p:txBody>
          <a:bodyPr/>
          <a:lstStyle/>
          <a:p>
            <a:r>
              <a:rPr lang="ja-JP" altLang="en-US" dirty="0"/>
              <a:t>「右か左かを聴き取りなさい」という指示の形で聴く</a:t>
            </a:r>
            <a:r>
              <a:rPr lang="ja-JP" altLang="en-US" dirty="0">
                <a:solidFill>
                  <a:srgbClr val="FF0000"/>
                </a:solidFill>
              </a:rPr>
              <a:t>目的</a:t>
            </a:r>
            <a:r>
              <a:rPr lang="ja-JP" altLang="en-US" dirty="0"/>
              <a:t>があらかじめ与えられている。</a:t>
            </a:r>
            <a:endParaRPr lang="en-US" altLang="ja-JP" dirty="0"/>
          </a:p>
          <a:p>
            <a:r>
              <a:rPr lang="ja-JP" altLang="en-US" dirty="0"/>
              <a:t>こうした聴き取りは母語では普通になされているのに、第二言語では、意識的に練習しなければできるようにならないという点を考えると、貴重な学習を提供していることが分かる。</a:t>
            </a:r>
            <a:endParaRPr lang="ko-KR"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a:bodyPr>
          <a:lstStyle/>
          <a:p>
            <a:r>
              <a:rPr lang="ja-JP" altLang="en-US" dirty="0"/>
              <a:t>テキストを聴かせその後で設問を与え解答させるといった方式の聴解練習⇔聴き取る力というよりは記憶力である。</a:t>
            </a:r>
            <a:endParaRPr lang="en-US" altLang="ja-JP" dirty="0"/>
          </a:p>
          <a:p>
            <a:r>
              <a:rPr lang="ja-JP" altLang="en-US" dirty="0"/>
              <a:t>この活動では、テキストの会話を聴いて覚えてから答えるのではなく、聴きながら右か左か解答できる形式を採っている。</a:t>
            </a:r>
            <a:endParaRPr lang="en-US" altLang="ja-JP" dirty="0"/>
          </a:p>
          <a:p>
            <a:r>
              <a:rPr lang="ja-JP" altLang="en-US" dirty="0"/>
              <a:t>聴きながら、同時に聴き取った結果を示すことが要求されていることから、学習者は</a:t>
            </a:r>
            <a:r>
              <a:rPr lang="ja-JP" altLang="en-US" dirty="0">
                <a:solidFill>
                  <a:srgbClr val="FF0000"/>
                </a:solidFill>
              </a:rPr>
              <a:t>聴き取ることに専念</a:t>
            </a:r>
            <a:r>
              <a:rPr lang="ja-JP" altLang="en-US" dirty="0"/>
              <a:t>できるように活動が作られている。</a:t>
            </a:r>
            <a:endParaRPr lang="ko-KR"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579296" cy="1143000"/>
          </a:xfrm>
        </p:spPr>
        <p:txBody>
          <a:bodyPr>
            <a:noAutofit/>
          </a:bodyPr>
          <a:lstStyle/>
          <a:p>
            <a:r>
              <a:rPr lang="en-US" altLang="ko-KR" sz="3600" b="1" dirty="0">
                <a:solidFill>
                  <a:srgbClr val="00B0F0"/>
                </a:solidFill>
              </a:rPr>
              <a:t>(B)</a:t>
            </a:r>
            <a:r>
              <a:rPr lang="ja-JP" altLang="en-US" sz="3600" b="1" dirty="0">
                <a:solidFill>
                  <a:srgbClr val="00B0F0"/>
                </a:solidFill>
              </a:rPr>
              <a:t>適切な予測のもとに聴き取りができるか</a:t>
            </a:r>
            <a:endParaRPr lang="ko-KR" altLang="en-US" sz="3600" b="1" dirty="0">
              <a:solidFill>
                <a:srgbClr val="00B0F0"/>
              </a:solidFill>
            </a:endParaRPr>
          </a:p>
        </p:txBody>
      </p:sp>
      <p:sp>
        <p:nvSpPr>
          <p:cNvPr id="3" name="내용 개체 틀 2"/>
          <p:cNvSpPr>
            <a:spLocks noGrp="1"/>
          </p:cNvSpPr>
          <p:nvPr>
            <p:ph idx="1"/>
          </p:nvPr>
        </p:nvSpPr>
        <p:spPr/>
        <p:txBody>
          <a:bodyPr/>
          <a:lstStyle/>
          <a:p>
            <a:r>
              <a:rPr lang="ja-JP" altLang="en-US" dirty="0"/>
              <a:t>右か左かを聴き取るためという点を考えるなら、日常生活でよくありそうなもの。</a:t>
            </a:r>
            <a:endParaRPr lang="en-US" altLang="ja-JP" dirty="0"/>
          </a:p>
          <a:p>
            <a:r>
              <a:rPr lang="ja-JP" altLang="en-US" dirty="0"/>
              <a:t>この活動で与えられた図を前にした場合、電話、ポスト、エレベーター、タクシー乗り場＋右左の矢印となれば、方角を尋ね、それに答えるという状況であろうということは直ちに予測できる。同時にそれらに関連してくる語彙や文型なども正確な形は別として想定できる。</a:t>
            </a:r>
            <a:endParaRPr lang="en-US" altLang="ja-JP" dirty="0"/>
          </a:p>
          <a:p>
            <a:endParaRPr lang="en-US" altLang="ja-JP" dirty="0"/>
          </a:p>
          <a:p>
            <a:endParaRPr lang="ko-KR"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このように想定や予測をし、それをもとに聴くなら、聴き取りが日常的に行われるものに近くなる。</a:t>
            </a:r>
            <a:endParaRPr lang="en-US" altLang="ja-JP" dirty="0"/>
          </a:p>
          <a:p>
            <a:r>
              <a:rPr lang="ja-JP" altLang="en-US" dirty="0"/>
              <a:t>つまり、予測を立てることが促され、その結果として予測を立てながら聴くという聴きにとって最も大事な学習が促進される。</a:t>
            </a:r>
            <a:endParaRPr lang="en-US" altLang="ja-JP" dirty="0"/>
          </a:p>
          <a:p>
            <a:r>
              <a:rPr lang="ja-JP" altLang="en-US" dirty="0"/>
              <a:t>注目すべきは、それこそが教室の外で聴く場合不可欠の技能である。</a:t>
            </a:r>
            <a:endParaRPr lang="ko-KR"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329642" cy="1143000"/>
          </a:xfrm>
        </p:spPr>
        <p:txBody>
          <a:bodyPr>
            <a:noAutofit/>
          </a:bodyPr>
          <a:lstStyle/>
          <a:p>
            <a:r>
              <a:rPr lang="en-US" altLang="ko-KR" sz="3600" dirty="0"/>
              <a:t> </a:t>
            </a:r>
            <a:r>
              <a:rPr lang="en-US" altLang="ko-KR" sz="3600" b="1" dirty="0">
                <a:solidFill>
                  <a:srgbClr val="00B0F0"/>
                </a:solidFill>
              </a:rPr>
              <a:t>(C)</a:t>
            </a:r>
            <a:r>
              <a:rPr lang="ja-JP" altLang="en-US" sz="3600" b="1" dirty="0">
                <a:solidFill>
                  <a:srgbClr val="00B0F0"/>
                </a:solidFill>
              </a:rPr>
              <a:t>聴かせるテキストは話し言葉の特徴を備えているか</a:t>
            </a:r>
            <a:endParaRPr lang="ko-KR" altLang="en-US" sz="3600" b="1" dirty="0">
              <a:solidFill>
                <a:srgbClr val="00B0F0"/>
              </a:solidFill>
            </a:endParaRPr>
          </a:p>
        </p:txBody>
      </p:sp>
      <p:sp>
        <p:nvSpPr>
          <p:cNvPr id="3" name="내용 개체 틀 2"/>
          <p:cNvSpPr>
            <a:spLocks noGrp="1"/>
          </p:cNvSpPr>
          <p:nvPr>
            <p:ph idx="1"/>
          </p:nvPr>
        </p:nvSpPr>
        <p:spPr/>
        <p:txBody>
          <a:bodyPr/>
          <a:lstStyle/>
          <a:p>
            <a:r>
              <a:rPr lang="ja-JP" altLang="en-US" dirty="0"/>
              <a:t>初級レベルの学習者に聴かせるテキスト</a:t>
            </a:r>
            <a:endParaRPr lang="en-US" altLang="ja-JP" dirty="0"/>
          </a:p>
          <a:p>
            <a:pPr>
              <a:buNone/>
            </a:pPr>
            <a:r>
              <a:rPr lang="ja-JP" altLang="en-US" dirty="0"/>
              <a:t>　</a:t>
            </a:r>
            <a:r>
              <a:rPr lang="en-US" altLang="ja-JP" dirty="0"/>
              <a:t>--</a:t>
            </a:r>
            <a:r>
              <a:rPr lang="ja-JP" altLang="en-US" dirty="0"/>
              <a:t>既知の単語と文型がよく詰め込まれているが、日常的に耳にするかといえば、あまり耳にしない、書き言葉に近く、内容的にも興味がそれほどそそられないものが多い。</a:t>
            </a:r>
            <a:endParaRPr lang="en-US" altLang="ja-JP" dirty="0"/>
          </a:p>
          <a:p>
            <a:r>
              <a:rPr lang="ja-JP" altLang="en-US" dirty="0"/>
              <a:t>この活動では普通に私たちが耳にするものに極めて近い。</a:t>
            </a:r>
            <a:endParaRPr lang="en-US" altLang="ja-JP" dirty="0"/>
          </a:p>
          <a:p>
            <a:pPr>
              <a:buNone/>
            </a:pPr>
            <a:r>
              <a:rPr lang="ja-JP" altLang="en-US" dirty="0"/>
              <a:t>　</a:t>
            </a:r>
            <a:r>
              <a:rPr lang="en-US" altLang="ja-JP" dirty="0"/>
              <a:t>--</a:t>
            </a:r>
            <a:r>
              <a:rPr lang="ja-JP" altLang="en-US" dirty="0"/>
              <a:t>店員らしい丁寧語、駅員らしい話し方</a:t>
            </a:r>
            <a:endParaRPr lang="ko-KR"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発話一つひとつを全て理解することを要求した場合には学習者は完全にお手上げである。</a:t>
            </a:r>
            <a:endParaRPr lang="en-US" altLang="ja-JP" dirty="0"/>
          </a:p>
          <a:p>
            <a:r>
              <a:rPr lang="ja-JP" altLang="en-US" dirty="0"/>
              <a:t>会話の双方が協力し合って、道聞きという課題を達成していることが伝わってくるテキストとなっている。</a:t>
            </a:r>
            <a:endParaRPr lang="ko-KR"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b="1" dirty="0">
                <a:solidFill>
                  <a:srgbClr val="00B0F0"/>
                </a:solidFill>
              </a:rPr>
              <a:t>(D)</a:t>
            </a:r>
            <a:r>
              <a:rPr lang="ja-JP" altLang="en-US" b="1" dirty="0">
                <a:solidFill>
                  <a:srgbClr val="00B0F0"/>
                </a:solidFill>
              </a:rPr>
              <a:t>話し手は見えているか</a:t>
            </a:r>
            <a:endParaRPr lang="ko-KR" altLang="en-US" b="1" dirty="0">
              <a:solidFill>
                <a:srgbClr val="00B0F0"/>
              </a:solidFill>
            </a:endParaRPr>
          </a:p>
        </p:txBody>
      </p:sp>
      <p:sp>
        <p:nvSpPr>
          <p:cNvPr id="3" name="내용 개체 틀 2"/>
          <p:cNvSpPr>
            <a:spLocks noGrp="1"/>
          </p:cNvSpPr>
          <p:nvPr>
            <p:ph idx="1"/>
          </p:nvPr>
        </p:nvSpPr>
        <p:spPr/>
        <p:txBody>
          <a:bodyPr/>
          <a:lstStyle/>
          <a:p>
            <a:r>
              <a:rPr lang="ja-JP" altLang="en-US" dirty="0"/>
              <a:t>話し手は全く見ることができない。</a:t>
            </a:r>
            <a:endParaRPr lang="en-US" altLang="ja-JP" dirty="0"/>
          </a:p>
          <a:p>
            <a:r>
              <a:rPr lang="ja-JP" altLang="en-US" dirty="0"/>
              <a:t>日常生活で見られる聴きにおいては声だけではなくその他様々な形で存在する情報を取り入れようとしている点に注目すると、限界を持った活動であると言える。</a:t>
            </a:r>
            <a:endParaRPr lang="ko-KR"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b="1" dirty="0">
                <a:solidFill>
                  <a:srgbClr val="00B0F0"/>
                </a:solidFill>
              </a:rPr>
              <a:t>(E)</a:t>
            </a:r>
            <a:r>
              <a:rPr lang="ja-JP" altLang="en-US" b="1" dirty="0">
                <a:solidFill>
                  <a:srgbClr val="00B0F0"/>
                </a:solidFill>
              </a:rPr>
              <a:t>答え方に工夫が見られるか</a:t>
            </a:r>
            <a:endParaRPr lang="ko-KR" altLang="en-US" b="1" dirty="0">
              <a:solidFill>
                <a:srgbClr val="00B0F0"/>
              </a:solidFill>
            </a:endParaRPr>
          </a:p>
        </p:txBody>
      </p:sp>
      <p:sp>
        <p:nvSpPr>
          <p:cNvPr id="3" name="내용 개체 틀 2"/>
          <p:cNvSpPr>
            <a:spLocks noGrp="1"/>
          </p:cNvSpPr>
          <p:nvPr>
            <p:ph idx="1"/>
          </p:nvPr>
        </p:nvSpPr>
        <p:spPr/>
        <p:txBody>
          <a:bodyPr>
            <a:normAutofit fontScale="92500"/>
          </a:bodyPr>
          <a:lstStyle/>
          <a:p>
            <a:r>
              <a:rPr lang="ja-JP" altLang="en-US" dirty="0"/>
              <a:t>聴き取った結果を文で書かせたり、口で言わせたりした場合には、それぞれ書く・話すという能力が介在してくる。</a:t>
            </a:r>
            <a:endParaRPr lang="en-US" altLang="ja-JP" dirty="0"/>
          </a:p>
          <a:p>
            <a:r>
              <a:rPr lang="ja-JP" altLang="en-US" dirty="0"/>
              <a:t>聞き取れた</a:t>
            </a:r>
            <a:r>
              <a:rPr lang="ja-JP" altLang="en-US"/>
              <a:t>けれども</a:t>
            </a:r>
            <a:r>
              <a:rPr lang="ja-JP" altLang="en-US" dirty="0"/>
              <a:t>書く・話すというところで失敗したのか分からない。</a:t>
            </a:r>
            <a:endParaRPr lang="en-US" altLang="ja-JP" dirty="0"/>
          </a:p>
          <a:p>
            <a:r>
              <a:rPr lang="ja-JP" altLang="en-US" dirty="0"/>
              <a:t>この活動は、解答方式に関する限り、よく聴き取れたかどうかが直接的に問われるようになっているので答え方に工夫がなされており、聴き取ることに集中した学習が追及されている。</a:t>
            </a:r>
            <a:endParaRPr lang="en-US" altLang="ja-JP"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92D050"/>
                </a:solidFill>
              </a:rPr>
              <a:t>まとめ</a:t>
            </a:r>
            <a:endParaRPr lang="ko-KR" altLang="en-US" b="1" dirty="0">
              <a:solidFill>
                <a:srgbClr val="92D050"/>
              </a:solidFill>
            </a:endParaRPr>
          </a:p>
        </p:txBody>
      </p:sp>
      <p:sp>
        <p:nvSpPr>
          <p:cNvPr id="3" name="내용 개체 틀 2"/>
          <p:cNvSpPr>
            <a:spLocks noGrp="1"/>
          </p:cNvSpPr>
          <p:nvPr>
            <p:ph idx="1"/>
          </p:nvPr>
        </p:nvSpPr>
        <p:spPr/>
        <p:txBody>
          <a:bodyPr>
            <a:normAutofit fontScale="92500" lnSpcReduction="10000"/>
          </a:bodyPr>
          <a:lstStyle/>
          <a:p>
            <a:r>
              <a:rPr lang="ja-JP" altLang="en-US" dirty="0"/>
              <a:t>一字一句耳に入るもの全てを聴き取ろうとか、理解しようとかという態度ではなく、目的にとって大事なことだけに焦点を絞って聴くというように、聴くことに対する態度を変えるという学習。</a:t>
            </a:r>
            <a:endParaRPr lang="en-US" altLang="ja-JP" dirty="0"/>
          </a:p>
          <a:p>
            <a:r>
              <a:rPr lang="ja-JP" altLang="en-US" dirty="0"/>
              <a:t>いかに目的に合致した聴き方をするかという点で聴解ストラテジーを選んだり工夫したりする機会が与えられる。</a:t>
            </a:r>
            <a:endParaRPr lang="en-US" altLang="ja-JP" dirty="0"/>
          </a:p>
          <a:p>
            <a:r>
              <a:rPr lang="ja-JP" altLang="en-US" dirty="0"/>
              <a:t>明確な目的を設定した上でなら、一般的に日常生活で耳にするような高度な自然会話であったも解釈可能のものとなる。</a:t>
            </a:r>
            <a:endParaRPr lang="ko-KR"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ja-JP" altLang="en-US" sz="3600" b="1" dirty="0">
                <a:solidFill>
                  <a:srgbClr val="92D050"/>
                </a:solidFill>
              </a:rPr>
              <a:t>学習のデザイン</a:t>
            </a:r>
            <a:br>
              <a:rPr lang="en-US" altLang="ja-JP" sz="3600" b="1" dirty="0">
                <a:solidFill>
                  <a:srgbClr val="92D050"/>
                </a:solidFill>
              </a:rPr>
            </a:br>
            <a:r>
              <a:rPr lang="en-US" altLang="ja-JP" sz="3600" b="1" dirty="0">
                <a:solidFill>
                  <a:srgbClr val="92D050"/>
                </a:solidFill>
              </a:rPr>
              <a:t>-</a:t>
            </a:r>
            <a:r>
              <a:rPr lang="ja-JP" altLang="en-US" sz="3600" b="1" dirty="0">
                <a:solidFill>
                  <a:srgbClr val="92D050"/>
                </a:solidFill>
              </a:rPr>
              <a:t>どのような新たな学習が実現できるか</a:t>
            </a:r>
            <a:r>
              <a:rPr lang="en-US" altLang="ja-JP" sz="3600" b="1" dirty="0">
                <a:solidFill>
                  <a:srgbClr val="92D050"/>
                </a:solidFill>
              </a:rPr>
              <a:t>-</a:t>
            </a:r>
            <a:endParaRPr lang="ko-KR" altLang="en-US" sz="3600" b="1" dirty="0">
              <a:solidFill>
                <a:srgbClr val="92D050"/>
              </a:solidFill>
            </a:endParaRPr>
          </a:p>
        </p:txBody>
      </p:sp>
      <p:sp>
        <p:nvSpPr>
          <p:cNvPr id="3" name="내용 개체 틀 2"/>
          <p:cNvSpPr>
            <a:spLocks noGrp="1"/>
          </p:cNvSpPr>
          <p:nvPr>
            <p:ph idx="1"/>
          </p:nvPr>
        </p:nvSpPr>
        <p:spPr/>
        <p:txBody>
          <a:bodyPr>
            <a:normAutofit fontScale="85000" lnSpcReduction="20000"/>
          </a:bodyPr>
          <a:lstStyle/>
          <a:p>
            <a:pPr>
              <a:buNone/>
            </a:pPr>
            <a:r>
              <a:rPr lang="ja-JP" altLang="en-US" dirty="0"/>
              <a:t>　</a:t>
            </a:r>
            <a:r>
              <a:rPr lang="en-US" altLang="ja-JP" dirty="0"/>
              <a:t>(A) </a:t>
            </a:r>
            <a:r>
              <a:rPr lang="ja-JP" altLang="en-US" dirty="0"/>
              <a:t>学習者を会話の当事者とする。</a:t>
            </a:r>
            <a:endParaRPr lang="en-US" altLang="ja-JP" dirty="0"/>
          </a:p>
          <a:p>
            <a:pPr>
              <a:buNone/>
            </a:pPr>
            <a:r>
              <a:rPr lang="ja-JP" altLang="en-US" dirty="0"/>
              <a:t>　　　　</a:t>
            </a:r>
            <a:endParaRPr lang="en-US" altLang="ja-JP" dirty="0"/>
          </a:p>
          <a:p>
            <a:pPr>
              <a:buNone/>
            </a:pPr>
            <a:r>
              <a:rPr lang="en-US" altLang="ja-JP" dirty="0"/>
              <a:t>A:5</a:t>
            </a:r>
            <a:r>
              <a:rPr lang="ja-JP" altLang="en-US" dirty="0"/>
              <a:t>人の人たちが何かを尋ねています。下の図にそれらの状況が示されています。会話を聴いて尋ねているものが、図の左にあるか、右にあるか、チェックして下さい。</a:t>
            </a:r>
            <a:endParaRPr lang="en-US" altLang="ja-JP" dirty="0"/>
          </a:p>
          <a:p>
            <a:pPr>
              <a:buNone/>
            </a:pPr>
            <a:r>
              <a:rPr lang="ja-JP" altLang="en-US" dirty="0"/>
              <a:t>　　↓　　　↓　　　　↓　　　　　↓ 　　↓　　　↓　　　　↓ 　　　</a:t>
            </a:r>
            <a:endParaRPr lang="en-US" altLang="ja-JP" dirty="0"/>
          </a:p>
          <a:p>
            <a:pPr>
              <a:buNone/>
            </a:pPr>
            <a:r>
              <a:rPr lang="en-US" altLang="ja-JP" dirty="0"/>
              <a:t>B</a:t>
            </a:r>
            <a:r>
              <a:rPr lang="ja-JP" altLang="en-US" dirty="0"/>
              <a:t>：あなたはさがしものをみつけるために質問しています。下にあなたが探しているものが絵で示されています。会話を聴いてあなたがさがしているものが、右にあるか左にあるか、図の中にチェックして下さい。</a:t>
            </a:r>
            <a:endParaRPr lang="en-US" altLang="ja-JP" dirty="0"/>
          </a:p>
          <a:p>
            <a:pPr>
              <a:buNone/>
            </a:pPr>
            <a:r>
              <a:rPr lang="en-US" altLang="ja-JP" dirty="0"/>
              <a:t>  </a:t>
            </a:r>
          </a:p>
          <a:p>
            <a:endParaRPr lang="ko-KR"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pPr>
              <a:buNone/>
            </a:pPr>
            <a:r>
              <a:rPr lang="en-US" altLang="ja-JP" dirty="0"/>
              <a:t>(B)</a:t>
            </a:r>
            <a:r>
              <a:rPr lang="ja-JP" altLang="en-US" dirty="0"/>
              <a:t>先行タスクを導入する。</a:t>
            </a:r>
            <a:endParaRPr lang="en-US" altLang="ja-JP" dirty="0"/>
          </a:p>
          <a:p>
            <a:pPr>
              <a:buNone/>
            </a:pPr>
            <a:r>
              <a:rPr lang="ja-JP" altLang="en-US" dirty="0"/>
              <a:t>　　　</a:t>
            </a:r>
            <a:endParaRPr lang="en-US" altLang="ja-JP" sz="7200" dirty="0"/>
          </a:p>
          <a:p>
            <a:pPr>
              <a:buNone/>
            </a:pPr>
            <a:endParaRPr lang="en-US" altLang="ja-JP" sz="7200" dirty="0"/>
          </a:p>
          <a:p>
            <a:pPr>
              <a:buNone/>
            </a:pPr>
            <a:r>
              <a:rPr lang="ja-JP" altLang="en-US" dirty="0"/>
              <a:t>　あなたは東京駅にいます。コーヒーショップを探しています。駅の売店の人に尋ねます。</a:t>
            </a:r>
            <a:endParaRPr lang="en-US" altLang="ja-JP" dirty="0"/>
          </a:p>
          <a:p>
            <a:pPr>
              <a:buNone/>
            </a:pPr>
            <a:r>
              <a:rPr lang="ja-JP" altLang="en-US" dirty="0"/>
              <a:t>　　</a:t>
            </a:r>
            <a:endParaRPr lang="ko-KR" altLang="en-US" dirty="0"/>
          </a:p>
        </p:txBody>
      </p:sp>
      <p:pic>
        <p:nvPicPr>
          <p:cNvPr id="5" name="Picture 2" descr="D:\cho\파워포인트 그림\IMAGE\아이콘\coffe.png"/>
          <p:cNvPicPr>
            <a:picLocks noChangeAspect="1" noChangeArrowheads="1"/>
          </p:cNvPicPr>
          <p:nvPr/>
        </p:nvPicPr>
        <p:blipFill>
          <a:blip r:embed="rId2" cstate="print"/>
          <a:srcRect/>
          <a:stretch>
            <a:fillRect/>
          </a:stretch>
        </p:blipFill>
        <p:spPr bwMode="auto">
          <a:xfrm>
            <a:off x="1331640" y="2636912"/>
            <a:ext cx="1219200" cy="1219200"/>
          </a:xfrm>
          <a:prstGeom prst="rect">
            <a:avLst/>
          </a:prstGeom>
          <a:noFill/>
        </p:spPr>
      </p:pic>
      <p:pic>
        <p:nvPicPr>
          <p:cNvPr id="6" name="Picture 2" descr="D:\cho\파워포인트 그림\IMAGE\아이콘\coffe.png"/>
          <p:cNvPicPr>
            <a:picLocks noChangeAspect="1" noChangeArrowheads="1"/>
          </p:cNvPicPr>
          <p:nvPr/>
        </p:nvPicPr>
        <p:blipFill>
          <a:blip r:embed="rId2" cstate="print"/>
          <a:srcRect/>
          <a:stretch>
            <a:fillRect/>
          </a:stretch>
        </p:blipFill>
        <p:spPr bwMode="auto">
          <a:xfrm>
            <a:off x="6228184" y="2564904"/>
            <a:ext cx="1219200" cy="1219200"/>
          </a:xfrm>
          <a:prstGeom prst="rect">
            <a:avLst/>
          </a:prstGeom>
          <a:noFill/>
        </p:spPr>
      </p:pic>
      <p:pic>
        <p:nvPicPr>
          <p:cNvPr id="7" name="Picture 3" descr="D:\cho\파워포인트 그림\IMAGE\아이콘\Arrow Left.png"/>
          <p:cNvPicPr>
            <a:picLocks noChangeAspect="1" noChangeArrowheads="1"/>
          </p:cNvPicPr>
          <p:nvPr/>
        </p:nvPicPr>
        <p:blipFill>
          <a:blip r:embed="rId3" cstate="print"/>
          <a:srcRect/>
          <a:stretch>
            <a:fillRect/>
          </a:stretch>
        </p:blipFill>
        <p:spPr bwMode="auto">
          <a:xfrm>
            <a:off x="3131840" y="2780928"/>
            <a:ext cx="792088" cy="720080"/>
          </a:xfrm>
          <a:prstGeom prst="rect">
            <a:avLst/>
          </a:prstGeom>
          <a:noFill/>
        </p:spPr>
      </p:pic>
      <p:pic>
        <p:nvPicPr>
          <p:cNvPr id="8" name="Picture 4" descr="D:\cho\파워포인트 그림\IMAGE\아이콘\Arrow Right.png"/>
          <p:cNvPicPr>
            <a:picLocks noChangeAspect="1" noChangeArrowheads="1"/>
          </p:cNvPicPr>
          <p:nvPr/>
        </p:nvPicPr>
        <p:blipFill>
          <a:blip r:embed="rId4" cstate="print"/>
          <a:srcRect/>
          <a:stretch>
            <a:fillRect/>
          </a:stretch>
        </p:blipFill>
        <p:spPr bwMode="auto">
          <a:xfrm>
            <a:off x="4644008" y="2780928"/>
            <a:ext cx="864096" cy="72008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a:buNone/>
            </a:pPr>
            <a:r>
              <a:rPr lang="ja-JP" altLang="en-US" dirty="0"/>
              <a:t>　上のような状況に注目し、そこではどんな会話が交わされるか、特にどんな答えが返ってくるかに重点をおいて、ペアで考え合うというもの</a:t>
            </a:r>
            <a:endParaRPr lang="en-US" altLang="ja-JP" dirty="0"/>
          </a:p>
          <a:p>
            <a:pPr>
              <a:buNone/>
            </a:pPr>
            <a:r>
              <a:rPr lang="ja-JP" altLang="en-US" dirty="0"/>
              <a:t>　⇔これから聴く会話の流れを想像し、馴染みのあるものにし、心理的に準備するのが目的</a:t>
            </a:r>
            <a:endParaRPr lang="en-US" altLang="ja-JP" dirty="0"/>
          </a:p>
          <a:p>
            <a:endParaRPr lang="ko-KR"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10000"/>
          </a:bodyPr>
          <a:lstStyle/>
          <a:p>
            <a:r>
              <a:rPr lang="en-US" altLang="ja-JP" dirty="0"/>
              <a:t>(C)</a:t>
            </a:r>
            <a:r>
              <a:rPr lang="ja-JP" altLang="en-US" dirty="0"/>
              <a:t>新しい活動を繋げて活動のチェーンとする。</a:t>
            </a:r>
            <a:endParaRPr lang="en-US" altLang="ja-JP" dirty="0"/>
          </a:p>
          <a:p>
            <a:pPr>
              <a:buNone/>
            </a:pPr>
            <a:r>
              <a:rPr lang="ja-JP" altLang="en-US" dirty="0"/>
              <a:t>　どんな人がどのような内容のことをどのような言葉を使って表現しているのかを考えるペア活動　</a:t>
            </a:r>
            <a:endParaRPr lang="en-US" altLang="ja-JP" dirty="0"/>
          </a:p>
          <a:p>
            <a:pPr>
              <a:buNone/>
            </a:pPr>
            <a:r>
              <a:rPr lang="ja-JP" altLang="en-US" dirty="0"/>
              <a:t>　　小学生ぐらいの子供　　小学校</a:t>
            </a:r>
            <a:endParaRPr lang="en-US" altLang="ja-JP" dirty="0"/>
          </a:p>
          <a:p>
            <a:pPr>
              <a:buNone/>
            </a:pPr>
            <a:r>
              <a:rPr lang="ja-JP" altLang="en-US" dirty="0"/>
              <a:t>　　おじいさん　　　　　　　　　ポスト</a:t>
            </a:r>
            <a:endParaRPr lang="en-US" altLang="ja-JP" dirty="0"/>
          </a:p>
          <a:p>
            <a:pPr>
              <a:buNone/>
            </a:pPr>
            <a:r>
              <a:rPr lang="ja-JP" altLang="en-US" dirty="0"/>
              <a:t>　　駅員さん　　　　　　　　　コインロッカー</a:t>
            </a:r>
            <a:endParaRPr lang="en-US" altLang="ja-JP" dirty="0"/>
          </a:p>
          <a:p>
            <a:pPr>
              <a:buNone/>
            </a:pPr>
            <a:r>
              <a:rPr lang="ja-JP" altLang="en-US" dirty="0"/>
              <a:t>　　駅の売店の店員さん　キャッシュコーナー</a:t>
            </a:r>
            <a:endParaRPr lang="en-US" altLang="ja-JP" dirty="0"/>
          </a:p>
          <a:p>
            <a:pPr>
              <a:buNone/>
            </a:pPr>
            <a:r>
              <a:rPr lang="ja-JP" altLang="en-US" dirty="0"/>
              <a:t>　　デパートの店員さん　　エレベーター</a:t>
            </a:r>
            <a:endParaRPr lang="en-US" altLang="ja-JP" dirty="0"/>
          </a:p>
          <a:p>
            <a:pPr>
              <a:buNone/>
            </a:pPr>
            <a:r>
              <a:rPr lang="ja-JP" altLang="en-US" dirty="0"/>
              <a:t>　　バスの運転手さん　　　タクシー乗</a:t>
            </a:r>
            <a:r>
              <a:rPr lang="ja-JP" altLang="en-US"/>
              <a:t>り場</a:t>
            </a:r>
            <a:r>
              <a:rPr lang="ja-JP" altLang="en-US" dirty="0"/>
              <a:t>　</a:t>
            </a:r>
            <a:endParaRPr lang="ko-KR"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外の日本語はまるで分からないという学習者が多いことを踏まえて、職業や年代による独特の話し方に接した場合、その中から自分の知りたい情報を掴み取ることを目指す</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549</TotalTime>
  <Words>5778</Words>
  <Application>Microsoft Office PowerPoint</Application>
  <PresentationFormat>화면 슬라이드 쇼(4:3)</PresentationFormat>
  <Paragraphs>198</Paragraphs>
  <Slides>43</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43</vt:i4>
      </vt:variant>
    </vt:vector>
  </HeadingPairs>
  <TitlesOfParts>
    <vt:vector size="46" baseType="lpstr">
      <vt:lpstr>맑은 고딕</vt:lpstr>
      <vt:lpstr>Arial</vt:lpstr>
      <vt:lpstr>Office 테마</vt:lpstr>
      <vt:lpstr>聴くことをどう教えるか。</vt:lpstr>
      <vt:lpstr>聴解能力の位置づけ</vt:lpstr>
      <vt:lpstr>初・中級の聴解練習のタイプ （タイプA聴解練習）</vt:lpstr>
      <vt:lpstr>タイプA聴解練習の特徴</vt:lpstr>
      <vt:lpstr>PowerPoint 프레젠테이션</vt:lpstr>
      <vt:lpstr>タイプA聴解練習の問題点</vt:lpstr>
      <vt:lpstr>PowerPoint 프레젠테이션</vt:lpstr>
      <vt:lpstr>改善１ （目的を持って集中した聴き方)</vt:lpstr>
      <vt:lpstr>改善2 （適切な予測のもとに聴き取りができるか。)</vt:lpstr>
      <vt:lpstr>PowerPoint 프레젠테이션</vt:lpstr>
      <vt:lpstr>同じCDを使ってなされる聴解練習AとB</vt:lpstr>
      <vt:lpstr>PowerPoint 프레젠테이션</vt:lpstr>
      <vt:lpstr>練習A</vt:lpstr>
      <vt:lpstr>練習B</vt:lpstr>
      <vt:lpstr>練習Aと練習Bの違い</vt:lpstr>
      <vt:lpstr>PowerPoint 프레젠테이션</vt:lpstr>
      <vt:lpstr>聴かせるテキストは話し言葉の特徴 を備えているか。</vt:lpstr>
      <vt:lpstr>PowerPoint 프레젠테이션</vt:lpstr>
      <vt:lpstr>話し手は見えているか。</vt:lpstr>
      <vt:lpstr>答え方に工夫が見られるか。</vt:lpstr>
      <vt:lpstr>PowerPoint 프레젠테이션</vt:lpstr>
      <vt:lpstr>聴解中心の活動</vt:lpstr>
      <vt:lpstr>PowerPoint 프레젠테이션</vt:lpstr>
      <vt:lpstr>S:中年のサラリマン、W:女性</vt:lpstr>
      <vt:lpstr> M：若いビジネスマン、 W:若い女性事務員 </vt:lpstr>
      <vt:lpstr>W:年配の女性　S:若い店員</vt:lpstr>
      <vt:lpstr>W:女性　　M:改札の駅員</vt:lpstr>
      <vt:lpstr>W:荷物を持った若い女性、 M：若い男性</vt:lpstr>
      <vt:lpstr>M：中年男性　　W:案内の女性</vt:lpstr>
      <vt:lpstr>(A)目的をもって集中した聴きができるか</vt:lpstr>
      <vt:lpstr>PowerPoint 프레젠테이션</vt:lpstr>
      <vt:lpstr>(B)適切な予測のもとに聴き取りができるか</vt:lpstr>
      <vt:lpstr>PowerPoint 프레젠테이션</vt:lpstr>
      <vt:lpstr> (C)聴かせるテキストは話し言葉の特徴を備えているか</vt:lpstr>
      <vt:lpstr>PowerPoint 프레젠테이션</vt:lpstr>
      <vt:lpstr>(D)話し手は見えているか</vt:lpstr>
      <vt:lpstr>(E)答え方に工夫が見られるか</vt:lpstr>
      <vt:lpstr>まとめ</vt:lpstr>
      <vt:lpstr>学習のデザイン -どのような新たな学習が実現できるか-</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聴くことをどう教えるか。</dc:title>
  <dc:creator>user</dc:creator>
  <cp:lastModifiedBy>조영남[ 교수 / 일어일문학과 ]</cp:lastModifiedBy>
  <cp:revision>115</cp:revision>
  <dcterms:created xsi:type="dcterms:W3CDTF">2009-10-05T03:52:07Z</dcterms:created>
  <dcterms:modified xsi:type="dcterms:W3CDTF">2024-09-27T06:44:43Z</dcterms:modified>
</cp:coreProperties>
</file>