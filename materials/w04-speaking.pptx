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1" r:id="rId1"/>
  </p:sldMasterIdLst>
  <p:notesMasterIdLst>
    <p:notesMasterId r:id="rId53"/>
  </p:notesMasterIdLst>
  <p:sldIdLst>
    <p:sldId id="256" r:id="rId2"/>
    <p:sldId id="304" r:id="rId3"/>
    <p:sldId id="303" r:id="rId4"/>
    <p:sldId id="305" r:id="rId5"/>
    <p:sldId id="257" r:id="rId6"/>
    <p:sldId id="258" r:id="rId7"/>
    <p:sldId id="259" r:id="rId8"/>
    <p:sldId id="260" r:id="rId9"/>
    <p:sldId id="308" r:id="rId10"/>
    <p:sldId id="307" r:id="rId11"/>
    <p:sldId id="309" r:id="rId12"/>
    <p:sldId id="310" r:id="rId13"/>
    <p:sldId id="262" r:id="rId14"/>
    <p:sldId id="263" r:id="rId15"/>
    <p:sldId id="264" r:id="rId16"/>
    <p:sldId id="313" r:id="rId17"/>
    <p:sldId id="312" r:id="rId18"/>
    <p:sldId id="314" r:id="rId19"/>
    <p:sldId id="311" r:id="rId20"/>
    <p:sldId id="265" r:id="rId21"/>
    <p:sldId id="266" r:id="rId22"/>
    <p:sldId id="267" r:id="rId23"/>
    <p:sldId id="268" r:id="rId24"/>
    <p:sldId id="269" r:id="rId25"/>
    <p:sldId id="270" r:id="rId26"/>
    <p:sldId id="271" r:id="rId27"/>
    <p:sldId id="272" r:id="rId28"/>
    <p:sldId id="277" r:id="rId29"/>
    <p:sldId id="297" r:id="rId30"/>
    <p:sldId id="278" r:id="rId31"/>
    <p:sldId id="279" r:id="rId32"/>
    <p:sldId id="281" r:id="rId33"/>
    <p:sldId id="282" r:id="rId34"/>
    <p:sldId id="283" r:id="rId35"/>
    <p:sldId id="298" r:id="rId36"/>
    <p:sldId id="284" r:id="rId37"/>
    <p:sldId id="285" r:id="rId38"/>
    <p:sldId id="286" r:id="rId39"/>
    <p:sldId id="287" r:id="rId40"/>
    <p:sldId id="299" r:id="rId41"/>
    <p:sldId id="300" r:id="rId42"/>
    <p:sldId id="289" r:id="rId43"/>
    <p:sldId id="302" r:id="rId44"/>
    <p:sldId id="301" r:id="rId45"/>
    <p:sldId id="288" r:id="rId46"/>
    <p:sldId id="290" r:id="rId47"/>
    <p:sldId id="291" r:id="rId48"/>
    <p:sldId id="315" r:id="rId49"/>
    <p:sldId id="292" r:id="rId50"/>
    <p:sldId id="293" r:id="rId51"/>
    <p:sldId id="294" r:id="rId5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A34A4B-30EF-4D1B-89CF-CAF479241A4D}" type="datetimeFigureOut">
              <a:rPr lang="ko-KR" altLang="en-US" smtClean="0"/>
              <a:pPr/>
              <a:t>2025-09-10</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A13561-5293-41C4-98C1-D1DEA473E877}" type="slidenum">
              <a:rPr lang="ko-KR" altLang="en-US" smtClean="0"/>
              <a:pPr/>
              <a:t>‹#›</a:t>
            </a:fld>
            <a:endParaRPr lang="ko-KR" altLang="en-US"/>
          </a:p>
        </p:txBody>
      </p:sp>
    </p:spTree>
    <p:extLst>
      <p:ext uri="{BB962C8B-B14F-4D97-AF65-F5344CB8AC3E}">
        <p14:creationId xmlns:p14="http://schemas.microsoft.com/office/powerpoint/2010/main" val="20527593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4A13561-5293-41C4-98C1-D1DEA473E877}" type="slidenum">
              <a:rPr lang="ko-KR" altLang="en-US" smtClean="0"/>
              <a:pPr/>
              <a:t>2</a:t>
            </a:fld>
            <a:endParaRPr lang="ko-KR" altLang="en-US"/>
          </a:p>
        </p:txBody>
      </p:sp>
    </p:spTree>
    <p:extLst>
      <p:ext uri="{BB962C8B-B14F-4D97-AF65-F5344CB8AC3E}">
        <p14:creationId xmlns:p14="http://schemas.microsoft.com/office/powerpoint/2010/main" val="333579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C4A13561-5293-41C4-98C1-D1DEA473E877}" type="slidenum">
              <a:rPr lang="ko-KR" altLang="en-US" smtClean="0"/>
              <a:pPr/>
              <a:t>15</a:t>
            </a:fld>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ko-KR" altLang="en-US"/>
              <a:t>마스터 제목 스타일 편집</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F2551EA-054E-4BD0-894E-1A3403A67D3F}" type="slidenum">
              <a:rPr lang="ko-KR" altLang="en-US" smtClean="0"/>
              <a:pPr/>
              <a:t>‹#›</a:t>
            </a:fld>
            <a:endParaRPr lang="ko-KR"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19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118565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구역 머리글">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ko-KR" altLang="en-US"/>
              <a:t>마스터 제목 스타일 편집</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F2551EA-054E-4BD0-894E-1A3403A67D3F}" type="slidenum">
              <a:rPr lang="ko-KR" altLang="en-US" smtClean="0"/>
              <a:pPr/>
              <a:t>‹#›</a:t>
            </a:fld>
            <a:endParaRPr lang="ko-KR"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557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2859404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22960" y="2582334"/>
            <a:ext cx="3703320" cy="3286760"/>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63440" y="2582334"/>
            <a:ext cx="3703320" cy="3286760"/>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3406834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469430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ko-KR" altLang="en-US"/>
          </a:p>
        </p:txBody>
      </p:sp>
      <p:sp>
        <p:nvSpPr>
          <p:cNvPr id="9" name="Slide Number Placeholder 8"/>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383456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캡션 있는 콘텐츠">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ko-KR" altLang="en-US"/>
              <a:t>마스터 제목 스타일 편집</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4D796529-940E-40D4-929E-F3A082046886}" type="datetimeFigureOut">
              <a:rPr lang="ko-KR" altLang="en-US" smtClean="0"/>
              <a:pPr/>
              <a:t>2025-09-10</a:t>
            </a:fld>
            <a:endParaRPr lang="ko-KR"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ko-KR"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3851050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캡션 있는 그림">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2528680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254475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세로 제목 및 텍스트">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F2551EA-054E-4BD0-894E-1A3403A67D3F}" type="slidenum">
              <a:rPr lang="ko-KR" altLang="en-US" smtClean="0"/>
              <a:pPr/>
              <a:t>‹#›</a:t>
            </a:fld>
            <a:endParaRPr lang="ko-KR" altLang="en-US"/>
          </a:p>
        </p:txBody>
      </p:sp>
    </p:spTree>
    <p:extLst>
      <p:ext uri="{BB962C8B-B14F-4D97-AF65-F5344CB8AC3E}">
        <p14:creationId xmlns:p14="http://schemas.microsoft.com/office/powerpoint/2010/main" val="3053591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4D796529-940E-40D4-929E-F3A082046886}" type="datetimeFigureOut">
              <a:rPr lang="ko-KR" altLang="en-US" smtClean="0"/>
              <a:pPr/>
              <a:t>2025-09-10</a:t>
            </a:fld>
            <a:endParaRPr lang="ko-KR"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ko-KR"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6F2551EA-054E-4BD0-894E-1A3403A67D3F}" type="slidenum">
              <a:rPr lang="ko-KR" altLang="en-US" smtClean="0"/>
              <a:pPr/>
              <a:t>‹#›</a:t>
            </a:fld>
            <a:endParaRPr lang="ko-KR"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983979"/>
      </p:ext>
    </p:extLst>
  </p:cSld>
  <p:clrMap bg1="lt1" tx1="dk1" bg2="lt2" tx2="dk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Lst>
  <p:txStyles>
    <p:titleStyle>
      <a:lvl1pPr algn="l" defTabSz="914400" rtl="0" eaLnBrk="1" latinLnBrk="1"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1"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1"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683568" y="2060848"/>
            <a:ext cx="6807232" cy="2301240"/>
          </a:xfrm>
        </p:spPr>
        <p:txBody>
          <a:bodyPr/>
          <a:lstStyle/>
          <a:p>
            <a:r>
              <a:rPr lang="ja-JP" altLang="en-US" dirty="0">
                <a:solidFill>
                  <a:schemeClr val="tx1"/>
                </a:solidFill>
              </a:rPr>
              <a:t>話すことをどう教えるか</a:t>
            </a:r>
            <a:endParaRPr lang="ko-KR"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99592" y="836712"/>
            <a:ext cx="7543800" cy="828641"/>
          </a:xfrm>
        </p:spPr>
        <p:txBody>
          <a:bodyPr/>
          <a:lstStyle/>
          <a:p>
            <a:r>
              <a:rPr lang="ja-JP" altLang="en-US" dirty="0">
                <a:solidFill>
                  <a:srgbClr val="92D050"/>
                </a:solidFill>
              </a:rPr>
              <a:t>授業の流れ</a:t>
            </a:r>
            <a:endParaRPr lang="ko-KR" altLang="en-US" dirty="0">
              <a:solidFill>
                <a:srgbClr val="92D050"/>
              </a:solidFill>
            </a:endParaRPr>
          </a:p>
        </p:txBody>
      </p:sp>
      <p:sp>
        <p:nvSpPr>
          <p:cNvPr id="3" name="내용 개체 틀 2"/>
          <p:cNvSpPr>
            <a:spLocks noGrp="1"/>
          </p:cNvSpPr>
          <p:nvPr>
            <p:ph idx="1"/>
          </p:nvPr>
        </p:nvSpPr>
        <p:spPr>
          <a:xfrm>
            <a:off x="179512" y="1772816"/>
            <a:ext cx="8964488" cy="4838069"/>
          </a:xfrm>
        </p:spPr>
        <p:txBody>
          <a:bodyPr>
            <a:normAutofit fontScale="77500" lnSpcReduction="20000"/>
          </a:bodyPr>
          <a:lstStyle/>
          <a:p>
            <a:endParaRPr lang="en-US" altLang="ja-JP" sz="3600" dirty="0"/>
          </a:p>
          <a:p>
            <a:r>
              <a:rPr lang="ja-JP" altLang="en-US" sz="3600" dirty="0"/>
              <a:t>「話すこと」とは？</a:t>
            </a:r>
            <a:endParaRPr lang="en-US" altLang="ja-JP" sz="3600" dirty="0"/>
          </a:p>
          <a:p>
            <a:pPr>
              <a:buNone/>
            </a:pPr>
            <a:r>
              <a:rPr lang="ja-JP" altLang="en-US" sz="3600" dirty="0"/>
              <a:t>　会話の過程で話し手は何をしているか</a:t>
            </a:r>
            <a:endParaRPr lang="en-US" altLang="ja-JP" sz="3600" dirty="0"/>
          </a:p>
          <a:p>
            <a:pPr>
              <a:buNone/>
            </a:pPr>
            <a:endParaRPr lang="en-US" altLang="ja-JP" sz="3600" dirty="0"/>
          </a:p>
          <a:p>
            <a:r>
              <a:rPr lang="ja-JP" altLang="en-US" sz="3600" dirty="0"/>
              <a:t>意味のある会話のできる力とは？</a:t>
            </a:r>
            <a:endParaRPr lang="en-US" altLang="ja-JP" sz="3600" dirty="0"/>
          </a:p>
          <a:p>
            <a:endParaRPr lang="en-US" altLang="ja-JP" sz="3600" dirty="0"/>
          </a:p>
          <a:p>
            <a:r>
              <a:rPr lang="ja-JP" altLang="en-US" sz="3600" dirty="0"/>
              <a:t>話すことを教える教材・教室活動をどのような基準で選ぶか</a:t>
            </a:r>
            <a:endParaRPr lang="en-US" altLang="ja-JP" sz="3600" dirty="0"/>
          </a:p>
          <a:p>
            <a:endParaRPr lang="en-US" altLang="ja-JP" sz="3600" dirty="0"/>
          </a:p>
          <a:p>
            <a:r>
              <a:rPr lang="ja-JP" altLang="en-US" sz="3600" dirty="0"/>
              <a:t>聴解・会話中心の活動事例</a:t>
            </a:r>
            <a:endParaRPr lang="en-US" altLang="ja-JP" sz="3600" dirty="0"/>
          </a:p>
          <a:p>
            <a:endParaRPr lang="en-US" altLang="ja-JP" dirty="0"/>
          </a:p>
          <a:p>
            <a:pPr>
              <a:buNone/>
            </a:pP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話す行為のプロセス</a:t>
            </a:r>
            <a:endParaRPr lang="ko-KR" altLang="en-US" dirty="0">
              <a:solidFill>
                <a:srgbClr val="92D050"/>
              </a:solidFill>
            </a:endParaRPr>
          </a:p>
        </p:txBody>
      </p:sp>
      <p:pic>
        <p:nvPicPr>
          <p:cNvPr id="1027" name="Picture 3"/>
          <p:cNvPicPr>
            <a:picLocks noGrp="1" noChangeAspect="1" noChangeArrowheads="1"/>
          </p:cNvPicPr>
          <p:nvPr>
            <p:ph idx="1"/>
          </p:nvPr>
        </p:nvPicPr>
        <p:blipFill>
          <a:blip r:embed="rId2" cstate="print"/>
          <a:stretch>
            <a:fillRect/>
          </a:stretch>
        </p:blipFill>
        <p:spPr bwMode="auto">
          <a:xfrm>
            <a:off x="2110395" y="1846263"/>
            <a:ext cx="4967660" cy="40227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363272" cy="1143000"/>
          </a:xfrm>
        </p:spPr>
        <p:txBody>
          <a:bodyPr>
            <a:normAutofit fontScale="90000"/>
          </a:bodyPr>
          <a:lstStyle/>
          <a:p>
            <a:r>
              <a:rPr lang="ja-JP" altLang="en-US" dirty="0">
                <a:solidFill>
                  <a:srgbClr val="92D050"/>
                </a:solidFill>
              </a:rPr>
              <a:t>話す行為のプロセス　</a:t>
            </a:r>
            <a:r>
              <a:rPr lang="ja-JP" altLang="en-US" sz="3600" dirty="0">
                <a:solidFill>
                  <a:srgbClr val="92D050"/>
                </a:solidFill>
              </a:rPr>
              <a:t>（</a:t>
            </a:r>
            <a:r>
              <a:rPr lang="en-US" altLang="ja-JP" sz="3600" dirty="0" err="1">
                <a:solidFill>
                  <a:srgbClr val="92D050"/>
                </a:solidFill>
              </a:rPr>
              <a:t>Levelt</a:t>
            </a:r>
            <a:r>
              <a:rPr lang="ja-JP" altLang="en-US" sz="3600" dirty="0">
                <a:solidFill>
                  <a:srgbClr val="92D050"/>
                </a:solidFill>
              </a:rPr>
              <a:t>１９８９）</a:t>
            </a:r>
            <a:endParaRPr lang="ko-KR" altLang="en-US" sz="3600" dirty="0">
              <a:solidFill>
                <a:srgbClr val="92D050"/>
              </a:solidFill>
            </a:endParaRPr>
          </a:p>
        </p:txBody>
      </p:sp>
      <p:sp>
        <p:nvSpPr>
          <p:cNvPr id="3" name="내용 개체 틀 2"/>
          <p:cNvSpPr>
            <a:spLocks noGrp="1"/>
          </p:cNvSpPr>
          <p:nvPr>
            <p:ph idx="1"/>
          </p:nvPr>
        </p:nvSpPr>
        <p:spPr>
          <a:xfrm>
            <a:off x="457200" y="1916832"/>
            <a:ext cx="8435280" cy="4752528"/>
          </a:xfrm>
        </p:spPr>
        <p:txBody>
          <a:bodyPr>
            <a:normAutofit/>
          </a:bodyPr>
          <a:lstStyle/>
          <a:p>
            <a:endParaRPr lang="en-US" altLang="ja-JP" sz="3600" dirty="0"/>
          </a:p>
          <a:p>
            <a:r>
              <a:rPr lang="ja-JP" altLang="en-US" sz="3600" dirty="0"/>
              <a:t>言いたい内容を考える。（概念化）</a:t>
            </a:r>
            <a:endParaRPr lang="en-US" altLang="ja-JP" sz="3600" dirty="0"/>
          </a:p>
          <a:p>
            <a:endParaRPr lang="en-US" altLang="ko-KR" sz="3600" dirty="0"/>
          </a:p>
          <a:p>
            <a:r>
              <a:rPr lang="ja-JP" altLang="en-US" sz="3600" dirty="0"/>
              <a:t>どのように言うかを考える。（言語化）</a:t>
            </a:r>
            <a:endParaRPr lang="en-US" altLang="ja-JP" sz="3600" dirty="0"/>
          </a:p>
          <a:p>
            <a:endParaRPr lang="en-US" altLang="ko-KR" sz="3600" dirty="0"/>
          </a:p>
          <a:p>
            <a:r>
              <a:rPr lang="ja-JP" altLang="en-US" sz="3600" dirty="0"/>
              <a:t>実際に言う。（音声化）</a:t>
            </a:r>
            <a:endParaRPr lang="en-US" altLang="ko-KR" sz="3600" dirty="0"/>
          </a:p>
          <a:p>
            <a:pPr>
              <a:buNone/>
            </a:pPr>
            <a:r>
              <a:rPr lang="ja-JP" altLang="en-US" sz="4000" dirty="0"/>
              <a:t>　　　　　　　　　　　　　　</a:t>
            </a:r>
            <a:endParaRPr lang="ko-KR" alt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考えてみましょう！</a:t>
            </a:r>
            <a:endParaRPr lang="ko-KR" altLang="en-US" dirty="0">
              <a:solidFill>
                <a:srgbClr val="92D050"/>
              </a:solidFill>
            </a:endParaRPr>
          </a:p>
        </p:txBody>
      </p:sp>
      <p:sp>
        <p:nvSpPr>
          <p:cNvPr id="3" name="내용 개체 틀 2"/>
          <p:cNvSpPr>
            <a:spLocks noGrp="1"/>
          </p:cNvSpPr>
          <p:nvPr>
            <p:ph idx="1"/>
          </p:nvPr>
        </p:nvSpPr>
        <p:spPr/>
        <p:txBody>
          <a:bodyPr/>
          <a:lstStyle/>
          <a:p>
            <a:endParaRPr lang="en-US" altLang="ja-JP" dirty="0"/>
          </a:p>
          <a:p>
            <a:r>
              <a:rPr lang="ja-JP" altLang="en-US" sz="3200" dirty="0"/>
              <a:t>今朝起きてから、一番初めに発した言葉を思い浮かべてください。</a:t>
            </a:r>
            <a:endParaRPr lang="en-US" altLang="ja-JP" sz="3200" dirty="0"/>
          </a:p>
          <a:p>
            <a:pPr>
              <a:buNone/>
            </a:pPr>
            <a:endParaRPr lang="en-US" altLang="ja-JP" sz="3200" dirty="0"/>
          </a:p>
          <a:p>
            <a:r>
              <a:rPr lang="ja-JP" altLang="en-US" sz="3200" dirty="0"/>
              <a:t>その上で、話し手にとって会話を進めるのに必要なことが何であるか考えてみましょう。（どのような語彙？・どのような文法？）</a:t>
            </a:r>
            <a:endParaRPr lang="ko-KR" alt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70711" y="980728"/>
            <a:ext cx="8363272" cy="724942"/>
          </a:xfrm>
        </p:spPr>
        <p:txBody>
          <a:bodyPr>
            <a:normAutofit/>
          </a:bodyPr>
          <a:lstStyle/>
          <a:p>
            <a:r>
              <a:rPr lang="ja-JP" altLang="en-US" sz="3200" dirty="0">
                <a:solidFill>
                  <a:srgbClr val="92D050"/>
                </a:solidFill>
              </a:rPr>
              <a:t>話し手にとって会話を進めるのに必要なこと？</a:t>
            </a:r>
            <a:endParaRPr lang="ko-KR" altLang="en-US" sz="3200" dirty="0">
              <a:solidFill>
                <a:srgbClr val="92D050"/>
              </a:solidFill>
            </a:endParaRPr>
          </a:p>
        </p:txBody>
      </p:sp>
      <p:sp>
        <p:nvSpPr>
          <p:cNvPr id="3" name="내용 개체 틀 2"/>
          <p:cNvSpPr>
            <a:spLocks noGrp="1"/>
          </p:cNvSpPr>
          <p:nvPr>
            <p:ph idx="1"/>
          </p:nvPr>
        </p:nvSpPr>
        <p:spPr>
          <a:xfrm>
            <a:off x="827584" y="1845734"/>
            <a:ext cx="7539176" cy="4463586"/>
          </a:xfrm>
        </p:spPr>
        <p:txBody>
          <a:bodyPr>
            <a:noAutofit/>
          </a:bodyPr>
          <a:lstStyle/>
          <a:p>
            <a:r>
              <a:rPr lang="ja-JP" altLang="en-US" sz="2800" dirty="0"/>
              <a:t>・日常会話で話し手となるのに、それほど難しい文法や豊富な語彙は要求されない。</a:t>
            </a:r>
            <a:endParaRPr lang="en-US" altLang="ja-JP" sz="2800" dirty="0"/>
          </a:p>
          <a:p>
            <a:r>
              <a:rPr lang="ja-JP" altLang="en-US" sz="2800" dirty="0"/>
              <a:t>・言語の領域で必要とされるものは、</a:t>
            </a:r>
            <a:r>
              <a:rPr lang="ja-JP" altLang="en-US" sz="2800" dirty="0">
                <a:solidFill>
                  <a:srgbClr val="00B0F0"/>
                </a:solidFill>
              </a:rPr>
              <a:t>限られた易しい文法</a:t>
            </a:r>
            <a:r>
              <a:rPr lang="ja-JP" altLang="en-US" sz="2800" dirty="0"/>
              <a:t>と</a:t>
            </a:r>
            <a:r>
              <a:rPr lang="ja-JP" altLang="en-US" sz="2800" dirty="0">
                <a:solidFill>
                  <a:srgbClr val="00B0F0"/>
                </a:solidFill>
              </a:rPr>
              <a:t>限られた数の語彙</a:t>
            </a:r>
            <a:r>
              <a:rPr lang="ja-JP" altLang="en-US" sz="2800" dirty="0"/>
              <a:t>である。</a:t>
            </a:r>
            <a:endParaRPr lang="en-US" altLang="ja-JP" sz="2800" dirty="0"/>
          </a:p>
          <a:p>
            <a:r>
              <a:rPr lang="ja-JP" altLang="en-US" sz="2800" dirty="0"/>
              <a:t>・従属節を伴うような複雑な文法構造をもつ長文を使うことはあまりない。</a:t>
            </a:r>
            <a:endParaRPr lang="en-US" altLang="ja-JP" sz="2800" dirty="0"/>
          </a:p>
          <a:p>
            <a:r>
              <a:rPr lang="ja-JP" altLang="en-US" sz="2800" dirty="0"/>
              <a:t>・</a:t>
            </a:r>
            <a:r>
              <a:rPr lang="ja-JP" altLang="en-US" sz="2800" dirty="0">
                <a:solidFill>
                  <a:srgbClr val="00B0F0"/>
                </a:solidFill>
              </a:rPr>
              <a:t>句や節を横に並べたり</a:t>
            </a:r>
            <a:r>
              <a:rPr lang="ja-JP" altLang="en-US" sz="2800" dirty="0"/>
              <a:t>、</a:t>
            </a:r>
            <a:r>
              <a:rPr lang="ja-JP" altLang="en-US" sz="2800" dirty="0">
                <a:solidFill>
                  <a:srgbClr val="00B0F0"/>
                </a:solidFill>
              </a:rPr>
              <a:t>ポーズやイントネーションなどを適切に</a:t>
            </a:r>
            <a:r>
              <a:rPr lang="ja-JP" altLang="en-US" sz="2800" dirty="0"/>
              <a:t>使ったり、</a:t>
            </a:r>
            <a:r>
              <a:rPr lang="ja-JP" altLang="en-US" sz="2800" dirty="0">
                <a:solidFill>
                  <a:srgbClr val="00B0F0"/>
                </a:solidFill>
              </a:rPr>
              <a:t>会話の文脈を活用</a:t>
            </a:r>
            <a:r>
              <a:rPr lang="ja-JP" altLang="en-US" sz="2800" dirty="0"/>
              <a:t>したり、</a:t>
            </a:r>
            <a:r>
              <a:rPr lang="ja-JP" altLang="en-US" sz="2800" dirty="0">
                <a:solidFill>
                  <a:srgbClr val="00B0F0"/>
                </a:solidFill>
              </a:rPr>
              <a:t>対話者と協力</a:t>
            </a:r>
            <a:r>
              <a:rPr lang="ja-JP" altLang="en-US" sz="2800" dirty="0"/>
              <a:t>しながら文を完成</a:t>
            </a:r>
            <a:endParaRPr lang="ko-KR"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23528" y="286604"/>
            <a:ext cx="8820472" cy="1450757"/>
          </a:xfrm>
        </p:spPr>
        <p:txBody>
          <a:bodyPr>
            <a:normAutofit/>
          </a:bodyPr>
          <a:lstStyle/>
          <a:p>
            <a:r>
              <a:rPr lang="ja-JP" altLang="en-US" sz="4400" dirty="0">
                <a:solidFill>
                  <a:srgbClr val="92D050"/>
                </a:solidFill>
              </a:rPr>
              <a:t>話すことの練習をいつ導入するか</a:t>
            </a:r>
            <a:endParaRPr lang="ko-KR" altLang="en-US" sz="4400" dirty="0"/>
          </a:p>
        </p:txBody>
      </p:sp>
      <p:sp>
        <p:nvSpPr>
          <p:cNvPr id="3" name="내용 개체 틀 2"/>
          <p:cNvSpPr>
            <a:spLocks noGrp="1"/>
          </p:cNvSpPr>
          <p:nvPr>
            <p:ph idx="1"/>
          </p:nvPr>
        </p:nvSpPr>
        <p:spPr>
          <a:xfrm>
            <a:off x="323529" y="1880904"/>
            <a:ext cx="8043232" cy="4023360"/>
          </a:xfrm>
        </p:spPr>
        <p:txBody>
          <a:bodyPr>
            <a:normAutofit/>
          </a:bodyPr>
          <a:lstStyle/>
          <a:p>
            <a:endParaRPr lang="en-US" altLang="ja-JP" sz="3600" dirty="0"/>
          </a:p>
          <a:p>
            <a:r>
              <a:rPr lang="ja-JP" altLang="en-US" sz="3600" dirty="0"/>
              <a:t>会話ができるようにするためには、ある程度の文法や語彙の学習をまず行って、それがマスターできた段階で、それらをもとに会話学習を始めるという進め方は見直されてよい。</a:t>
            </a:r>
            <a:endParaRPr lang="ko-KR" alt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363272" cy="1143000"/>
          </a:xfrm>
        </p:spPr>
        <p:txBody>
          <a:bodyPr>
            <a:normAutofit/>
          </a:bodyPr>
          <a:lstStyle/>
          <a:p>
            <a:r>
              <a:rPr lang="ja-JP" altLang="en-US" dirty="0">
                <a:solidFill>
                  <a:srgbClr val="92D050"/>
                </a:solidFill>
              </a:rPr>
              <a:t>文型練習とは？</a:t>
            </a:r>
            <a:endParaRPr lang="ko-KR" altLang="en-US" dirty="0">
              <a:solidFill>
                <a:srgbClr val="92D050"/>
              </a:solidFill>
            </a:endParaRPr>
          </a:p>
        </p:txBody>
      </p:sp>
      <p:sp>
        <p:nvSpPr>
          <p:cNvPr id="3" name="내용 개체 틀 2"/>
          <p:cNvSpPr>
            <a:spLocks noGrp="1"/>
          </p:cNvSpPr>
          <p:nvPr>
            <p:ph idx="1"/>
          </p:nvPr>
        </p:nvSpPr>
        <p:spPr>
          <a:xfrm>
            <a:off x="251520" y="1600200"/>
            <a:ext cx="8892480" cy="4525963"/>
          </a:xfrm>
        </p:spPr>
        <p:txBody>
          <a:bodyPr>
            <a:normAutofit/>
          </a:bodyPr>
          <a:lstStyle/>
          <a:p>
            <a:r>
              <a:rPr lang="ja-JP" altLang="en-US" sz="2800" dirty="0"/>
              <a:t>文型の定着を目指した口頭による文型練習はパターンプラクティスとも言われ、初級においてよく使われる教室活動。</a:t>
            </a:r>
            <a:endParaRPr lang="en-US" altLang="ja-JP" sz="2800" dirty="0"/>
          </a:p>
          <a:p>
            <a:endParaRPr lang="en-US" altLang="ja-JP" sz="2800" dirty="0"/>
          </a:p>
          <a:p>
            <a:r>
              <a:rPr lang="ja-JP" altLang="en-US" sz="2800" dirty="0"/>
              <a:t>種類</a:t>
            </a:r>
            <a:endParaRPr lang="en-US" altLang="ja-JP" sz="2800" dirty="0"/>
          </a:p>
          <a:p>
            <a:pPr>
              <a:buNone/>
            </a:pPr>
            <a:r>
              <a:rPr lang="ja-JP" altLang="en-US" sz="2800" dirty="0"/>
              <a:t>＊教師の発話をただみんなで反復するもの</a:t>
            </a:r>
            <a:endParaRPr lang="en-US" altLang="ja-JP" sz="2800" dirty="0"/>
          </a:p>
          <a:p>
            <a:pPr>
              <a:buNone/>
            </a:pPr>
            <a:r>
              <a:rPr lang="ja-JP" altLang="en-US" sz="2800" dirty="0"/>
              <a:t>＊教師のキューに合わせて、文を拡張する。</a:t>
            </a:r>
            <a:endParaRPr lang="en-US" altLang="ja-JP" sz="2800" dirty="0"/>
          </a:p>
          <a:p>
            <a:pPr>
              <a:buNone/>
            </a:pPr>
            <a:r>
              <a:rPr lang="ja-JP" altLang="en-US" sz="2800" dirty="0"/>
              <a:t>＊教師のキューに合わせて、一部を補って文を完成する</a:t>
            </a:r>
            <a:endParaRPr lang="en-US" altLang="ja-JP" sz="2800" dirty="0"/>
          </a:p>
          <a:p>
            <a:pPr>
              <a:buNone/>
            </a:pPr>
            <a:r>
              <a:rPr lang="ja-JP" altLang="en-US" sz="2800" dirty="0"/>
              <a:t>＊クェスチョン・アンサー</a:t>
            </a:r>
            <a:endParaRPr lang="en-US" altLang="ja-JP" sz="2800" dirty="0"/>
          </a:p>
          <a:p>
            <a:pPr>
              <a:buNone/>
            </a:pPr>
            <a:endParaRPr lang="en-US" altLang="ja-JP" dirty="0"/>
          </a:p>
          <a:p>
            <a:endParaRPr lang="en-US" altLang="ja-JP" dirty="0"/>
          </a:p>
          <a:p>
            <a:endParaRPr lang="en-US" altLang="ja-JP"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キューに合わせて、文を拡張</a:t>
            </a:r>
            <a:endParaRPr lang="ko-KR" altLang="en-US" dirty="0">
              <a:solidFill>
                <a:srgbClr val="92D050"/>
              </a:solidFill>
            </a:endParaRPr>
          </a:p>
        </p:txBody>
      </p:sp>
      <p:sp>
        <p:nvSpPr>
          <p:cNvPr id="3" name="내용 개체 틀 2"/>
          <p:cNvSpPr>
            <a:spLocks noGrp="1"/>
          </p:cNvSpPr>
          <p:nvPr>
            <p:ph idx="1"/>
          </p:nvPr>
        </p:nvSpPr>
        <p:spPr>
          <a:xfrm>
            <a:off x="457200" y="2276872"/>
            <a:ext cx="7467600" cy="4392488"/>
          </a:xfrm>
        </p:spPr>
        <p:txBody>
          <a:bodyPr>
            <a:normAutofit lnSpcReduction="10000"/>
          </a:bodyPr>
          <a:lstStyle/>
          <a:p>
            <a:pPr>
              <a:buNone/>
            </a:pPr>
            <a:r>
              <a:rPr lang="ja-JP" altLang="en-US" sz="2800" b="1" dirty="0"/>
              <a:t>例</a:t>
            </a:r>
            <a:r>
              <a:rPr lang="ja-JP" altLang="ko-KR" sz="2800" b="1" dirty="0"/>
              <a:t>）泳ぐ</a:t>
            </a:r>
            <a:endParaRPr lang="ko-KR" altLang="ko-KR" sz="2800" dirty="0"/>
          </a:p>
          <a:p>
            <a:pPr>
              <a:buNone/>
            </a:pPr>
            <a:r>
              <a:rPr lang="ja-JP" altLang="en-US" sz="2800" b="1" dirty="0"/>
              <a:t>　</a:t>
            </a:r>
            <a:r>
              <a:rPr lang="ja-JP" altLang="ko-KR" sz="2800" b="1" dirty="0"/>
              <a:t>→泳ぎに行きます。</a:t>
            </a:r>
            <a:endParaRPr lang="en-US" altLang="ja-JP" sz="2800" dirty="0"/>
          </a:p>
          <a:p>
            <a:pPr>
              <a:buNone/>
            </a:pPr>
            <a:endParaRPr lang="en-US" altLang="ko-KR" sz="2800" b="1" dirty="0"/>
          </a:p>
          <a:p>
            <a:pPr>
              <a:buNone/>
            </a:pPr>
            <a:r>
              <a:rPr lang="en-US" altLang="ko-KR" sz="2800" b="1" dirty="0"/>
              <a:t>(</a:t>
            </a:r>
            <a:r>
              <a:rPr lang="ja-JP" altLang="ko-KR" sz="2800" b="1" dirty="0"/>
              <a:t>１</a:t>
            </a:r>
            <a:r>
              <a:rPr lang="en-US" altLang="ko-KR" sz="2800" b="1" dirty="0"/>
              <a:t>)</a:t>
            </a:r>
            <a:r>
              <a:rPr lang="ja-JP" altLang="ko-KR" sz="2800" b="1" dirty="0"/>
              <a:t>辞書を買う</a:t>
            </a:r>
            <a:endParaRPr lang="ko-KR" altLang="ko-KR" sz="2800" dirty="0"/>
          </a:p>
          <a:p>
            <a:pPr>
              <a:buNone/>
            </a:pPr>
            <a:r>
              <a:rPr lang="ja-JP" altLang="en-US" sz="2800" b="1" dirty="0"/>
              <a:t>　</a:t>
            </a:r>
            <a:endParaRPr lang="ko-KR" altLang="ko-KR" sz="2800" dirty="0"/>
          </a:p>
          <a:p>
            <a:pPr>
              <a:buNone/>
            </a:pPr>
            <a:r>
              <a:rPr lang="en-US" altLang="ko-KR" sz="2800" b="1" dirty="0"/>
              <a:t>(</a:t>
            </a:r>
            <a:r>
              <a:rPr lang="ja-JP" altLang="ko-KR" sz="2800" b="1" dirty="0"/>
              <a:t>２</a:t>
            </a:r>
            <a:r>
              <a:rPr lang="en-US" altLang="ko-KR" sz="2800" b="1" dirty="0"/>
              <a:t>) </a:t>
            </a:r>
            <a:r>
              <a:rPr lang="ja-JP" altLang="ko-KR" sz="2800" b="1" dirty="0"/>
              <a:t>友達に会う</a:t>
            </a:r>
            <a:endParaRPr lang="ko-KR" altLang="ko-KR" sz="2800" dirty="0"/>
          </a:p>
          <a:p>
            <a:pPr>
              <a:buNone/>
            </a:pPr>
            <a:r>
              <a:rPr lang="ja-JP" altLang="en-US" sz="2800" b="1" dirty="0"/>
              <a:t>　</a:t>
            </a:r>
            <a:endParaRPr lang="ko-KR" altLang="ko-KR" sz="2800" dirty="0"/>
          </a:p>
          <a:p>
            <a:pPr>
              <a:buNone/>
            </a:pPr>
            <a:r>
              <a:rPr lang="en-US" altLang="ko-KR" sz="2800" b="1" dirty="0"/>
              <a:t>(</a:t>
            </a:r>
            <a:r>
              <a:rPr lang="ja-JP" altLang="ko-KR" sz="2800" b="1" dirty="0"/>
              <a:t>３</a:t>
            </a:r>
            <a:r>
              <a:rPr lang="en-US" altLang="ko-KR" sz="2800" b="1" dirty="0"/>
              <a:t>) </a:t>
            </a:r>
            <a:r>
              <a:rPr lang="ja-JP" altLang="ko-KR" sz="2800" b="1" dirty="0"/>
              <a:t>食事</a:t>
            </a:r>
            <a:endParaRPr lang="ko-KR" altLang="ko-KR" sz="2800" dirty="0"/>
          </a:p>
          <a:p>
            <a:pPr>
              <a:buNone/>
            </a:pPr>
            <a:endParaRPr lang="ko-KR" altLang="ko-KR" dirty="0"/>
          </a:p>
          <a:p>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キューに合わせて、一部を補って文を完成する。</a:t>
            </a:r>
            <a:endParaRPr lang="ko-KR" altLang="en-US" dirty="0">
              <a:solidFill>
                <a:srgbClr val="92D050"/>
              </a:solidFill>
            </a:endParaRPr>
          </a:p>
        </p:txBody>
      </p:sp>
      <p:sp>
        <p:nvSpPr>
          <p:cNvPr id="3" name="내용 개체 틀 2"/>
          <p:cNvSpPr>
            <a:spLocks noGrp="1"/>
          </p:cNvSpPr>
          <p:nvPr>
            <p:ph idx="1"/>
          </p:nvPr>
        </p:nvSpPr>
        <p:spPr>
          <a:xfrm>
            <a:off x="457200" y="2132856"/>
            <a:ext cx="7467600" cy="3993307"/>
          </a:xfrm>
        </p:spPr>
        <p:txBody>
          <a:bodyPr>
            <a:normAutofit/>
          </a:bodyPr>
          <a:lstStyle/>
          <a:p>
            <a:pPr>
              <a:buNone/>
            </a:pPr>
            <a:r>
              <a:rPr lang="ja-JP" altLang="en-US" sz="2800" dirty="0"/>
              <a:t>例</a:t>
            </a:r>
            <a:r>
              <a:rPr lang="en-US" altLang="ko-KR" sz="2800" b="1" dirty="0"/>
              <a:t>) </a:t>
            </a:r>
            <a:r>
              <a:rPr lang="ja-JP" altLang="ko-KR" sz="2800" dirty="0"/>
              <a:t>彼・医者→彼は医者です。</a:t>
            </a:r>
            <a:endParaRPr lang="ko-KR" altLang="ko-KR" sz="2800" dirty="0"/>
          </a:p>
          <a:p>
            <a:pPr>
              <a:buNone/>
            </a:pPr>
            <a:endParaRPr lang="en-US" altLang="ja-JP" sz="2800" dirty="0"/>
          </a:p>
          <a:p>
            <a:pPr>
              <a:buNone/>
            </a:pPr>
            <a:r>
              <a:rPr lang="en-US" altLang="ja-JP" sz="2800" dirty="0"/>
              <a:t>(</a:t>
            </a:r>
            <a:r>
              <a:rPr lang="ja-JP" altLang="en-US" sz="2800" dirty="0"/>
              <a:t>１</a:t>
            </a:r>
            <a:r>
              <a:rPr lang="en-US" altLang="ja-JP" sz="2800" dirty="0"/>
              <a:t>)</a:t>
            </a:r>
            <a:r>
              <a:rPr lang="ja-JP" altLang="ko-KR" sz="2800" dirty="0"/>
              <a:t>私・韓国人→</a:t>
            </a:r>
            <a:endParaRPr lang="en-US" altLang="ja-JP" sz="2800" dirty="0"/>
          </a:p>
          <a:p>
            <a:pPr>
              <a:buNone/>
            </a:pPr>
            <a:endParaRPr lang="en-US" altLang="ja-JP" sz="2800" dirty="0"/>
          </a:p>
          <a:p>
            <a:pPr>
              <a:buNone/>
            </a:pPr>
            <a:r>
              <a:rPr lang="ja-JP" altLang="en-US" sz="2800" dirty="0"/>
              <a:t>（２）</a:t>
            </a:r>
            <a:r>
              <a:rPr lang="ja-JP" altLang="ko-KR" sz="2800" dirty="0"/>
              <a:t>李さん・先生→</a:t>
            </a:r>
            <a:endParaRPr lang="ko-KR" altLang="ko-KR" sz="2800" dirty="0"/>
          </a:p>
          <a:p>
            <a:pPr>
              <a:buNone/>
            </a:pPr>
            <a:endParaRPr lang="en-US" altLang="ja-JP" sz="2800" dirty="0"/>
          </a:p>
          <a:p>
            <a:pPr>
              <a:buNone/>
            </a:pPr>
            <a:r>
              <a:rPr lang="ja-JP" altLang="en-US" sz="2800" dirty="0"/>
              <a:t>（３）</a:t>
            </a:r>
            <a:r>
              <a:rPr lang="ja-JP" altLang="ko-KR" sz="2800" dirty="0"/>
              <a:t>彼・留学生→</a:t>
            </a:r>
            <a:endParaRPr lang="ko-KR" altLang="ko-KR" sz="2800" dirty="0"/>
          </a:p>
          <a:p>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クェスチョン・アンサー</a:t>
            </a:r>
            <a:endParaRPr lang="ko-KR" altLang="en-US" dirty="0">
              <a:solidFill>
                <a:srgbClr val="92D050"/>
              </a:solidFill>
            </a:endParaRPr>
          </a:p>
        </p:txBody>
      </p:sp>
      <p:sp>
        <p:nvSpPr>
          <p:cNvPr id="3" name="내용 개체 틀 2"/>
          <p:cNvSpPr>
            <a:spLocks noGrp="1"/>
          </p:cNvSpPr>
          <p:nvPr>
            <p:ph idx="1"/>
          </p:nvPr>
        </p:nvSpPr>
        <p:spPr>
          <a:xfrm>
            <a:off x="395536" y="1988840"/>
            <a:ext cx="8748464" cy="4869160"/>
          </a:xfrm>
        </p:spPr>
        <p:txBody>
          <a:bodyPr>
            <a:normAutofit fontScale="62500" lnSpcReduction="20000"/>
          </a:bodyPr>
          <a:lstStyle/>
          <a:p>
            <a:pPr>
              <a:buNone/>
            </a:pPr>
            <a:r>
              <a:rPr lang="ja-JP" altLang="en-US" sz="4800" dirty="0">
                <a:latin typeface="+mn-ea"/>
              </a:rPr>
              <a:t>先生：金さん、金さんは晩ご飯は何を食べましたか。</a:t>
            </a:r>
            <a:endParaRPr lang="en-US" altLang="ja-JP" sz="4800" dirty="0">
              <a:latin typeface="+mn-ea"/>
            </a:endParaRPr>
          </a:p>
          <a:p>
            <a:pPr>
              <a:buNone/>
            </a:pPr>
            <a:r>
              <a:rPr lang="ja-JP" altLang="en-US" sz="4800" dirty="0">
                <a:latin typeface="+mn-ea"/>
              </a:rPr>
              <a:t>金：　　はい、私は晩ご飯はごはんと野菜を食べまし</a:t>
            </a:r>
            <a:endParaRPr lang="en-US" altLang="ja-JP" sz="4800" dirty="0">
              <a:latin typeface="+mn-ea"/>
            </a:endParaRPr>
          </a:p>
          <a:p>
            <a:pPr>
              <a:buNone/>
            </a:pPr>
            <a:r>
              <a:rPr lang="ja-JP" altLang="en-US" sz="4800" dirty="0">
                <a:latin typeface="+mn-ea"/>
              </a:rPr>
              <a:t>　　　　た。</a:t>
            </a:r>
            <a:endParaRPr lang="en-US" altLang="ja-JP" sz="4800" dirty="0">
              <a:latin typeface="+mn-ea"/>
            </a:endParaRPr>
          </a:p>
          <a:p>
            <a:pPr>
              <a:buNone/>
            </a:pPr>
            <a:r>
              <a:rPr lang="ja-JP" altLang="en-US" sz="4800" dirty="0">
                <a:latin typeface="+mn-ea"/>
              </a:rPr>
              <a:t>先生：ごはんと野菜はおいしかったですか。</a:t>
            </a:r>
            <a:endParaRPr lang="en-US" altLang="ja-JP" sz="4800" dirty="0">
              <a:latin typeface="+mn-ea"/>
            </a:endParaRPr>
          </a:p>
          <a:p>
            <a:pPr>
              <a:buNone/>
            </a:pPr>
            <a:r>
              <a:rPr lang="ja-JP" altLang="en-US" sz="4800" dirty="0">
                <a:latin typeface="+mn-ea"/>
              </a:rPr>
              <a:t>金：　　はい、ごはんと野菜はおいしかったです。</a:t>
            </a:r>
            <a:endParaRPr lang="en-US" altLang="ja-JP" sz="4800" dirty="0">
              <a:latin typeface="+mn-ea"/>
            </a:endParaRPr>
          </a:p>
          <a:p>
            <a:pPr>
              <a:buNone/>
            </a:pPr>
            <a:r>
              <a:rPr lang="ja-JP" altLang="en-US" sz="4800" dirty="0">
                <a:latin typeface="+mn-ea"/>
              </a:rPr>
              <a:t>先生：よかったですね。</a:t>
            </a:r>
            <a:endParaRPr lang="en-US" altLang="ja-JP" sz="4800" dirty="0">
              <a:latin typeface="+mn-ea"/>
            </a:endParaRPr>
          </a:p>
          <a:p>
            <a:pPr>
              <a:buNone/>
            </a:pPr>
            <a:r>
              <a:rPr lang="ja-JP" altLang="en-US" sz="4800" dirty="0">
                <a:latin typeface="+mn-ea"/>
              </a:rPr>
              <a:t>　　　　それでは、李さん。李さんは朝ご飯は何を食べ</a:t>
            </a:r>
            <a:endParaRPr lang="en-US" altLang="ja-JP" sz="4800" dirty="0">
              <a:latin typeface="+mn-ea"/>
            </a:endParaRPr>
          </a:p>
          <a:p>
            <a:pPr>
              <a:buNone/>
            </a:pPr>
            <a:r>
              <a:rPr lang="ja-JP" altLang="en-US" sz="4800" dirty="0">
                <a:latin typeface="+mn-ea"/>
              </a:rPr>
              <a:t>　　　　ましたか。</a:t>
            </a:r>
            <a:endParaRPr lang="en-US" altLang="ja-JP" sz="4800" dirty="0">
              <a:latin typeface="+mn-ea"/>
            </a:endParaRPr>
          </a:p>
          <a:p>
            <a:pPr>
              <a:buNone/>
            </a:pPr>
            <a:endParaRPr lang="en-US" altLang="ja-JP" dirty="0"/>
          </a:p>
          <a:p>
            <a:pPr>
              <a:buNone/>
            </a:pPr>
            <a:r>
              <a:rPr lang="ja-JP" altLang="en-US" dirty="0"/>
              <a:t>　　　　　　　　</a:t>
            </a:r>
            <a:endParaRPr lang="en-US" altLang="ja-JP" dirty="0"/>
          </a:p>
          <a:p>
            <a:pPr>
              <a:buNone/>
            </a:pP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92D050"/>
                </a:solidFill>
              </a:rPr>
              <a:t>クェスチョン・アンサー</a:t>
            </a:r>
            <a:endParaRPr lang="ko-KR" altLang="en-US" dirty="0"/>
          </a:p>
        </p:txBody>
      </p:sp>
      <p:sp>
        <p:nvSpPr>
          <p:cNvPr id="3" name="내용 개체 틀 2"/>
          <p:cNvSpPr>
            <a:spLocks noGrp="1"/>
          </p:cNvSpPr>
          <p:nvPr>
            <p:ph idx="1"/>
          </p:nvPr>
        </p:nvSpPr>
        <p:spPr>
          <a:xfrm>
            <a:off x="467544" y="2204864"/>
            <a:ext cx="8507288" cy="4464496"/>
          </a:xfrm>
        </p:spPr>
        <p:txBody>
          <a:bodyPr>
            <a:normAutofit/>
          </a:bodyPr>
          <a:lstStyle/>
          <a:p>
            <a:pPr>
              <a:buNone/>
            </a:pPr>
            <a:r>
              <a:rPr lang="ja-JP" altLang="en-US" sz="2800" dirty="0"/>
              <a:t>李：　　はい、私は朝ご飯はパンと卵を食べました。</a:t>
            </a:r>
            <a:endParaRPr lang="en-US" altLang="ja-JP" sz="2800" dirty="0"/>
          </a:p>
          <a:p>
            <a:pPr>
              <a:buNone/>
            </a:pPr>
            <a:r>
              <a:rPr lang="ja-JP" altLang="en-US" sz="2800" dirty="0"/>
              <a:t>先生：パンと卵はおいしかったですか。</a:t>
            </a:r>
            <a:endParaRPr lang="en-US" altLang="ja-JP" sz="2800" dirty="0"/>
          </a:p>
          <a:p>
            <a:pPr>
              <a:buNone/>
            </a:pPr>
            <a:r>
              <a:rPr lang="ja-JP" altLang="en-US" sz="2800" dirty="0"/>
              <a:t>李：　　はい、パンと卵はおいしいでした。</a:t>
            </a:r>
            <a:endParaRPr lang="en-US" altLang="ja-JP" sz="2800" dirty="0"/>
          </a:p>
          <a:p>
            <a:pPr>
              <a:buNone/>
            </a:pPr>
            <a:r>
              <a:rPr lang="ja-JP" altLang="en-US" sz="2800" dirty="0"/>
              <a:t>先生：パンと卵は？おいし・・・・・かったです・・ね。</a:t>
            </a:r>
            <a:endParaRPr lang="en-US" altLang="ja-JP" sz="2800" dirty="0"/>
          </a:p>
          <a:p>
            <a:pPr>
              <a:buNone/>
            </a:pPr>
            <a:r>
              <a:rPr lang="ja-JP" altLang="en-US" sz="2800" dirty="0"/>
              <a:t>李：　　あ、はい、おいしかったです。</a:t>
            </a:r>
            <a:endParaRPr lang="en-US" altLang="ja-JP" sz="2800" dirty="0"/>
          </a:p>
          <a:p>
            <a:pPr>
              <a:buNone/>
            </a:pPr>
            <a:r>
              <a:rPr lang="ja-JP" altLang="en-US" sz="2800" dirty="0"/>
              <a:t>先生：はい、そうですね。</a:t>
            </a:r>
            <a:endParaRPr lang="en-US" altLang="ja-JP" sz="2800" dirty="0"/>
          </a:p>
          <a:p>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23528" y="274638"/>
            <a:ext cx="8640960" cy="1143000"/>
          </a:xfrm>
        </p:spPr>
        <p:txBody>
          <a:bodyPr>
            <a:noAutofit/>
          </a:bodyPr>
          <a:lstStyle/>
          <a:p>
            <a:r>
              <a:rPr lang="ja-JP" altLang="en-US" sz="3600" dirty="0">
                <a:solidFill>
                  <a:srgbClr val="92D050"/>
                </a:solidFill>
              </a:rPr>
              <a:t>クェスチョン→アンサーは会話練習になる？</a:t>
            </a:r>
            <a:endParaRPr lang="ko-KR" altLang="en-US" sz="3600" dirty="0">
              <a:solidFill>
                <a:srgbClr val="92D050"/>
              </a:solidFill>
            </a:endParaRPr>
          </a:p>
        </p:txBody>
      </p:sp>
      <p:sp>
        <p:nvSpPr>
          <p:cNvPr id="3" name="내용 개체 틀 2"/>
          <p:cNvSpPr>
            <a:spLocks noGrp="1"/>
          </p:cNvSpPr>
          <p:nvPr>
            <p:ph idx="1"/>
          </p:nvPr>
        </p:nvSpPr>
        <p:spPr>
          <a:xfrm>
            <a:off x="822959" y="1845734"/>
            <a:ext cx="7543801" cy="4391578"/>
          </a:xfrm>
        </p:spPr>
        <p:txBody>
          <a:bodyPr>
            <a:normAutofit/>
          </a:bodyPr>
          <a:lstStyle/>
          <a:p>
            <a:pPr>
              <a:buNone/>
            </a:pPr>
            <a:r>
              <a:rPr lang="ja-JP" altLang="en-US" dirty="0"/>
              <a:t>　</a:t>
            </a:r>
            <a:r>
              <a:rPr lang="ja-JP" altLang="en-US" sz="2800" dirty="0"/>
              <a:t> ・活動の主な</a:t>
            </a:r>
            <a:r>
              <a:rPr lang="ja-JP" altLang="en-US" sz="2800" dirty="0">
                <a:solidFill>
                  <a:srgbClr val="00B0F0"/>
                </a:solidFill>
              </a:rPr>
              <a:t>目的</a:t>
            </a:r>
            <a:r>
              <a:rPr lang="ja-JP" altLang="en-US" sz="2800" dirty="0"/>
              <a:t>は</a:t>
            </a:r>
            <a:r>
              <a:rPr lang="ja-JP" altLang="en-US" sz="2800" dirty="0">
                <a:solidFill>
                  <a:srgbClr val="00B0F0"/>
                </a:solidFill>
              </a:rPr>
              <a:t>動詞や形容詞の過去形</a:t>
            </a:r>
            <a:r>
              <a:rPr lang="ja-JP" altLang="en-US" sz="2800" dirty="0"/>
              <a:t>が</a:t>
            </a:r>
            <a:r>
              <a:rPr lang="ja-JP" altLang="en-US" sz="2800" dirty="0">
                <a:solidFill>
                  <a:srgbClr val="00B0F0"/>
                </a:solidFill>
              </a:rPr>
              <a:t>定着</a:t>
            </a:r>
            <a:r>
              <a:rPr lang="ja-JP" altLang="en-US" sz="2800" dirty="0"/>
              <a:t>しているかどうか</a:t>
            </a:r>
            <a:endParaRPr lang="en-US" altLang="ja-JP" sz="2800" dirty="0"/>
          </a:p>
          <a:p>
            <a:pPr>
              <a:buNone/>
            </a:pPr>
            <a:r>
              <a:rPr lang="ja-JP" altLang="en-US" sz="2800" dirty="0"/>
              <a:t>　 ・これでは会話練習と言うことはできない。</a:t>
            </a:r>
            <a:endParaRPr lang="en-US" altLang="ja-JP" sz="2800" dirty="0"/>
          </a:p>
          <a:p>
            <a:pPr>
              <a:buNone/>
            </a:pPr>
            <a:r>
              <a:rPr lang="ja-JP" altLang="en-US" sz="2800" dirty="0"/>
              <a:t>　 ・どちらかと言えば</a:t>
            </a:r>
            <a:r>
              <a:rPr lang="ja-JP" altLang="en-US" sz="2800" dirty="0">
                <a:solidFill>
                  <a:srgbClr val="00B0F0"/>
                </a:solidFill>
              </a:rPr>
              <a:t>書き言葉に近く</a:t>
            </a:r>
            <a:r>
              <a:rPr lang="ja-JP" altLang="en-US" sz="2800" dirty="0"/>
              <a:t>、典型的な話し言葉からは非常に遠い。</a:t>
            </a:r>
            <a:endParaRPr lang="en-US" altLang="ja-JP" sz="2800" dirty="0"/>
          </a:p>
          <a:p>
            <a:pPr>
              <a:buNone/>
            </a:pPr>
            <a:r>
              <a:rPr lang="ja-JP" altLang="en-US" sz="2800" dirty="0"/>
              <a:t>　 ・最近食べたものをもとにみんなで話を盛り上げていこうといった共通理解でなされる</a:t>
            </a:r>
            <a:r>
              <a:rPr lang="ja-JP" altLang="en-US" sz="2800" dirty="0">
                <a:solidFill>
                  <a:srgbClr val="00B0F0"/>
                </a:solidFill>
              </a:rPr>
              <a:t>日常会話の場ではなく</a:t>
            </a:r>
            <a:r>
              <a:rPr lang="ja-JP" altLang="en-US" sz="2800" dirty="0"/>
              <a:t>、</a:t>
            </a:r>
            <a:r>
              <a:rPr lang="ja-JP" altLang="en-US" sz="2800" dirty="0">
                <a:solidFill>
                  <a:srgbClr val="00B0F0"/>
                </a:solidFill>
              </a:rPr>
              <a:t>文型を理解し発話する場</a:t>
            </a:r>
            <a:endParaRPr lang="en-US" altLang="ja-JP" sz="2800" dirty="0">
              <a:solidFill>
                <a:srgbClr val="00B0F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ja-JP" dirty="0">
                <a:solidFill>
                  <a:srgbClr val="92D050"/>
                </a:solidFill>
              </a:rPr>
              <a:t>IRE</a:t>
            </a:r>
            <a:r>
              <a:rPr lang="ja-JP" altLang="en-US" dirty="0">
                <a:solidFill>
                  <a:srgbClr val="92D050"/>
                </a:solidFill>
              </a:rPr>
              <a:t>パターン</a:t>
            </a:r>
            <a:endParaRPr lang="ko-KR" altLang="en-US" dirty="0">
              <a:solidFill>
                <a:srgbClr val="92D050"/>
              </a:solidFill>
            </a:endParaRPr>
          </a:p>
        </p:txBody>
      </p:sp>
      <p:sp>
        <p:nvSpPr>
          <p:cNvPr id="3" name="내용 개체 틀 2"/>
          <p:cNvSpPr>
            <a:spLocks noGrp="1"/>
          </p:cNvSpPr>
          <p:nvPr>
            <p:ph idx="1"/>
          </p:nvPr>
        </p:nvSpPr>
        <p:spPr/>
        <p:txBody>
          <a:bodyPr>
            <a:normAutofit/>
          </a:bodyPr>
          <a:lstStyle/>
          <a:p>
            <a:r>
              <a:rPr lang="ja-JP" altLang="en-US" sz="2800" dirty="0"/>
              <a:t>このような教師と学習者とのやりとりは、</a:t>
            </a:r>
            <a:r>
              <a:rPr lang="ja-JP" altLang="en-US" sz="2800" dirty="0">
                <a:solidFill>
                  <a:srgbClr val="00B0F0"/>
                </a:solidFill>
              </a:rPr>
              <a:t>教室談話の典型</a:t>
            </a:r>
            <a:r>
              <a:rPr lang="ja-JP" altLang="en-US" sz="2800" dirty="0"/>
              <a:t>といわれる</a:t>
            </a:r>
            <a:r>
              <a:rPr lang="en-US" altLang="ja-JP" sz="2800" dirty="0"/>
              <a:t>I(initiation </a:t>
            </a:r>
            <a:r>
              <a:rPr lang="ja-JP" altLang="en-US" sz="2800" dirty="0"/>
              <a:t>切り出し</a:t>
            </a:r>
            <a:r>
              <a:rPr lang="en-US" altLang="ja-JP" sz="2800" dirty="0"/>
              <a:t>)</a:t>
            </a:r>
            <a:r>
              <a:rPr lang="ja-JP" altLang="en-US" sz="2800" dirty="0"/>
              <a:t>ー</a:t>
            </a:r>
            <a:r>
              <a:rPr lang="en-US" altLang="ja-JP" sz="2800" dirty="0"/>
              <a:t>R(response </a:t>
            </a:r>
            <a:r>
              <a:rPr lang="ja-JP" altLang="en-US" sz="2800" dirty="0"/>
              <a:t>反応</a:t>
            </a:r>
            <a:r>
              <a:rPr lang="en-US" altLang="ja-JP" sz="2800" dirty="0"/>
              <a:t>)</a:t>
            </a:r>
            <a:r>
              <a:rPr lang="ja-JP" altLang="en-US" sz="2800" dirty="0"/>
              <a:t>ー</a:t>
            </a:r>
            <a:r>
              <a:rPr lang="en-US" altLang="ja-JP" sz="2800" dirty="0"/>
              <a:t>E(evaluation </a:t>
            </a:r>
            <a:r>
              <a:rPr lang="ja-JP" altLang="en-US" sz="2800" dirty="0"/>
              <a:t>評価）のパターンでなされている。</a:t>
            </a:r>
            <a:endParaRPr lang="en-US" altLang="ja-JP" sz="2800" dirty="0"/>
          </a:p>
          <a:p>
            <a:r>
              <a:rPr lang="en-US" altLang="ja-JP" sz="2800" dirty="0"/>
              <a:t>IRE</a:t>
            </a:r>
            <a:r>
              <a:rPr lang="ja-JP" altLang="en-US" sz="2800" dirty="0"/>
              <a:t>パターンでは</a:t>
            </a:r>
            <a:r>
              <a:rPr lang="ja-JP" altLang="en-US" sz="2800" dirty="0">
                <a:solidFill>
                  <a:srgbClr val="00B0F0"/>
                </a:solidFill>
              </a:rPr>
              <a:t>話す力をつけることは難しい</a:t>
            </a:r>
            <a:r>
              <a:rPr lang="ja-JP" altLang="en-US" sz="2800" dirty="0"/>
              <a:t>。</a:t>
            </a:r>
            <a:endParaRPr lang="en-US" altLang="ja-JP" sz="2800" dirty="0"/>
          </a:p>
          <a:p>
            <a:r>
              <a:rPr lang="ja-JP" altLang="en-US" sz="2800" dirty="0"/>
              <a:t>教室の外で第２言語を使って意味のあるやりとりを実現できる力をつけたいのであれば、</a:t>
            </a:r>
            <a:r>
              <a:rPr lang="ja-JP" altLang="en-US" sz="2800" dirty="0">
                <a:solidFill>
                  <a:srgbClr val="00B0F0"/>
                </a:solidFill>
              </a:rPr>
              <a:t>このパターン以外の練習が必要</a:t>
            </a:r>
            <a:r>
              <a:rPr lang="ja-JP" altLang="en-US" sz="2800" dirty="0"/>
              <a:t>である。</a:t>
            </a:r>
            <a:endParaRPr lang="ko-KR"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22960" y="188640"/>
            <a:ext cx="7543800" cy="1944216"/>
          </a:xfrm>
        </p:spPr>
        <p:txBody>
          <a:bodyPr>
            <a:normAutofit fontScale="90000"/>
          </a:bodyPr>
          <a:lstStyle/>
          <a:p>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r>
              <a:rPr lang="ja-JP" altLang="en-US" sz="3600" dirty="0">
                <a:solidFill>
                  <a:srgbClr val="92D050"/>
                </a:solidFill>
              </a:rPr>
              <a:t>意味のある会話のできる力</a:t>
            </a:r>
            <a:br>
              <a:rPr lang="en-US" altLang="ja-JP" sz="3600" dirty="0">
                <a:solidFill>
                  <a:srgbClr val="92D050"/>
                </a:solidFill>
              </a:rPr>
            </a:br>
            <a:r>
              <a:rPr lang="en-US" altLang="ja-JP" sz="3600" dirty="0">
                <a:solidFill>
                  <a:srgbClr val="92D050"/>
                </a:solidFill>
              </a:rPr>
              <a:t>                          </a:t>
            </a:r>
            <a:r>
              <a:rPr lang="en-US" altLang="ja-JP" sz="2400" dirty="0">
                <a:solidFill>
                  <a:srgbClr val="92D050"/>
                </a:solidFill>
              </a:rPr>
              <a:t>(</a:t>
            </a:r>
            <a:r>
              <a:rPr lang="en-US" altLang="ko-KR" sz="2400" dirty="0" err="1">
                <a:solidFill>
                  <a:srgbClr val="92D050"/>
                </a:solidFill>
              </a:rPr>
              <a:t>Canale</a:t>
            </a:r>
            <a:r>
              <a:rPr lang="en-US" altLang="ko-KR" sz="2400" dirty="0">
                <a:solidFill>
                  <a:srgbClr val="92D050"/>
                </a:solidFill>
              </a:rPr>
              <a:t> &amp; Swain 1980)</a:t>
            </a:r>
            <a:br>
              <a:rPr lang="en-US" altLang="ko-KR" sz="2400" dirty="0">
                <a:solidFill>
                  <a:srgbClr val="92D050"/>
                </a:solidFill>
              </a:rPr>
            </a:br>
            <a:endParaRPr lang="ko-KR" altLang="en-US" sz="3600" dirty="0">
              <a:solidFill>
                <a:srgbClr val="92D050"/>
              </a:solidFill>
            </a:endParaRPr>
          </a:p>
        </p:txBody>
      </p:sp>
      <p:sp>
        <p:nvSpPr>
          <p:cNvPr id="3" name="내용 개체 틀 2"/>
          <p:cNvSpPr>
            <a:spLocks noGrp="1"/>
          </p:cNvSpPr>
          <p:nvPr>
            <p:ph idx="1"/>
          </p:nvPr>
        </p:nvSpPr>
        <p:spPr>
          <a:xfrm>
            <a:off x="457200" y="1600200"/>
            <a:ext cx="8229600" cy="4900634"/>
          </a:xfrm>
        </p:spPr>
        <p:txBody>
          <a:bodyPr>
            <a:normAutofit/>
          </a:bodyPr>
          <a:lstStyle/>
          <a:p>
            <a:endParaRPr lang="en-US" altLang="ja-JP" dirty="0"/>
          </a:p>
          <a:p>
            <a:r>
              <a:rPr lang="ja-JP" altLang="en-US" sz="2800" dirty="0"/>
              <a:t>文法能力</a:t>
            </a:r>
            <a:r>
              <a:rPr lang="en-US" altLang="ja-JP" sz="2800" dirty="0"/>
              <a:t>(</a:t>
            </a:r>
            <a:r>
              <a:rPr lang="ja-JP" altLang="en-US" sz="2800" dirty="0"/>
              <a:t>語彙、文構造）</a:t>
            </a:r>
            <a:endParaRPr lang="en-US" altLang="ja-JP" sz="2800" dirty="0"/>
          </a:p>
          <a:p>
            <a:endParaRPr lang="en-US" altLang="ja-JP" sz="2800" dirty="0"/>
          </a:p>
          <a:p>
            <a:r>
              <a:rPr lang="ja-JP" altLang="en-US" sz="2800" dirty="0"/>
              <a:t>社会言語能力</a:t>
            </a:r>
            <a:endParaRPr lang="en-US" altLang="ja-JP" sz="2800" dirty="0"/>
          </a:p>
          <a:p>
            <a:endParaRPr lang="en-US" altLang="ja-JP" sz="2800" dirty="0"/>
          </a:p>
          <a:p>
            <a:r>
              <a:rPr lang="ja-JP" altLang="en-US" sz="2800" dirty="0"/>
              <a:t>談話能力</a:t>
            </a:r>
            <a:endParaRPr lang="en-US" altLang="ja-JP" sz="2800" dirty="0"/>
          </a:p>
          <a:p>
            <a:endParaRPr lang="en-US" altLang="ja-JP" sz="2800" dirty="0"/>
          </a:p>
          <a:p>
            <a:r>
              <a:rPr lang="ja-JP" altLang="en-US" sz="2800" dirty="0"/>
              <a:t>ストラテジー能力（伝達方略能力）</a:t>
            </a:r>
            <a:endParaRPr lang="en-US" altLang="ja-JP"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a:solidFill>
                  <a:srgbClr val="92D050"/>
                </a:solidFill>
              </a:rPr>
              <a:t>社会言語能力</a:t>
            </a:r>
            <a:br>
              <a:rPr lang="en-US" altLang="ja-JP">
                <a:solidFill>
                  <a:srgbClr val="92D050"/>
                </a:solidFill>
              </a:rPr>
            </a:br>
            <a:r>
              <a:rPr lang="ja-JP" altLang="en-US" sz="3100">
                <a:solidFill>
                  <a:srgbClr val="92D050"/>
                </a:solidFill>
              </a:rPr>
              <a:t>（適切な状況で適切なことが言える力）</a:t>
            </a:r>
            <a:endParaRPr lang="ko-KR" altLang="en-US">
              <a:solidFill>
                <a:srgbClr val="92D050"/>
              </a:solidFill>
            </a:endParaRPr>
          </a:p>
        </p:txBody>
      </p:sp>
      <p:sp>
        <p:nvSpPr>
          <p:cNvPr id="3" name="내용 개체 틀 2"/>
          <p:cNvSpPr>
            <a:spLocks noGrp="1"/>
          </p:cNvSpPr>
          <p:nvPr>
            <p:ph idx="1"/>
          </p:nvPr>
        </p:nvSpPr>
        <p:spPr/>
        <p:txBody>
          <a:bodyPr/>
          <a:lstStyle/>
          <a:p>
            <a:r>
              <a:rPr lang="ja-JP" altLang="en-US" sz="2800" dirty="0"/>
              <a:t>場面：大学の研究室で</a:t>
            </a:r>
            <a:endParaRPr lang="en-US" altLang="ja-JP" sz="2800" dirty="0"/>
          </a:p>
          <a:p>
            <a:endParaRPr lang="en-US" altLang="ko-KR" sz="2800" dirty="0"/>
          </a:p>
          <a:p>
            <a:r>
              <a:rPr lang="ja-JP" altLang="en-US" sz="2800" dirty="0"/>
              <a:t>会話例</a:t>
            </a:r>
            <a:endParaRPr lang="en-US" altLang="ja-JP" sz="2800" dirty="0"/>
          </a:p>
          <a:p>
            <a:pPr>
              <a:buNone/>
            </a:pPr>
            <a:r>
              <a:rPr lang="ja-JP" altLang="en-US" sz="2800" dirty="0"/>
              <a:t>学生：先生の論文、見ました。すばらしいで</a:t>
            </a:r>
            <a:endParaRPr lang="en-US" altLang="ja-JP" sz="2800" dirty="0"/>
          </a:p>
          <a:p>
            <a:pPr>
              <a:buNone/>
            </a:pPr>
            <a:r>
              <a:rPr lang="ja-JP" altLang="en-US" sz="2800" dirty="0"/>
              <a:t>　　　　　すね。本当に先生はすごいですね。</a:t>
            </a:r>
            <a:endParaRPr lang="en-US" altLang="ja-JP" sz="2800" dirty="0"/>
          </a:p>
          <a:p>
            <a:pPr>
              <a:buNone/>
            </a:pPr>
            <a:r>
              <a:rPr lang="ja-JP" altLang="en-US" sz="2800" dirty="0"/>
              <a:t>先生：「・・・・・・・・・」</a:t>
            </a:r>
            <a:endParaRPr lang="en-US" altLang="ja-JP" sz="2800" dirty="0"/>
          </a:p>
          <a:p>
            <a:pPr>
              <a:buNone/>
            </a:pPr>
            <a:endParaRPr lang="en-US" altLang="ko-KR" dirty="0"/>
          </a:p>
          <a:p>
            <a:pPr>
              <a:buNone/>
            </a:pP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714356"/>
            <a:ext cx="7467600" cy="1500198"/>
          </a:xfrm>
        </p:spPr>
        <p:txBody>
          <a:bodyPr>
            <a:normAutofit fontScale="90000"/>
          </a:bodyPr>
          <a:lstStyle/>
          <a:p>
            <a:r>
              <a:rPr lang="ja-JP" altLang="en-US" sz="4400">
                <a:solidFill>
                  <a:srgbClr val="92D050"/>
                </a:solidFill>
              </a:rPr>
              <a:t>談話能力</a:t>
            </a:r>
            <a:br>
              <a:rPr lang="en-US" altLang="ja-JP" sz="2700"/>
            </a:br>
            <a:r>
              <a:rPr lang="ja-JP" altLang="en-US" sz="2700">
                <a:solidFill>
                  <a:srgbClr val="92D050"/>
                </a:solidFill>
              </a:rPr>
              <a:t>（会話を切り出したり会話に入ったり会話を終わらせたり、あるいは一貫性を持って話が展開できたりする力）</a:t>
            </a:r>
            <a:r>
              <a:rPr lang="ja-JP" altLang="en-US" sz="2700"/>
              <a:t>　</a:t>
            </a:r>
            <a:br>
              <a:rPr lang="en-US" altLang="ja-JP"/>
            </a:br>
            <a:endParaRPr lang="ko-KR" altLang="en-US"/>
          </a:p>
        </p:txBody>
      </p:sp>
      <p:sp>
        <p:nvSpPr>
          <p:cNvPr id="3" name="내용 개체 틀 2"/>
          <p:cNvSpPr>
            <a:spLocks noGrp="1"/>
          </p:cNvSpPr>
          <p:nvPr>
            <p:ph idx="1"/>
          </p:nvPr>
        </p:nvSpPr>
        <p:spPr>
          <a:xfrm>
            <a:off x="457200" y="2214554"/>
            <a:ext cx="8186766" cy="4429156"/>
          </a:xfrm>
        </p:spPr>
        <p:txBody>
          <a:bodyPr>
            <a:normAutofit/>
          </a:bodyPr>
          <a:lstStyle/>
          <a:p>
            <a:r>
              <a:rPr lang="ja-JP" altLang="en-US" sz="2800" dirty="0"/>
              <a:t>場面：会社で早退の許可をとる場面</a:t>
            </a:r>
            <a:endParaRPr lang="en-US" altLang="ja-JP" sz="2800" dirty="0"/>
          </a:p>
          <a:p>
            <a:r>
              <a:rPr lang="ja-JP" altLang="en-US" sz="2800" dirty="0"/>
              <a:t>例１）と例２）、どちらが自然？</a:t>
            </a:r>
            <a:endParaRPr lang="en-US" altLang="ja-JP" sz="2800" dirty="0"/>
          </a:p>
          <a:p>
            <a:endParaRPr lang="en-US" altLang="ko-KR" sz="2800" dirty="0"/>
          </a:p>
          <a:p>
            <a:pPr>
              <a:buNone/>
            </a:pPr>
            <a:r>
              <a:rPr lang="ja-JP" altLang="en-US" sz="2800" dirty="0"/>
              <a:t>例１）</a:t>
            </a:r>
            <a:endParaRPr lang="en-US" altLang="ja-JP" sz="2800" dirty="0"/>
          </a:p>
          <a:p>
            <a:pPr>
              <a:buNone/>
            </a:pPr>
            <a:r>
              <a:rPr lang="ja-JP" altLang="en-US" sz="2800" dirty="0"/>
              <a:t>部下：子供が熱を出したので、帰らせていた</a:t>
            </a:r>
            <a:endParaRPr lang="en-US" altLang="ja-JP" sz="2800" dirty="0"/>
          </a:p>
          <a:p>
            <a:pPr>
              <a:buNone/>
            </a:pPr>
            <a:r>
              <a:rPr lang="ja-JP" altLang="en-US" sz="2800" dirty="0"/>
              <a:t>　　　　だきたいんですが。</a:t>
            </a:r>
            <a:endParaRPr lang="en-US" altLang="ja-JP" sz="2800" dirty="0"/>
          </a:p>
          <a:p>
            <a:pPr>
              <a:buNone/>
            </a:pPr>
            <a:r>
              <a:rPr lang="ja-JP" altLang="en-US" sz="2800" dirty="0"/>
              <a:t>上司：あ、そうですか。いいですよ</a:t>
            </a:r>
            <a:endParaRPr lang="ko-KR"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a:solidFill>
                  <a:srgbClr val="92D050"/>
                </a:solidFill>
              </a:rPr>
              <a:t>談話能力</a:t>
            </a:r>
            <a:endParaRPr lang="ko-KR" altLang="en-US">
              <a:solidFill>
                <a:srgbClr val="92D050"/>
              </a:solidFill>
            </a:endParaRPr>
          </a:p>
        </p:txBody>
      </p:sp>
      <p:sp>
        <p:nvSpPr>
          <p:cNvPr id="3" name="내용 개체 틀 2"/>
          <p:cNvSpPr>
            <a:spLocks noGrp="1"/>
          </p:cNvSpPr>
          <p:nvPr>
            <p:ph idx="1"/>
          </p:nvPr>
        </p:nvSpPr>
        <p:spPr>
          <a:xfrm>
            <a:off x="457200" y="1988840"/>
            <a:ext cx="8472518" cy="4137323"/>
          </a:xfrm>
        </p:spPr>
        <p:txBody>
          <a:bodyPr>
            <a:noAutofit/>
          </a:bodyPr>
          <a:lstStyle/>
          <a:p>
            <a:pPr>
              <a:buNone/>
            </a:pPr>
            <a:r>
              <a:rPr lang="ja-JP" altLang="en-US" sz="2800" dirty="0"/>
              <a:t>例２）</a:t>
            </a:r>
            <a:endParaRPr lang="en-US" altLang="ja-JP" sz="2800" dirty="0"/>
          </a:p>
          <a:p>
            <a:pPr>
              <a:buNone/>
            </a:pPr>
            <a:r>
              <a:rPr lang="ja-JP" altLang="en-US" sz="2800" dirty="0"/>
              <a:t>部下：あのう、すみません。</a:t>
            </a:r>
            <a:endParaRPr lang="en-US" altLang="ja-JP" sz="2800" dirty="0"/>
          </a:p>
          <a:p>
            <a:pPr>
              <a:buNone/>
            </a:pPr>
            <a:r>
              <a:rPr lang="ja-JP" altLang="en-US" sz="2800" dirty="0"/>
              <a:t>上司：どうしたんですか。</a:t>
            </a:r>
            <a:endParaRPr lang="en-US" altLang="ja-JP" sz="2800" dirty="0"/>
          </a:p>
          <a:p>
            <a:pPr>
              <a:buNone/>
            </a:pPr>
            <a:r>
              <a:rPr lang="ja-JP" altLang="en-US" sz="2800" dirty="0"/>
              <a:t>部下：実は、子供が熱を出したので、帰らせていただきたいんですが。</a:t>
            </a:r>
            <a:endParaRPr lang="en-US" altLang="ja-JP" sz="2800" dirty="0"/>
          </a:p>
          <a:p>
            <a:pPr>
              <a:buNone/>
            </a:pPr>
            <a:r>
              <a:rPr lang="ja-JP" altLang="en-US" sz="2800" dirty="0"/>
              <a:t>上司：あ、そうですか。いいですよ。</a:t>
            </a:r>
            <a:endParaRPr lang="en-US" altLang="ja-JP" sz="2800" dirty="0"/>
          </a:p>
          <a:p>
            <a:pPr>
              <a:buNone/>
            </a:pPr>
            <a:r>
              <a:rPr lang="ja-JP" altLang="en-US" sz="2800" dirty="0"/>
              <a:t>部下：忙しいときにすみません。</a:t>
            </a:r>
            <a:endParaRPr lang="en-US" altLang="ja-JP" sz="2800" dirty="0"/>
          </a:p>
          <a:p>
            <a:pPr>
              <a:buNone/>
            </a:pPr>
            <a:r>
              <a:rPr lang="ja-JP" altLang="en-US" sz="2800" dirty="0"/>
              <a:t>上司：いいえ。</a:t>
            </a:r>
            <a:endParaRPr lang="ko-KR"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71440" y="260648"/>
            <a:ext cx="8572560" cy="1500198"/>
          </a:xfrm>
        </p:spPr>
        <p:txBody>
          <a:bodyPr>
            <a:normAutofit/>
          </a:bodyPr>
          <a:lstStyle/>
          <a:p>
            <a:r>
              <a:rPr lang="ja-JP" altLang="en-US" dirty="0">
                <a:solidFill>
                  <a:srgbClr val="92D050"/>
                </a:solidFill>
              </a:rPr>
              <a:t>ストラテジー能力</a:t>
            </a:r>
            <a:br>
              <a:rPr lang="en-US" altLang="ja-JP" dirty="0"/>
            </a:br>
            <a:r>
              <a:rPr lang="ja-JP" altLang="en-US" sz="2700" dirty="0">
                <a:solidFill>
                  <a:srgbClr val="92D050"/>
                </a:solidFill>
              </a:rPr>
              <a:t>自分の言いたいことを効果的に伝えたり、うまく伝えられない場合には適当なストラテジーを使って切り抜けたりする力</a:t>
            </a:r>
            <a:endParaRPr lang="ko-KR" altLang="en-US" sz="2700" dirty="0">
              <a:solidFill>
                <a:srgbClr val="92D050"/>
              </a:solidFill>
            </a:endParaRPr>
          </a:p>
        </p:txBody>
      </p:sp>
      <p:sp>
        <p:nvSpPr>
          <p:cNvPr id="3" name="내용 개체 틀 2"/>
          <p:cNvSpPr>
            <a:spLocks noGrp="1"/>
          </p:cNvSpPr>
          <p:nvPr>
            <p:ph idx="1"/>
          </p:nvPr>
        </p:nvSpPr>
        <p:spPr>
          <a:xfrm>
            <a:off x="457200" y="2204864"/>
            <a:ext cx="8507288" cy="3921299"/>
          </a:xfrm>
        </p:spPr>
        <p:txBody>
          <a:bodyPr>
            <a:normAutofit/>
          </a:bodyPr>
          <a:lstStyle/>
          <a:p>
            <a:pPr>
              <a:buNone/>
            </a:pPr>
            <a:r>
              <a:rPr lang="ja-JP" altLang="en-US" dirty="0"/>
              <a:t>　　</a:t>
            </a:r>
            <a:endParaRPr lang="en-US" altLang="ja-JP" dirty="0"/>
          </a:p>
          <a:p>
            <a:pPr>
              <a:buNone/>
            </a:pPr>
            <a:r>
              <a:rPr lang="ja-JP" altLang="en-US" sz="3200" dirty="0"/>
              <a:t>（１）どうしてもある単語を思い出すことができない。</a:t>
            </a:r>
            <a:endParaRPr lang="en-US" altLang="ja-JP" sz="3200" dirty="0"/>
          </a:p>
          <a:p>
            <a:pPr>
              <a:buNone/>
            </a:pPr>
            <a:r>
              <a:rPr lang="ja-JP" altLang="en-US" sz="3200" dirty="0"/>
              <a:t>（２）相手が言うことが分からない。</a:t>
            </a:r>
            <a:endParaRPr lang="en-US" altLang="ja-JP" sz="3200" dirty="0"/>
          </a:p>
          <a:p>
            <a:pPr>
              <a:buNone/>
            </a:pPr>
            <a:r>
              <a:rPr lang="ja-JP" altLang="en-US" sz="3200" dirty="0"/>
              <a:t>（３）自分が言ったことを相手がよく理解できない。</a:t>
            </a:r>
            <a:endParaRPr lang="en-US" altLang="ja-JP"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話す練習はいつ導入？</a:t>
            </a:r>
            <a:endParaRPr lang="ko-KR" altLang="en-US" dirty="0">
              <a:solidFill>
                <a:srgbClr val="92D050"/>
              </a:solidFill>
            </a:endParaRPr>
          </a:p>
        </p:txBody>
      </p:sp>
      <p:sp>
        <p:nvSpPr>
          <p:cNvPr id="3" name="내용 개체 틀 2"/>
          <p:cNvSpPr>
            <a:spLocks noGrp="1"/>
          </p:cNvSpPr>
          <p:nvPr>
            <p:ph idx="1"/>
          </p:nvPr>
        </p:nvSpPr>
        <p:spPr>
          <a:xfrm>
            <a:off x="457200" y="2060848"/>
            <a:ext cx="8258204" cy="4065315"/>
          </a:xfrm>
        </p:spPr>
        <p:txBody>
          <a:bodyPr>
            <a:normAutofit/>
          </a:bodyPr>
          <a:lstStyle/>
          <a:p>
            <a:r>
              <a:rPr lang="ja-JP" altLang="en-US" sz="2800" dirty="0"/>
              <a:t>・手持ちの文型や語彙が少なければ少ないなりに、それをもとに、如何に</a:t>
            </a:r>
            <a:r>
              <a:rPr lang="ja-JP" altLang="en-US" sz="2800" dirty="0">
                <a:solidFill>
                  <a:srgbClr val="00B0F0"/>
                </a:solidFill>
              </a:rPr>
              <a:t>相手と意味のあるやりとり</a:t>
            </a:r>
            <a:r>
              <a:rPr lang="ja-JP" altLang="en-US" sz="2800" dirty="0"/>
              <a:t>が創造できるかを考え、工夫して</a:t>
            </a:r>
            <a:r>
              <a:rPr lang="ja-JP" altLang="en-US" sz="2800" dirty="0">
                <a:solidFill>
                  <a:srgbClr val="00B0F0"/>
                </a:solidFill>
              </a:rPr>
              <a:t>会話の場面に立ち向かう学習</a:t>
            </a:r>
            <a:r>
              <a:rPr lang="ja-JP" altLang="en-US" sz="2800" dirty="0"/>
              <a:t>がもっと重視されてよい。</a:t>
            </a:r>
            <a:endParaRPr lang="en-US" altLang="ja-JP" sz="2800" dirty="0"/>
          </a:p>
          <a:p>
            <a:endParaRPr lang="en-US" altLang="ja-JP" sz="2800" dirty="0"/>
          </a:p>
          <a:p>
            <a:r>
              <a:rPr lang="ja-JP" altLang="en-US" sz="2800" dirty="0"/>
              <a:t>・</a:t>
            </a:r>
            <a:r>
              <a:rPr lang="ja-JP" altLang="en-US" sz="2800" dirty="0">
                <a:solidFill>
                  <a:srgbClr val="00B0F0"/>
                </a:solidFill>
              </a:rPr>
              <a:t>学習の初期の段階</a:t>
            </a:r>
            <a:r>
              <a:rPr lang="ja-JP" altLang="en-US" sz="2800" dirty="0"/>
              <a:t>から文法や語彙学習と並行して</a:t>
            </a:r>
            <a:r>
              <a:rPr lang="ja-JP" altLang="en-US" sz="2800" dirty="0">
                <a:solidFill>
                  <a:srgbClr val="00B0F0"/>
                </a:solidFill>
              </a:rPr>
              <a:t>話すことを学習する</a:t>
            </a:r>
            <a:r>
              <a:rPr lang="ja-JP" altLang="en-US" sz="2800" dirty="0"/>
              <a:t>やり方も取り入れられてよい。</a:t>
            </a:r>
            <a:endParaRPr lang="ko-KR"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a:solidFill>
                  <a:srgbClr val="92D050"/>
                </a:solidFill>
              </a:rPr>
              <a:t>考えてみましょう！</a:t>
            </a:r>
            <a:endParaRPr lang="ko-KR" altLang="en-US" dirty="0">
              <a:solidFill>
                <a:srgbClr val="92D050"/>
              </a:solidFill>
            </a:endParaRPr>
          </a:p>
        </p:txBody>
      </p:sp>
      <p:sp>
        <p:nvSpPr>
          <p:cNvPr id="3" name="내용 개체 틀 2"/>
          <p:cNvSpPr>
            <a:spLocks noGrp="1"/>
          </p:cNvSpPr>
          <p:nvPr>
            <p:ph idx="1"/>
          </p:nvPr>
        </p:nvSpPr>
        <p:spPr>
          <a:xfrm>
            <a:off x="457200" y="1600200"/>
            <a:ext cx="8329642" cy="4525963"/>
          </a:xfrm>
        </p:spPr>
        <p:txBody>
          <a:bodyPr/>
          <a:lstStyle/>
          <a:p>
            <a:pPr>
              <a:buNone/>
            </a:pPr>
            <a:endParaRPr lang="en-US" altLang="ja-JP" dirty="0"/>
          </a:p>
          <a:p>
            <a:r>
              <a:rPr lang="ja-JP" altLang="en-US" sz="2800" dirty="0"/>
              <a:t>「通常の会話の過程でなされていること」ができるようになるためには、学習者は会話の教室でどのようなことを学習すればいいでしょうか。</a:t>
            </a:r>
            <a:endParaRPr lang="ko-KR"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答え</a:t>
            </a:r>
            <a:endParaRPr lang="ko-KR" altLang="en-US" dirty="0">
              <a:solidFill>
                <a:srgbClr val="92D050"/>
              </a:solidFill>
            </a:endParaRPr>
          </a:p>
        </p:txBody>
      </p:sp>
      <p:sp>
        <p:nvSpPr>
          <p:cNvPr id="3" name="내용 개체 틀 2"/>
          <p:cNvSpPr>
            <a:spLocks noGrp="1"/>
          </p:cNvSpPr>
          <p:nvPr>
            <p:ph idx="1"/>
          </p:nvPr>
        </p:nvSpPr>
        <p:spPr/>
        <p:txBody>
          <a:bodyPr>
            <a:normAutofit/>
          </a:bodyPr>
          <a:lstStyle/>
          <a:p>
            <a:r>
              <a:rPr lang="ja-JP" altLang="en-US" sz="2800" dirty="0"/>
              <a:t>・会話の構成要素の一つひとつではなく、</a:t>
            </a:r>
            <a:r>
              <a:rPr lang="ja-JP" altLang="en-US" sz="2800" dirty="0">
                <a:solidFill>
                  <a:srgbClr val="00B0F0"/>
                </a:solidFill>
              </a:rPr>
              <a:t>会話をまるごと経験</a:t>
            </a:r>
            <a:r>
              <a:rPr lang="ja-JP" altLang="en-US" sz="2800" dirty="0"/>
              <a:t>することがより重要である。</a:t>
            </a:r>
            <a:endParaRPr lang="en-US" altLang="ja-JP" sz="2800" dirty="0"/>
          </a:p>
          <a:p>
            <a:r>
              <a:rPr lang="ja-JP" altLang="en-US" sz="2800" dirty="0"/>
              <a:t>・会話を行うために必要なことは、文法や語彙あるいは特定のパターンのように知識に関わるものもあるが、</a:t>
            </a:r>
            <a:r>
              <a:rPr lang="ja-JP" altLang="en-US" sz="2800" dirty="0">
                <a:solidFill>
                  <a:srgbClr val="00B0F0"/>
                </a:solidFill>
              </a:rPr>
              <a:t>多くは使用すること</a:t>
            </a:r>
            <a:r>
              <a:rPr lang="en-US" altLang="ja-JP" sz="2800" dirty="0">
                <a:solidFill>
                  <a:srgbClr val="00B0F0"/>
                </a:solidFill>
              </a:rPr>
              <a:t>(</a:t>
            </a:r>
            <a:r>
              <a:rPr lang="ja-JP" altLang="en-US" sz="2800" dirty="0">
                <a:solidFill>
                  <a:srgbClr val="00B0F0"/>
                </a:solidFill>
              </a:rPr>
              <a:t>練習や経験）を通して獲得される技能</a:t>
            </a:r>
            <a:r>
              <a:rPr lang="ja-JP" altLang="en-US" sz="2800" dirty="0"/>
              <a:t>である。</a:t>
            </a:r>
            <a:endParaRPr lang="en-US" altLang="ja-JP" sz="2800" dirty="0"/>
          </a:p>
          <a:p>
            <a:r>
              <a:rPr lang="ja-JP" altLang="en-US" sz="2800" dirty="0"/>
              <a:t>・話すことの指導の大前提は、</a:t>
            </a:r>
            <a:r>
              <a:rPr lang="ja-JP" altLang="en-US" sz="2800" dirty="0">
                <a:solidFill>
                  <a:srgbClr val="00B0F0"/>
                </a:solidFill>
              </a:rPr>
              <a:t>学習者が実際に話し手となる場を提供して現実の会話を経験させる</a:t>
            </a:r>
            <a:r>
              <a:rPr lang="ja-JP" altLang="en-US" sz="2800" dirty="0"/>
              <a:t>ことである。</a:t>
            </a:r>
            <a:endParaRPr lang="ko-KR"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sz="2800" dirty="0"/>
              <a:t>・現実に話すということをしないで、いくら会話を構成する文法や語彙などの</a:t>
            </a:r>
            <a:r>
              <a:rPr lang="ja-JP" altLang="en-US" sz="2800" dirty="0">
                <a:solidFill>
                  <a:srgbClr val="00B0F0"/>
                </a:solidFill>
              </a:rPr>
              <a:t>各要素を知識として頭に入れても、話せるようにはならない。</a:t>
            </a:r>
            <a:endParaRPr lang="en-US" altLang="ja-JP" sz="2800" dirty="0">
              <a:solidFill>
                <a:srgbClr val="00B0F0"/>
              </a:solidFill>
            </a:endParaRPr>
          </a:p>
          <a:p>
            <a:endParaRPr lang="en-US" altLang="ja-JP" sz="2800" dirty="0">
              <a:solidFill>
                <a:srgbClr val="00B0F0"/>
              </a:solidFill>
            </a:endParaRPr>
          </a:p>
          <a:p>
            <a:r>
              <a:rPr lang="ja-JP" altLang="en-US" sz="2800" dirty="0"/>
              <a:t>・個々の</a:t>
            </a:r>
            <a:r>
              <a:rPr lang="ja-JP" altLang="en-US" sz="2800" dirty="0">
                <a:solidFill>
                  <a:srgbClr val="00B0F0"/>
                </a:solidFill>
              </a:rPr>
              <a:t>学習者の認知や学習スタイル</a:t>
            </a:r>
            <a:r>
              <a:rPr lang="ja-JP" altLang="en-US" sz="2800" dirty="0"/>
              <a:t>の</a:t>
            </a:r>
            <a:r>
              <a:rPr lang="ja-JP" altLang="en-US" sz="2800" dirty="0">
                <a:solidFill>
                  <a:srgbClr val="00B0F0"/>
                </a:solidFill>
              </a:rPr>
              <a:t>多様さ</a:t>
            </a:r>
            <a:r>
              <a:rPr lang="ja-JP" altLang="en-US" sz="2800" dirty="0"/>
              <a:t>に注目するなら、</a:t>
            </a:r>
            <a:r>
              <a:rPr lang="ja-JP" altLang="en-US" sz="2800" dirty="0">
                <a:solidFill>
                  <a:srgbClr val="00B0F0"/>
                </a:solidFill>
              </a:rPr>
              <a:t>学習者が主体的に試行錯誤を繰り返し</a:t>
            </a:r>
            <a:r>
              <a:rPr lang="ja-JP" altLang="en-US" sz="2800" dirty="0"/>
              <a:t>、その中から意識的に学習できることがむしろ重要である。</a:t>
            </a:r>
            <a:endParaRPr lang="ko-KR"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a:solidFill>
                  <a:srgbClr val="92D050"/>
                </a:solidFill>
              </a:rPr>
              <a:t>考えてみましょう！</a:t>
            </a:r>
            <a:endParaRPr lang="ko-KR" altLang="en-US" dirty="0">
              <a:solidFill>
                <a:srgbClr val="92D050"/>
              </a:solidFill>
            </a:endParaRPr>
          </a:p>
        </p:txBody>
      </p:sp>
      <p:sp>
        <p:nvSpPr>
          <p:cNvPr id="3" name="내용 개체 틀 2"/>
          <p:cNvSpPr>
            <a:spLocks noGrp="1"/>
          </p:cNvSpPr>
          <p:nvPr>
            <p:ph idx="1"/>
          </p:nvPr>
        </p:nvSpPr>
        <p:spPr>
          <a:xfrm>
            <a:off x="214282" y="1600200"/>
            <a:ext cx="8643998" cy="4525963"/>
          </a:xfrm>
        </p:spPr>
        <p:txBody>
          <a:bodyPr/>
          <a:lstStyle/>
          <a:p>
            <a:endParaRPr lang="en-US" altLang="ja-JP" dirty="0"/>
          </a:p>
          <a:p>
            <a:r>
              <a:rPr lang="ja-JP" altLang="en-US" sz="2800" dirty="0"/>
              <a:t>・学習者が会話を経験するという場合、教師がどのような点に注意して誘導すべきか。</a:t>
            </a:r>
            <a:endParaRPr lang="en-US" altLang="ja-JP" sz="2800" dirty="0"/>
          </a:p>
          <a:p>
            <a:endParaRPr lang="en-US" altLang="ja-JP" sz="2800" dirty="0"/>
          </a:p>
          <a:p>
            <a:r>
              <a:rPr lang="ja-JP" altLang="en-US" sz="2800" dirty="0"/>
              <a:t>・易しすぎる課題と難しすぎる課題、どちらが有害か、またその理由について議論しましょう。</a:t>
            </a:r>
            <a:endParaRPr lang="en-US" altLang="ja-JP"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答え</a:t>
            </a:r>
            <a:endParaRPr lang="ko-KR" altLang="en-US" dirty="0">
              <a:solidFill>
                <a:srgbClr val="92D050"/>
              </a:solidFill>
            </a:endParaRPr>
          </a:p>
        </p:txBody>
      </p:sp>
      <p:sp>
        <p:nvSpPr>
          <p:cNvPr id="3" name="내용 개체 틀 2"/>
          <p:cNvSpPr>
            <a:spLocks noGrp="1"/>
          </p:cNvSpPr>
          <p:nvPr>
            <p:ph idx="1"/>
          </p:nvPr>
        </p:nvSpPr>
        <p:spPr>
          <a:xfrm>
            <a:off x="457200" y="2276872"/>
            <a:ext cx="8186766" cy="3849291"/>
          </a:xfrm>
        </p:spPr>
        <p:txBody>
          <a:bodyPr>
            <a:normAutofit/>
          </a:bodyPr>
          <a:lstStyle/>
          <a:p>
            <a:r>
              <a:rPr lang="ja-JP" altLang="en-US" sz="2800" dirty="0"/>
              <a:t>キーワード：「</a:t>
            </a:r>
            <a:r>
              <a:rPr lang="ja-JP" altLang="en-US" sz="2800" dirty="0">
                <a:solidFill>
                  <a:srgbClr val="FF0000"/>
                </a:solidFill>
              </a:rPr>
              <a:t>成功経験</a:t>
            </a:r>
            <a:r>
              <a:rPr lang="ja-JP" altLang="en-US" sz="2800" dirty="0"/>
              <a:t>」</a:t>
            </a:r>
            <a:endParaRPr lang="en-US" altLang="ja-JP" sz="2800" dirty="0"/>
          </a:p>
          <a:p>
            <a:r>
              <a:rPr lang="ja-JP" altLang="en-US" sz="2800" dirty="0"/>
              <a:t>・フラストレーション</a:t>
            </a:r>
            <a:r>
              <a:rPr lang="en-US" altLang="ja-JP" sz="2800" dirty="0"/>
              <a:t>(</a:t>
            </a:r>
            <a:r>
              <a:rPr lang="ja-JP" altLang="en-US" sz="2800" dirty="0">
                <a:solidFill>
                  <a:srgbClr val="00B0F0"/>
                </a:solidFill>
              </a:rPr>
              <a:t>欲求不満</a:t>
            </a:r>
            <a:r>
              <a:rPr lang="ja-JP" altLang="en-US" sz="2800" dirty="0"/>
              <a:t>）だけが残り、学習への</a:t>
            </a:r>
            <a:r>
              <a:rPr lang="ja-JP" altLang="en-US" sz="2800" dirty="0">
                <a:solidFill>
                  <a:srgbClr val="00B0F0"/>
                </a:solidFill>
              </a:rPr>
              <a:t>意欲や動機を根本から壊し</a:t>
            </a:r>
            <a:r>
              <a:rPr lang="ja-JP" altLang="en-US" sz="2800" dirty="0"/>
              <a:t>てしまうことの方が多い。</a:t>
            </a:r>
            <a:endParaRPr lang="en-US" altLang="ja-JP" sz="2800" dirty="0"/>
          </a:p>
          <a:p>
            <a:endParaRPr lang="en-US" altLang="ja-JP" sz="2800" dirty="0"/>
          </a:p>
          <a:p>
            <a:r>
              <a:rPr lang="ja-JP" altLang="en-US" sz="2800" dirty="0"/>
              <a:t>・</a:t>
            </a:r>
            <a:r>
              <a:rPr lang="ja-JP" altLang="en-US" sz="2800" dirty="0">
                <a:solidFill>
                  <a:srgbClr val="00B0F0"/>
                </a:solidFill>
              </a:rPr>
              <a:t>成功経験</a:t>
            </a:r>
            <a:r>
              <a:rPr lang="ja-JP" altLang="en-US" sz="2800" dirty="0"/>
              <a:t>を与えることを重視するなら、課題を学習者にとって</a:t>
            </a:r>
            <a:r>
              <a:rPr lang="ja-JP" altLang="en-US" sz="2800" dirty="0">
                <a:solidFill>
                  <a:srgbClr val="00B0F0"/>
                </a:solidFill>
              </a:rPr>
              <a:t>易しい</a:t>
            </a:r>
            <a:r>
              <a:rPr lang="ja-JP" altLang="en-US" sz="2800" dirty="0"/>
              <a:t>と思われるものから</a:t>
            </a:r>
            <a:r>
              <a:rPr lang="ja-JP" altLang="en-US" sz="2800" dirty="0">
                <a:solidFill>
                  <a:srgbClr val="00B0F0"/>
                </a:solidFill>
              </a:rPr>
              <a:t>難しい</a:t>
            </a:r>
            <a:r>
              <a:rPr lang="ja-JP" altLang="en-US" sz="2800" dirty="0"/>
              <a:t>と思われるものへと</a:t>
            </a:r>
            <a:r>
              <a:rPr lang="ja-JP" altLang="en-US" sz="2800" dirty="0">
                <a:solidFill>
                  <a:srgbClr val="00B0F0"/>
                </a:solidFill>
              </a:rPr>
              <a:t>順序立てて</a:t>
            </a:r>
            <a:r>
              <a:rPr lang="ja-JP" altLang="en-US" sz="2800" dirty="0"/>
              <a:t>提起していくことが必要</a:t>
            </a:r>
            <a:endParaRPr lang="ko-KR" alt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a:solidFill>
                  <a:srgbClr val="92D050"/>
                </a:solidFill>
              </a:rPr>
              <a:t>考えてみましょう！</a:t>
            </a:r>
            <a:endParaRPr lang="ko-KR" altLang="en-US" dirty="0">
              <a:solidFill>
                <a:srgbClr val="92D050"/>
              </a:solidFill>
            </a:endParaRPr>
          </a:p>
        </p:txBody>
      </p:sp>
      <p:sp>
        <p:nvSpPr>
          <p:cNvPr id="3" name="내용 개체 틀 2"/>
          <p:cNvSpPr>
            <a:spLocks noGrp="1"/>
          </p:cNvSpPr>
          <p:nvPr>
            <p:ph idx="1"/>
          </p:nvPr>
        </p:nvSpPr>
        <p:spPr>
          <a:xfrm>
            <a:off x="457200" y="1916832"/>
            <a:ext cx="8329642" cy="4209331"/>
          </a:xfrm>
        </p:spPr>
        <p:txBody>
          <a:bodyPr/>
          <a:lstStyle/>
          <a:p>
            <a:endParaRPr lang="en-US" altLang="ja-JP" dirty="0"/>
          </a:p>
          <a:p>
            <a:r>
              <a:rPr lang="ja-JP" altLang="en-US" sz="2800" dirty="0"/>
              <a:t>・易しいものから難しいものへと配列する場合の</a:t>
            </a:r>
            <a:r>
              <a:rPr lang="ja-JP" altLang="en-US" sz="2800" dirty="0">
                <a:solidFill>
                  <a:srgbClr val="00B0F0"/>
                </a:solidFill>
              </a:rPr>
              <a:t>基準</a:t>
            </a:r>
            <a:r>
              <a:rPr lang="ja-JP" altLang="en-US" sz="2800" dirty="0"/>
              <a:t>は、どんなところに求めればよいでしょうか。</a:t>
            </a:r>
            <a:endParaRPr lang="en-US" altLang="ja-JP" sz="2800" dirty="0"/>
          </a:p>
          <a:p>
            <a:endParaRPr lang="en-US" altLang="ko-KR" sz="2800" dirty="0"/>
          </a:p>
          <a:p>
            <a:r>
              <a:rPr lang="ja-JP" altLang="en-US" sz="2800" dirty="0"/>
              <a:t>・何が学習者にとって易しいものであろうか。</a:t>
            </a:r>
            <a:endParaRPr lang="ko-KR"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答え</a:t>
            </a:r>
            <a:endParaRPr lang="ko-KR" altLang="en-US" dirty="0">
              <a:solidFill>
                <a:srgbClr val="92D050"/>
              </a:solidFill>
            </a:endParaRPr>
          </a:p>
        </p:txBody>
      </p:sp>
      <p:sp>
        <p:nvSpPr>
          <p:cNvPr id="3" name="내용 개체 틀 2"/>
          <p:cNvSpPr>
            <a:spLocks noGrp="1"/>
          </p:cNvSpPr>
          <p:nvPr>
            <p:ph idx="1"/>
          </p:nvPr>
        </p:nvSpPr>
        <p:spPr>
          <a:xfrm>
            <a:off x="457200" y="2060848"/>
            <a:ext cx="8329642" cy="4065315"/>
          </a:xfrm>
        </p:spPr>
        <p:txBody>
          <a:bodyPr>
            <a:normAutofit/>
          </a:bodyPr>
          <a:lstStyle/>
          <a:p>
            <a:r>
              <a:rPr lang="ja-JP" altLang="en-US" sz="2800" dirty="0"/>
              <a:t>・一般的に文法や語彙を基準として、つまり言語の構造に注目する考え方がある。</a:t>
            </a:r>
            <a:endParaRPr lang="en-US" altLang="ja-JP" sz="2800" dirty="0"/>
          </a:p>
          <a:p>
            <a:endParaRPr lang="en-US" altLang="ko-KR" sz="2800" dirty="0"/>
          </a:p>
          <a:p>
            <a:r>
              <a:rPr lang="ja-JP" altLang="en-US" sz="2800" dirty="0"/>
              <a:t>・ 「</a:t>
            </a:r>
            <a:r>
              <a:rPr lang="ja-JP" altLang="en-US" sz="2800" dirty="0">
                <a:solidFill>
                  <a:srgbClr val="00B0F0"/>
                </a:solidFill>
              </a:rPr>
              <a:t>コミュニカティブ・ストレス</a:t>
            </a:r>
            <a:r>
              <a:rPr lang="ja-JP" altLang="en-US" sz="2800" dirty="0"/>
              <a:t>」という概念を使って学習者から出発する基準の立て方がある。</a:t>
            </a:r>
            <a:endParaRPr lang="en-US" altLang="ja-JP" sz="2800" dirty="0"/>
          </a:p>
          <a:p>
            <a:r>
              <a:rPr lang="en-US" altLang="ja-JP" sz="2800" dirty="0"/>
              <a:t>(Brown &amp; Yule 1983)</a:t>
            </a:r>
            <a:endParaRPr lang="ko-KR"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聴解・会話中心の活動</a:t>
            </a:r>
            <a:endParaRPr lang="ko-KR" altLang="en-US" dirty="0">
              <a:solidFill>
                <a:srgbClr val="92D050"/>
              </a:solidFill>
            </a:endParaRPr>
          </a:p>
        </p:txBody>
      </p:sp>
      <p:sp>
        <p:nvSpPr>
          <p:cNvPr id="3" name="내용 개체 틀 2"/>
          <p:cNvSpPr>
            <a:spLocks noGrp="1"/>
          </p:cNvSpPr>
          <p:nvPr>
            <p:ph idx="1"/>
          </p:nvPr>
        </p:nvSpPr>
        <p:spPr>
          <a:xfrm>
            <a:off x="457200" y="1988840"/>
            <a:ext cx="8291264" cy="4608512"/>
          </a:xfrm>
        </p:spPr>
        <p:txBody>
          <a:bodyPr>
            <a:normAutofit/>
          </a:bodyPr>
          <a:lstStyle/>
          <a:p>
            <a:endParaRPr lang="en-US" altLang="ja-JP" sz="2800" dirty="0"/>
          </a:p>
          <a:p>
            <a:r>
              <a:rPr lang="ja-JP" altLang="en-US" sz="2800" dirty="0"/>
              <a:t>・日本語教育の実習生が行った授業</a:t>
            </a:r>
            <a:endParaRPr lang="en-US" altLang="ja-JP" sz="2800" dirty="0"/>
          </a:p>
          <a:p>
            <a:pPr>
              <a:buNone/>
            </a:pPr>
            <a:r>
              <a:rPr lang="ja-JP" altLang="en-US" sz="2800" dirty="0"/>
              <a:t>　　（日本の</a:t>
            </a:r>
            <a:r>
              <a:rPr lang="en-US" altLang="ja-JP" sz="2800" dirty="0"/>
              <a:t>T</a:t>
            </a:r>
            <a:r>
              <a:rPr lang="ja-JP" altLang="en-US" sz="2800" dirty="0"/>
              <a:t>大学日本語学科）</a:t>
            </a:r>
            <a:endParaRPr lang="en-US" altLang="ja-JP" sz="2800" dirty="0"/>
          </a:p>
          <a:p>
            <a:pPr>
              <a:buNone/>
            </a:pPr>
            <a:endParaRPr lang="en-US" altLang="ja-JP" sz="2800" dirty="0"/>
          </a:p>
          <a:p>
            <a:pPr>
              <a:buNone/>
            </a:pPr>
            <a:r>
              <a:rPr lang="ja-JP" altLang="en-US" sz="2800" dirty="0"/>
              <a:t> ・ －学習者が前回書いた日記を題材とした聴解と会話をつなげたもの。</a:t>
            </a:r>
            <a:endParaRPr lang="en-US" altLang="ja-JP" sz="2800" dirty="0"/>
          </a:p>
          <a:p>
            <a:pPr>
              <a:buNone/>
            </a:pPr>
            <a:r>
              <a:rPr lang="ja-JP" altLang="en-US" sz="2800" dirty="0"/>
              <a:t>　</a:t>
            </a:r>
            <a:endParaRPr lang="ko-KR"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学習者</a:t>
            </a:r>
            <a:r>
              <a:rPr lang="en-US" altLang="ja-JP" dirty="0">
                <a:solidFill>
                  <a:srgbClr val="92D050"/>
                </a:solidFill>
              </a:rPr>
              <a:t>A</a:t>
            </a:r>
            <a:r>
              <a:rPr lang="ja-JP" altLang="en-US" dirty="0">
                <a:solidFill>
                  <a:srgbClr val="92D050"/>
                </a:solidFill>
              </a:rPr>
              <a:t>さんの日記</a:t>
            </a:r>
            <a:endParaRPr lang="ko-KR" altLang="en-US" dirty="0">
              <a:solidFill>
                <a:srgbClr val="92D050"/>
              </a:solidFill>
            </a:endParaRPr>
          </a:p>
        </p:txBody>
      </p:sp>
      <p:sp>
        <p:nvSpPr>
          <p:cNvPr id="3" name="내용 개체 틀 2"/>
          <p:cNvSpPr>
            <a:spLocks noGrp="1"/>
          </p:cNvSpPr>
          <p:nvPr>
            <p:ph idx="1"/>
          </p:nvPr>
        </p:nvSpPr>
        <p:spPr>
          <a:xfrm>
            <a:off x="457200" y="2492896"/>
            <a:ext cx="8507288" cy="4176464"/>
          </a:xfrm>
        </p:spPr>
        <p:txBody>
          <a:bodyPr>
            <a:normAutofit/>
          </a:bodyPr>
          <a:lstStyle/>
          <a:p>
            <a:r>
              <a:rPr lang="ja-JP" altLang="en-US" sz="2800" dirty="0"/>
              <a:t>このあいだ南町の市場に行きました。そこで、にら三わ１００円という札があったので「にら三わ下さい」といって</a:t>
            </a:r>
            <a:r>
              <a:rPr lang="en-US" altLang="ja-JP" sz="2800" dirty="0"/>
              <a:t>100</a:t>
            </a:r>
            <a:r>
              <a:rPr lang="ja-JP" altLang="en-US" sz="2800" dirty="0"/>
              <a:t>円払いました。店の人が袋ににらを入れてくれました。ところが、袋の中には二わしかありません。店の人に一わ足りないことを言いたかったのですが速く日本語を話すことができませんので、自分で一わとって袋に入れました。すると、店の人が「袋の中とおつりを見せてください」と言いました。私がとろぼうをしたと思ったのです。私はとても悲しかったです。</a:t>
            </a:r>
            <a:endParaRPr lang="ko-KR"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授業の流れ</a:t>
            </a:r>
            <a:endParaRPr lang="ko-KR" altLang="en-US" dirty="0">
              <a:solidFill>
                <a:srgbClr val="92D050"/>
              </a:solidFill>
            </a:endParaRPr>
          </a:p>
        </p:txBody>
      </p:sp>
      <p:sp>
        <p:nvSpPr>
          <p:cNvPr id="3" name="내용 개체 틀 2"/>
          <p:cNvSpPr>
            <a:spLocks noGrp="1"/>
          </p:cNvSpPr>
          <p:nvPr>
            <p:ph idx="1"/>
          </p:nvPr>
        </p:nvSpPr>
        <p:spPr>
          <a:xfrm>
            <a:off x="179512" y="2060848"/>
            <a:ext cx="8964488" cy="4680520"/>
          </a:xfrm>
        </p:spPr>
        <p:txBody>
          <a:bodyPr/>
          <a:lstStyle/>
          <a:p>
            <a:pPr>
              <a:buNone/>
            </a:pPr>
            <a:r>
              <a:rPr lang="ja-JP" altLang="en-US" sz="2800" dirty="0"/>
              <a:t>１）日記を先生が二度読み上げる。</a:t>
            </a:r>
          </a:p>
          <a:p>
            <a:pPr>
              <a:buNone/>
            </a:pPr>
            <a:r>
              <a:rPr lang="ja-JP" altLang="en-US" sz="2800" dirty="0"/>
              <a:t>　（二度ゆっくり読めばたいていは分かるだろう）</a:t>
            </a:r>
          </a:p>
          <a:p>
            <a:pPr>
              <a:buNone/>
            </a:pPr>
            <a:r>
              <a:rPr lang="ja-JP" altLang="en-US" sz="2800" dirty="0"/>
              <a:t>２）意味が分かったかどうか全体に問いかける。</a:t>
            </a:r>
            <a:endParaRPr lang="en-US" altLang="ja-JP" sz="2800" dirty="0"/>
          </a:p>
          <a:p>
            <a:pPr>
              <a:buNone/>
            </a:pPr>
            <a:r>
              <a:rPr lang="ja-JP" altLang="en-US" sz="2800" dirty="0"/>
              <a:t>　（分かったかどうか、確認の意味で簡単に問いかけよう。）</a:t>
            </a:r>
            <a:endParaRPr lang="en-US" altLang="ja-JP" sz="2800" dirty="0"/>
          </a:p>
          <a:p>
            <a:pPr>
              <a:buNone/>
            </a:pPr>
            <a:r>
              <a:rPr lang="ja-JP" altLang="en-US" sz="2800" dirty="0"/>
              <a:t>３）すばやく日記の全文を板書する。</a:t>
            </a:r>
            <a:endParaRPr lang="en-US" altLang="ja-JP" sz="2800" dirty="0"/>
          </a:p>
          <a:p>
            <a:pPr>
              <a:buNone/>
            </a:pPr>
            <a:r>
              <a:rPr lang="ja-JP" altLang="en-US" sz="2800" dirty="0"/>
              <a:t>　（聞いた内容が目で確認できるように板書をしよう）</a:t>
            </a:r>
            <a:endParaRPr lang="en-US" altLang="ja-JP" sz="2800" dirty="0"/>
          </a:p>
          <a:p>
            <a:pPr>
              <a:buNone/>
            </a:pPr>
            <a:endParaRPr lang="ja-JP" altLang="en-US" dirty="0"/>
          </a:p>
          <a:p>
            <a:endParaRPr lang="ko-KR"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授業の流れ</a:t>
            </a:r>
            <a:endParaRPr lang="ko-KR" altLang="en-US" dirty="0"/>
          </a:p>
        </p:txBody>
      </p:sp>
      <p:sp>
        <p:nvSpPr>
          <p:cNvPr id="3" name="내용 개체 틀 2"/>
          <p:cNvSpPr>
            <a:spLocks noGrp="1"/>
          </p:cNvSpPr>
          <p:nvPr>
            <p:ph idx="1"/>
          </p:nvPr>
        </p:nvSpPr>
        <p:spPr>
          <a:xfrm>
            <a:off x="457200" y="1988840"/>
            <a:ext cx="8507288" cy="4137323"/>
          </a:xfrm>
        </p:spPr>
        <p:txBody>
          <a:bodyPr>
            <a:normAutofit/>
          </a:bodyPr>
          <a:lstStyle/>
          <a:p>
            <a:pPr>
              <a:buNone/>
            </a:pPr>
            <a:r>
              <a:rPr lang="ja-JP" altLang="en-US" sz="2800" dirty="0"/>
              <a:t>４）全体に対して質問を投げかける。</a:t>
            </a:r>
            <a:endParaRPr lang="en-US" altLang="ja-JP" sz="2800" dirty="0"/>
          </a:p>
          <a:p>
            <a:pPr>
              <a:buNone/>
            </a:pPr>
            <a:r>
              <a:rPr lang="ja-JP" altLang="en-US" sz="2800" dirty="0"/>
              <a:t>  </a:t>
            </a:r>
            <a:r>
              <a:rPr lang="en-US" altLang="ja-JP" sz="2800" dirty="0"/>
              <a:t>a. </a:t>
            </a:r>
            <a:r>
              <a:rPr lang="ja-JP" altLang="en-US" sz="2800" dirty="0"/>
              <a:t>皆さんが</a:t>
            </a:r>
            <a:r>
              <a:rPr lang="en-US" altLang="ja-JP" sz="2800" dirty="0"/>
              <a:t>A</a:t>
            </a:r>
            <a:r>
              <a:rPr lang="ja-JP" altLang="en-US" sz="2800" dirty="0"/>
              <a:t>さんだったらどう感じますか。</a:t>
            </a:r>
            <a:endParaRPr lang="en-US" altLang="ja-JP" sz="2800" dirty="0"/>
          </a:p>
          <a:p>
            <a:pPr>
              <a:buNone/>
            </a:pPr>
            <a:r>
              <a:rPr lang="ja-JP" altLang="en-US" sz="2800" dirty="0"/>
              <a:t>  </a:t>
            </a:r>
            <a:r>
              <a:rPr lang="en-US" altLang="ja-JP" sz="2800" dirty="0"/>
              <a:t>b. </a:t>
            </a:r>
            <a:r>
              <a:rPr lang="ja-JP" altLang="en-US" sz="2800" dirty="0"/>
              <a:t>皆さんが</a:t>
            </a:r>
            <a:r>
              <a:rPr lang="en-US" altLang="ja-JP" sz="2800" dirty="0"/>
              <a:t>A</a:t>
            </a:r>
            <a:r>
              <a:rPr lang="ja-JP" altLang="en-US" sz="2800" dirty="0"/>
              <a:t>さんだったらどうしますか。</a:t>
            </a:r>
            <a:endParaRPr lang="en-US" altLang="ja-JP" sz="2800" dirty="0"/>
          </a:p>
          <a:p>
            <a:pPr>
              <a:buNone/>
            </a:pPr>
            <a:r>
              <a:rPr lang="ja-JP" altLang="en-US" sz="2800" dirty="0"/>
              <a:t>  </a:t>
            </a:r>
            <a:r>
              <a:rPr lang="en-US" altLang="ja-JP" sz="2800" dirty="0"/>
              <a:t>c. </a:t>
            </a:r>
            <a:r>
              <a:rPr lang="ja-JP" altLang="en-US" sz="2800" dirty="0"/>
              <a:t>皆さんも</a:t>
            </a:r>
            <a:r>
              <a:rPr lang="en-US" altLang="ja-JP" sz="2800" dirty="0"/>
              <a:t>A</a:t>
            </a:r>
            <a:r>
              <a:rPr lang="ja-JP" altLang="en-US" sz="2800" dirty="0"/>
              <a:t>さんと同じような経験をしたことがありますか。</a:t>
            </a:r>
            <a:endParaRPr lang="en-US" altLang="ja-JP" sz="2800" dirty="0"/>
          </a:p>
          <a:p>
            <a:pPr>
              <a:buNone/>
            </a:pPr>
            <a:r>
              <a:rPr lang="ja-JP" altLang="en-US" sz="2800" dirty="0"/>
              <a:t>  （この話し合いがこの活動の焦点なので、</a:t>
            </a:r>
            <a:r>
              <a:rPr lang="en-US" altLang="ja-JP" sz="2800" dirty="0"/>
              <a:t>a, b, c </a:t>
            </a:r>
            <a:r>
              <a:rPr lang="ja-JP" altLang="en-US" sz="2800" dirty="0"/>
              <a:t>ともに一つひとつ丁寧に扱おう。学習者から発言をたくさん引き出そう。）</a:t>
            </a:r>
            <a:endParaRPr lang="ko-KR"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考えてみましょう！</a:t>
            </a:r>
            <a:endParaRPr lang="ko-KR" altLang="en-US" dirty="0">
              <a:solidFill>
                <a:srgbClr val="92D050"/>
              </a:solidFill>
            </a:endParaRPr>
          </a:p>
        </p:txBody>
      </p:sp>
      <p:sp>
        <p:nvSpPr>
          <p:cNvPr id="3" name="내용 개체 틀 2"/>
          <p:cNvSpPr>
            <a:spLocks noGrp="1"/>
          </p:cNvSpPr>
          <p:nvPr>
            <p:ph idx="1"/>
          </p:nvPr>
        </p:nvSpPr>
        <p:spPr>
          <a:xfrm>
            <a:off x="457200" y="1988840"/>
            <a:ext cx="8363272" cy="4248472"/>
          </a:xfrm>
        </p:spPr>
        <p:txBody>
          <a:bodyPr/>
          <a:lstStyle/>
          <a:p>
            <a:endParaRPr lang="en-US" altLang="ja-JP" dirty="0"/>
          </a:p>
          <a:p>
            <a:endParaRPr lang="en-US" altLang="ja-JP" dirty="0"/>
          </a:p>
          <a:p>
            <a:r>
              <a:rPr lang="ja-JP" altLang="en-US" sz="2800" dirty="0"/>
              <a:t>この活動は先生の考えたとおりに実現できたと思いますか。それとも期待通りにはいかなかったと思いますか。またそう判断した根拠はどんなことでしょうか。</a:t>
            </a:r>
            <a:endParaRPr lang="en-US" altLang="ja-JP" sz="2800" dirty="0"/>
          </a:p>
          <a:p>
            <a:pPr>
              <a:buNone/>
            </a:pPr>
            <a:endParaRPr lang="en-US" altLang="ko-KR"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答え</a:t>
            </a:r>
            <a:endParaRPr lang="ko-KR" altLang="en-US" dirty="0">
              <a:solidFill>
                <a:srgbClr val="92D050"/>
              </a:solidFill>
            </a:endParaRPr>
          </a:p>
        </p:txBody>
      </p:sp>
      <p:sp>
        <p:nvSpPr>
          <p:cNvPr id="3" name="내용 개체 틀 2"/>
          <p:cNvSpPr>
            <a:spLocks noGrp="1"/>
          </p:cNvSpPr>
          <p:nvPr>
            <p:ph idx="1"/>
          </p:nvPr>
        </p:nvSpPr>
        <p:spPr>
          <a:xfrm>
            <a:off x="179512" y="1988840"/>
            <a:ext cx="8712968" cy="4680520"/>
          </a:xfrm>
        </p:spPr>
        <p:txBody>
          <a:bodyPr>
            <a:normAutofit/>
          </a:bodyPr>
          <a:lstStyle/>
          <a:p>
            <a:r>
              <a:rPr lang="ja-JP" altLang="en-US" sz="2800" dirty="0"/>
              <a:t>・ 「いいえ、あまり」：日記の理解で躓き、それがずっと尾を引いてしまい、教師側で想定したようには話し合いに学習者を引き込むことができなかった。</a:t>
            </a:r>
            <a:endParaRPr lang="en-US" altLang="ja-JP" sz="2800" dirty="0"/>
          </a:p>
          <a:p>
            <a:pPr>
              <a:buNone/>
            </a:pPr>
            <a:endParaRPr lang="en-US" altLang="ja-JP" sz="2800" dirty="0"/>
          </a:p>
          <a:p>
            <a:r>
              <a:rPr lang="ja-JP" altLang="en-US" sz="2800" dirty="0"/>
              <a:t>・ここでの学習は考えたり、思い出したり、想像したりしたことをクラス全体に向けて表現するという、心理的にかなりリラックスしオープンでないとできない類のもの。</a:t>
            </a:r>
            <a:endParaRPr lang="en-US" altLang="ja-JP" sz="2800" dirty="0"/>
          </a:p>
          <a:p>
            <a:endParaRPr lang="en-US" altLang="ja-JP" sz="2800" dirty="0"/>
          </a:p>
          <a:p>
            <a:r>
              <a:rPr lang="ja-JP" altLang="en-US" sz="2800" dirty="0"/>
              <a:t>⇔ストレスの強い活動</a:t>
            </a:r>
            <a:endParaRPr lang="en-US" altLang="ja-JP" sz="2800" dirty="0"/>
          </a:p>
          <a:p>
            <a:endParaRPr lang="ko-KR"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学習者の思い</a:t>
            </a:r>
            <a:endParaRPr lang="ko-KR" altLang="en-US" dirty="0">
              <a:solidFill>
                <a:srgbClr val="92D050"/>
              </a:solidFill>
            </a:endParaRPr>
          </a:p>
        </p:txBody>
      </p:sp>
      <p:sp>
        <p:nvSpPr>
          <p:cNvPr id="3" name="내용 개체 틀 2"/>
          <p:cNvSpPr>
            <a:spLocks noGrp="1"/>
          </p:cNvSpPr>
          <p:nvPr>
            <p:ph idx="1"/>
          </p:nvPr>
        </p:nvSpPr>
        <p:spPr>
          <a:xfrm>
            <a:off x="0" y="1412776"/>
            <a:ext cx="9144000" cy="5445224"/>
          </a:xfrm>
        </p:spPr>
        <p:txBody>
          <a:bodyPr>
            <a:normAutofit/>
          </a:bodyPr>
          <a:lstStyle/>
          <a:p>
            <a:pPr>
              <a:buNone/>
            </a:pPr>
            <a:endParaRPr lang="en-US" altLang="ko-KR" dirty="0"/>
          </a:p>
          <a:p>
            <a:r>
              <a:rPr lang="ja-JP" altLang="en-US" sz="2800" dirty="0"/>
              <a:t>先生が何か読み上げてくれているのだけれど、どんな話なのかよく分からないな、困ったなと思っていると、先生から「分かりましたか」と尋ねられた。</a:t>
            </a:r>
            <a:endParaRPr lang="en-US" altLang="ja-JP" sz="2800" dirty="0"/>
          </a:p>
          <a:p>
            <a:r>
              <a:rPr lang="ja-JP" altLang="en-US" sz="2800" dirty="0"/>
              <a:t>曖昧な顔をしていると、先生はさっと何か板書を始めた。ノートにコピーしようか？どうしようかなと迷いながら黒板を見ていると先生はすぐに板書を終え、突然こんな質問をして来た。</a:t>
            </a:r>
            <a:endParaRPr lang="en-US" altLang="ja-JP" sz="2800" dirty="0"/>
          </a:p>
          <a:p>
            <a:r>
              <a:rPr lang="ja-JP" altLang="en-US" sz="2800" dirty="0"/>
              <a:t>「もし、あなたが</a:t>
            </a:r>
            <a:r>
              <a:rPr lang="en-US" altLang="ja-JP" sz="2800" dirty="0"/>
              <a:t>A</a:t>
            </a:r>
            <a:r>
              <a:rPr lang="ja-JP" altLang="en-US" sz="2800" dirty="0"/>
              <a:t>さんだったら、こんなとき、どんな気持ちがするでしょう？」。誰かが「怒ります」と言った。</a:t>
            </a:r>
            <a:endParaRPr lang="ko-KR"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学習者の思い</a:t>
            </a:r>
            <a:endParaRPr lang="ko-KR" altLang="en-US" dirty="0"/>
          </a:p>
        </p:txBody>
      </p:sp>
      <p:sp>
        <p:nvSpPr>
          <p:cNvPr id="3" name="내용 개체 틀 2"/>
          <p:cNvSpPr>
            <a:spLocks noGrp="1"/>
          </p:cNvSpPr>
          <p:nvPr>
            <p:ph idx="1"/>
          </p:nvPr>
        </p:nvSpPr>
        <p:spPr>
          <a:xfrm>
            <a:off x="179512" y="1737360"/>
            <a:ext cx="8784976" cy="4859991"/>
          </a:xfrm>
        </p:spPr>
        <p:txBody>
          <a:bodyPr>
            <a:normAutofit/>
          </a:bodyPr>
          <a:lstStyle/>
          <a:p>
            <a:endParaRPr lang="en-US" altLang="ja-JP" sz="2800" dirty="0"/>
          </a:p>
          <a:p>
            <a:r>
              <a:rPr lang="ja-JP" altLang="en-US" sz="2800" dirty="0"/>
              <a:t>「悪い気持ちがします」という声も聞こえて来た。すると、先生が何かはっきりと分からないこと（「そうですよね、三わのはずなのに二わしかないなんて、ひどいですよね。いやな気持ちがしますよね、腹が立ちますよね、頭にきますよね、それから、悲しくなりますよね。」）を言いながら（これらの</a:t>
            </a:r>
            <a:r>
              <a:rPr lang="en-US" altLang="ja-JP" sz="2800" dirty="0"/>
              <a:t>)</a:t>
            </a:r>
            <a:r>
              <a:rPr lang="ja-JP" altLang="en-US" sz="2800" dirty="0"/>
              <a:t>言葉を一つひとつ板書していった。</a:t>
            </a:r>
            <a:endParaRPr lang="ko-KR"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まとめ</a:t>
            </a:r>
            <a:endParaRPr lang="ko-KR" altLang="en-US" dirty="0">
              <a:solidFill>
                <a:srgbClr val="92D050"/>
              </a:solidFill>
            </a:endParaRPr>
          </a:p>
        </p:txBody>
      </p:sp>
      <p:sp>
        <p:nvSpPr>
          <p:cNvPr id="3" name="내용 개체 틀 2"/>
          <p:cNvSpPr>
            <a:spLocks noGrp="1"/>
          </p:cNvSpPr>
          <p:nvPr>
            <p:ph idx="1"/>
          </p:nvPr>
        </p:nvSpPr>
        <p:spPr>
          <a:xfrm>
            <a:off x="457200" y="1988840"/>
            <a:ext cx="8363272" cy="4680520"/>
          </a:xfrm>
        </p:spPr>
        <p:txBody>
          <a:bodyPr>
            <a:normAutofit/>
          </a:bodyPr>
          <a:lstStyle/>
          <a:p>
            <a:r>
              <a:rPr lang="ja-JP" altLang="en-US" sz="2800" dirty="0"/>
              <a:t>・日記を読んで聞かせる活動は教師側の位置づけからすれば、単なる導入</a:t>
            </a:r>
            <a:endParaRPr lang="en-US" altLang="ja-JP" sz="2800" dirty="0"/>
          </a:p>
          <a:p>
            <a:pPr>
              <a:buNone/>
            </a:pPr>
            <a:endParaRPr lang="en-US" altLang="ja-JP" sz="2800" dirty="0"/>
          </a:p>
          <a:p>
            <a:r>
              <a:rPr lang="ja-JP" altLang="en-US" sz="2800" dirty="0"/>
              <a:t>・そのため、時間をかけられないという制約</a:t>
            </a:r>
            <a:endParaRPr lang="en-US" altLang="ja-JP" sz="2800" dirty="0"/>
          </a:p>
          <a:p>
            <a:pPr>
              <a:buNone/>
            </a:pPr>
            <a:endParaRPr lang="en-US" altLang="ja-JP" sz="2800" dirty="0"/>
          </a:p>
          <a:p>
            <a:r>
              <a:rPr lang="ja-JP" altLang="en-US" sz="2800" dirty="0"/>
              <a:t>・現実の授業展開：前段での躓きは、本命の活動の足を引っ張ってしまう。</a:t>
            </a:r>
            <a:endParaRPr lang="ko-KR" alt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92D050"/>
                </a:solidFill>
              </a:rPr>
              <a:t>学習のデザイン　　　　　　　　　　　　　　</a:t>
            </a:r>
            <a:r>
              <a:rPr lang="en-US" altLang="ja-JP" sz="3600" dirty="0">
                <a:solidFill>
                  <a:srgbClr val="92D050"/>
                </a:solidFill>
              </a:rPr>
              <a:t>-</a:t>
            </a:r>
            <a:r>
              <a:rPr lang="ja-JP" altLang="en-US" sz="3600" dirty="0">
                <a:solidFill>
                  <a:srgbClr val="92D050"/>
                </a:solidFill>
              </a:rPr>
              <a:t>どのような新たな学習が実現できるか</a:t>
            </a:r>
            <a:r>
              <a:rPr lang="en-US" altLang="ja-JP" sz="3600" dirty="0">
                <a:solidFill>
                  <a:srgbClr val="92D050"/>
                </a:solidFill>
              </a:rPr>
              <a:t>-</a:t>
            </a:r>
            <a:endParaRPr lang="ko-KR" altLang="en-US" sz="3600" dirty="0">
              <a:solidFill>
                <a:srgbClr val="92D050"/>
              </a:solidFill>
            </a:endParaRPr>
          </a:p>
        </p:txBody>
      </p:sp>
      <p:sp>
        <p:nvSpPr>
          <p:cNvPr id="3" name="내용 개체 틀 2"/>
          <p:cNvSpPr>
            <a:spLocks noGrp="1"/>
          </p:cNvSpPr>
          <p:nvPr>
            <p:ph idx="1"/>
          </p:nvPr>
        </p:nvSpPr>
        <p:spPr>
          <a:xfrm>
            <a:off x="214282" y="2060848"/>
            <a:ext cx="8715436" cy="4297110"/>
          </a:xfrm>
        </p:spPr>
        <p:txBody>
          <a:bodyPr>
            <a:normAutofit/>
          </a:bodyPr>
          <a:lstStyle/>
          <a:p>
            <a:r>
              <a:rPr lang="ja-JP" altLang="en-US" sz="2800" dirty="0">
                <a:solidFill>
                  <a:srgbClr val="92D050"/>
                </a:solidFill>
              </a:rPr>
              <a:t>学習者はどうして先生の読み上げた日記文を聴き取ることができなかったのであろうか</a:t>
            </a:r>
            <a:r>
              <a:rPr lang="ja-JP" altLang="en-US" sz="2800" dirty="0"/>
              <a:t>。</a:t>
            </a:r>
            <a:endParaRPr lang="en-US" altLang="ja-JP" sz="2800" dirty="0"/>
          </a:p>
          <a:p>
            <a:endParaRPr lang="en-US" altLang="ko-KR" sz="2800" dirty="0"/>
          </a:p>
          <a:p>
            <a:r>
              <a:rPr lang="en-US" altLang="ja-JP" sz="2800" dirty="0"/>
              <a:t>(1)</a:t>
            </a:r>
            <a:r>
              <a:rPr lang="ja-JP" altLang="en-US" sz="2800" dirty="0"/>
              <a:t>教師が</a:t>
            </a:r>
            <a:r>
              <a:rPr lang="ja-JP" altLang="en-US" sz="2800" dirty="0">
                <a:solidFill>
                  <a:srgbClr val="00B0F0"/>
                </a:solidFill>
              </a:rPr>
              <a:t>読み上げたことそのもの</a:t>
            </a:r>
            <a:r>
              <a:rPr lang="ja-JP" altLang="en-US" sz="2800" dirty="0"/>
              <a:t>に</a:t>
            </a:r>
            <a:r>
              <a:rPr lang="ja-JP" altLang="en-US" sz="2800" dirty="0">
                <a:solidFill>
                  <a:srgbClr val="00B0F0"/>
                </a:solidFill>
              </a:rPr>
              <a:t>問題</a:t>
            </a:r>
            <a:r>
              <a:rPr lang="ja-JP" altLang="en-US" sz="2800" dirty="0"/>
              <a:t>がある。</a:t>
            </a:r>
            <a:endParaRPr lang="en-US" altLang="ja-JP" sz="2800" dirty="0"/>
          </a:p>
          <a:p>
            <a:pPr>
              <a:buNone/>
            </a:pPr>
            <a:r>
              <a:rPr lang="ja-JP" altLang="en-US" sz="2800" dirty="0"/>
              <a:t>　ー書かれたものを理解するのには自分で黙って読</a:t>
            </a:r>
            <a:endParaRPr lang="en-US" altLang="ja-JP" sz="2800" dirty="0"/>
          </a:p>
          <a:p>
            <a:pPr>
              <a:buNone/>
            </a:pPr>
            <a:r>
              <a:rPr lang="ja-JP" altLang="en-US" sz="2800" dirty="0"/>
              <a:t>　　むことが最も適している。</a:t>
            </a:r>
            <a:endParaRPr lang="en-US" altLang="ja-JP" sz="2800" dirty="0"/>
          </a:p>
          <a:p>
            <a:pPr>
              <a:buNone/>
            </a:pPr>
            <a:r>
              <a:rPr lang="ja-JP" altLang="en-US" sz="2800" dirty="0"/>
              <a:t>　ー他の人に読んでもらうのでは意味が分かりにくい。（言語能力が低い場合はことさらそうだ）</a:t>
            </a:r>
            <a:endParaRPr lang="ko-KR" alt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251520" y="2060848"/>
            <a:ext cx="8568952" cy="4608512"/>
          </a:xfrm>
        </p:spPr>
        <p:txBody>
          <a:bodyPr>
            <a:normAutofit/>
          </a:bodyPr>
          <a:lstStyle/>
          <a:p>
            <a:r>
              <a:rPr lang="en-US" altLang="ja-JP" sz="2800" dirty="0"/>
              <a:t>(2)</a:t>
            </a:r>
            <a:r>
              <a:rPr lang="ja-JP" altLang="en-US" sz="2800" dirty="0"/>
              <a:t>教師が</a:t>
            </a:r>
            <a:r>
              <a:rPr lang="ja-JP" altLang="en-US" sz="2800" dirty="0">
                <a:solidFill>
                  <a:srgbClr val="00B0F0"/>
                </a:solidFill>
              </a:rPr>
              <a:t>何の説明も動機付けもなく</a:t>
            </a:r>
            <a:r>
              <a:rPr lang="ja-JP" altLang="en-US" sz="2800" dirty="0"/>
              <a:t>、いきなり読み上げたことが問題</a:t>
            </a:r>
            <a:endParaRPr lang="en-US" altLang="ja-JP" sz="2800" dirty="0"/>
          </a:p>
          <a:p>
            <a:pPr>
              <a:buNone/>
            </a:pPr>
            <a:r>
              <a:rPr lang="ja-JP" altLang="en-US" sz="2800" dirty="0"/>
              <a:t>　ー内容の手がかりになるような情報は全然与えられていない。</a:t>
            </a:r>
            <a:endParaRPr lang="en-US" altLang="ja-JP" sz="2800" dirty="0"/>
          </a:p>
          <a:p>
            <a:pPr>
              <a:buNone/>
            </a:pPr>
            <a:r>
              <a:rPr lang="ja-JP" altLang="en-US" sz="2800" dirty="0"/>
              <a:t>　ー予測を立てようにも立てるすべがなく、何の準備もないまま、ただ聴くことしかできない。</a:t>
            </a:r>
            <a:endParaRPr lang="en-US" altLang="ko-KR"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新たな指導方法</a:t>
            </a:r>
            <a:endParaRPr lang="ko-KR" altLang="en-US" dirty="0">
              <a:solidFill>
                <a:srgbClr val="92D050"/>
              </a:solidFill>
            </a:endParaRPr>
          </a:p>
        </p:txBody>
      </p:sp>
      <p:sp>
        <p:nvSpPr>
          <p:cNvPr id="3" name="내용 개체 틀 2"/>
          <p:cNvSpPr>
            <a:spLocks noGrp="1"/>
          </p:cNvSpPr>
          <p:nvPr>
            <p:ph idx="1"/>
          </p:nvPr>
        </p:nvSpPr>
        <p:spPr/>
        <p:txBody>
          <a:bodyPr/>
          <a:lstStyle/>
          <a:p>
            <a:r>
              <a:rPr lang="ja-JP" altLang="en-US" sz="2800" dirty="0"/>
              <a:t>ただ読み上げる。</a:t>
            </a:r>
            <a:endParaRPr lang="en-US" altLang="ja-JP" sz="2800" dirty="0"/>
          </a:p>
          <a:p>
            <a:pPr>
              <a:buNone/>
            </a:pPr>
            <a:r>
              <a:rPr lang="ja-JP" altLang="en-US" sz="2800" dirty="0"/>
              <a:t>ー言語能力に大きく依存するので、困難が伴う。次のような一定の方向に聴き取りを誘導することを目的としたタスクシートを用意する。</a:t>
            </a:r>
            <a:endParaRPr lang="en-US" altLang="ja-JP" sz="2800" dirty="0"/>
          </a:p>
          <a:p>
            <a:pPr>
              <a:buNone/>
            </a:pPr>
            <a:r>
              <a:rPr lang="ja-JP" altLang="en-US" sz="2800" dirty="0"/>
              <a:t>　　</a:t>
            </a:r>
            <a:endParaRPr lang="en-US" altLang="ja-JP" sz="2800" dirty="0"/>
          </a:p>
          <a:p>
            <a:pPr>
              <a:buNone/>
            </a:pPr>
            <a:r>
              <a:rPr lang="ja-JP" altLang="en-US" dirty="0"/>
              <a:t>　　</a:t>
            </a:r>
            <a:endParaRPr lang="en-US" altLang="ja-JP" dirty="0"/>
          </a:p>
          <a:p>
            <a:endParaRPr lang="en-US" altLang="ja-JP" dirty="0"/>
          </a:p>
          <a:p>
            <a:endParaRPr lang="ko-KR"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タスクシート</a:t>
            </a:r>
            <a:endParaRPr lang="ko-KR" altLang="en-US" dirty="0">
              <a:solidFill>
                <a:srgbClr val="92D050"/>
              </a:solidFill>
            </a:endParaRPr>
          </a:p>
        </p:txBody>
      </p:sp>
      <p:sp>
        <p:nvSpPr>
          <p:cNvPr id="3" name="내용 개체 틀 2"/>
          <p:cNvSpPr>
            <a:spLocks noGrp="1"/>
          </p:cNvSpPr>
          <p:nvPr>
            <p:ph idx="1"/>
          </p:nvPr>
        </p:nvSpPr>
        <p:spPr>
          <a:xfrm>
            <a:off x="822959" y="2132856"/>
            <a:ext cx="7543801" cy="3736238"/>
          </a:xfrm>
        </p:spPr>
        <p:txBody>
          <a:bodyPr>
            <a:normAutofit/>
          </a:bodyPr>
          <a:lstStyle/>
          <a:p>
            <a:pPr>
              <a:buNone/>
            </a:pPr>
            <a:r>
              <a:rPr lang="en-US" altLang="ko-KR" sz="2800" dirty="0">
                <a:solidFill>
                  <a:srgbClr val="00B0F0"/>
                </a:solidFill>
              </a:rPr>
              <a:t>1.</a:t>
            </a:r>
            <a:r>
              <a:rPr lang="ja-JP" altLang="en-US" sz="2800" dirty="0">
                <a:solidFill>
                  <a:srgbClr val="00B0F0"/>
                </a:solidFill>
              </a:rPr>
              <a:t>　どこで？</a:t>
            </a:r>
            <a:endParaRPr lang="en-US" altLang="ja-JP" sz="2800" dirty="0">
              <a:solidFill>
                <a:srgbClr val="00B0F0"/>
              </a:solidFill>
            </a:endParaRPr>
          </a:p>
          <a:p>
            <a:pPr>
              <a:buNone/>
            </a:pPr>
            <a:r>
              <a:rPr lang="ja-JP" altLang="en-US" sz="2800" dirty="0"/>
              <a:t>　　　－家、学校、職場、市場</a:t>
            </a:r>
            <a:endParaRPr lang="en-US" altLang="ja-JP" sz="2800" dirty="0"/>
          </a:p>
          <a:p>
            <a:pPr>
              <a:buNone/>
            </a:pPr>
            <a:r>
              <a:rPr lang="ja-JP" altLang="en-US" sz="2800" dirty="0">
                <a:solidFill>
                  <a:srgbClr val="00B0F0"/>
                </a:solidFill>
              </a:rPr>
              <a:t>２．にらは三わでいくら？</a:t>
            </a:r>
            <a:endParaRPr lang="en-US" altLang="ja-JP" sz="2800" dirty="0">
              <a:solidFill>
                <a:srgbClr val="00B0F0"/>
              </a:solidFill>
            </a:endParaRPr>
          </a:p>
          <a:p>
            <a:pPr>
              <a:buNone/>
            </a:pPr>
            <a:r>
              <a:rPr lang="ja-JP" altLang="en-US" sz="2800" dirty="0"/>
              <a:t>　　　－７５円、</a:t>
            </a:r>
            <a:r>
              <a:rPr lang="en-US" altLang="ja-JP" sz="2800" dirty="0"/>
              <a:t>100</a:t>
            </a:r>
            <a:r>
              <a:rPr lang="ja-JP" altLang="en-US" sz="2800" dirty="0"/>
              <a:t>円、１５０円、２００円</a:t>
            </a:r>
            <a:endParaRPr lang="en-US" altLang="ja-JP" sz="2800" dirty="0"/>
          </a:p>
          <a:p>
            <a:pPr>
              <a:buNone/>
            </a:pPr>
            <a:r>
              <a:rPr lang="ja-JP" altLang="en-US" sz="2800" dirty="0">
                <a:solidFill>
                  <a:srgbClr val="00B0F0"/>
                </a:solidFill>
              </a:rPr>
              <a:t>３．ふくろの中にはにらが何わ？</a:t>
            </a:r>
            <a:endParaRPr lang="en-US" altLang="ja-JP" sz="2800" dirty="0">
              <a:solidFill>
                <a:srgbClr val="00B0F0"/>
              </a:solidFill>
            </a:endParaRPr>
          </a:p>
          <a:p>
            <a:pPr>
              <a:buNone/>
            </a:pPr>
            <a:r>
              <a:rPr lang="ja-JP" altLang="en-US" sz="2800" dirty="0"/>
              <a:t>　　　－２わ、３わ、４わ、５わ</a:t>
            </a:r>
            <a:endParaRPr lang="en-US" altLang="ja-JP"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タスクシート</a:t>
            </a:r>
            <a:endParaRPr lang="ko-KR" altLang="en-US" dirty="0"/>
          </a:p>
        </p:txBody>
      </p:sp>
      <p:sp>
        <p:nvSpPr>
          <p:cNvPr id="3" name="내용 개체 틀 2"/>
          <p:cNvSpPr>
            <a:spLocks noGrp="1"/>
          </p:cNvSpPr>
          <p:nvPr>
            <p:ph idx="1"/>
          </p:nvPr>
        </p:nvSpPr>
        <p:spPr/>
        <p:txBody>
          <a:bodyPr>
            <a:normAutofit/>
          </a:bodyPr>
          <a:lstStyle/>
          <a:p>
            <a:pPr>
              <a:buNone/>
            </a:pPr>
            <a:r>
              <a:rPr lang="ja-JP" altLang="en-US" sz="2800" dirty="0">
                <a:solidFill>
                  <a:srgbClr val="00B0F0"/>
                </a:solidFill>
              </a:rPr>
              <a:t>４．</a:t>
            </a:r>
            <a:r>
              <a:rPr lang="en-US" altLang="ja-JP" sz="2800" dirty="0">
                <a:solidFill>
                  <a:srgbClr val="00B0F0"/>
                </a:solidFill>
              </a:rPr>
              <a:t>A</a:t>
            </a:r>
            <a:r>
              <a:rPr lang="ja-JP" altLang="en-US" sz="2800" dirty="0">
                <a:solidFill>
                  <a:srgbClr val="00B0F0"/>
                </a:solidFill>
              </a:rPr>
              <a:t>さんはどうした？</a:t>
            </a:r>
            <a:endParaRPr lang="en-US" altLang="ja-JP" sz="2800" dirty="0">
              <a:solidFill>
                <a:srgbClr val="00B0F0"/>
              </a:solidFill>
            </a:endParaRPr>
          </a:p>
          <a:p>
            <a:pPr>
              <a:buNone/>
            </a:pPr>
            <a:r>
              <a:rPr lang="ja-JP" altLang="en-US" sz="2800" dirty="0"/>
              <a:t>　　－ふくろの中ににら１わを自分で入れた。</a:t>
            </a:r>
            <a:endParaRPr lang="en-US" altLang="ja-JP" sz="2800" dirty="0"/>
          </a:p>
          <a:p>
            <a:pPr>
              <a:buNone/>
            </a:pPr>
            <a:r>
              <a:rPr lang="ja-JP" altLang="en-US" sz="2800" dirty="0"/>
              <a:t>　　－「一わ足りません」と言った。</a:t>
            </a:r>
            <a:endParaRPr lang="en-US" altLang="ja-JP" sz="2800" dirty="0"/>
          </a:p>
          <a:p>
            <a:pPr>
              <a:buNone/>
            </a:pPr>
            <a:r>
              <a:rPr lang="ja-JP" altLang="en-US" sz="2800" dirty="0"/>
              <a:t>　　－何もしなかった。</a:t>
            </a:r>
            <a:endParaRPr lang="en-US" altLang="ja-JP" sz="2800" dirty="0"/>
          </a:p>
          <a:p>
            <a:pPr>
              <a:buNone/>
            </a:pPr>
            <a:r>
              <a:rPr lang="ja-JP" altLang="en-US" sz="2800" dirty="0"/>
              <a:t>　　－すみませんと言いながらふくろの中を見</a:t>
            </a:r>
            <a:endParaRPr lang="en-US" altLang="ja-JP" sz="2800" dirty="0"/>
          </a:p>
          <a:p>
            <a:pPr>
              <a:buNone/>
            </a:pPr>
            <a:r>
              <a:rPr lang="ja-JP" altLang="en-US" sz="2800" dirty="0"/>
              <a:t>　　　せた。</a:t>
            </a:r>
            <a:endParaRPr lang="en-US" altLang="ja-JP" sz="2800" dirty="0"/>
          </a:p>
          <a:p>
            <a:pPr>
              <a:buNone/>
            </a:pPr>
            <a:r>
              <a:rPr lang="ja-JP" altLang="en-US" sz="2800" dirty="0">
                <a:solidFill>
                  <a:srgbClr val="00B0F0"/>
                </a:solidFill>
              </a:rPr>
              <a:t>５．</a:t>
            </a:r>
            <a:r>
              <a:rPr lang="en-US" altLang="ja-JP" sz="2800" dirty="0">
                <a:solidFill>
                  <a:srgbClr val="00B0F0"/>
                </a:solidFill>
              </a:rPr>
              <a:t>A</a:t>
            </a:r>
            <a:r>
              <a:rPr lang="ja-JP" altLang="en-US" sz="2800" dirty="0">
                <a:solidFill>
                  <a:srgbClr val="00B0F0"/>
                </a:solidFill>
              </a:rPr>
              <a:t>さんはどろぼう？</a:t>
            </a:r>
            <a:endParaRPr lang="en-US" altLang="ja-JP" sz="2800" dirty="0">
              <a:solidFill>
                <a:srgbClr val="00B0F0"/>
              </a:solidFill>
            </a:endParaRPr>
          </a:p>
          <a:p>
            <a:endParaRPr lang="ko-KR"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2060848"/>
            <a:ext cx="7931224" cy="4065315"/>
          </a:xfrm>
        </p:spPr>
        <p:txBody>
          <a:bodyPr>
            <a:normAutofit/>
          </a:bodyPr>
          <a:lstStyle/>
          <a:p>
            <a:r>
              <a:rPr lang="ja-JP" altLang="en-US" sz="2800" dirty="0"/>
              <a:t>先行タスク＋読み上げ</a:t>
            </a:r>
            <a:endParaRPr lang="en-US" altLang="ja-JP" sz="2800" dirty="0"/>
          </a:p>
          <a:p>
            <a:r>
              <a:rPr lang="ja-JP" altLang="en-US" sz="2800" dirty="0"/>
              <a:t>以下のようなタスクシートをもとに、ペアでお互いにインタビューし合う活動を行う。</a:t>
            </a:r>
            <a:endParaRPr lang="en-US" altLang="ja-JP" sz="2800" dirty="0"/>
          </a:p>
          <a:p>
            <a:endParaRPr lang="en-US" altLang="ko-KR" sz="2800" dirty="0"/>
          </a:p>
          <a:p>
            <a:pPr>
              <a:buNone/>
            </a:pPr>
            <a:r>
              <a:rPr lang="ja-JP" altLang="en-US" sz="2800" dirty="0"/>
              <a:t>　</a:t>
            </a:r>
            <a:r>
              <a:rPr lang="en-US" altLang="ja-JP" sz="2800" dirty="0">
                <a:solidFill>
                  <a:srgbClr val="00B0F0"/>
                </a:solidFill>
              </a:rPr>
              <a:t>(1)</a:t>
            </a:r>
            <a:r>
              <a:rPr lang="ja-JP" altLang="en-US" sz="2800" dirty="0">
                <a:solidFill>
                  <a:srgbClr val="00B0F0"/>
                </a:solidFill>
              </a:rPr>
              <a:t>南町市場を知っていますか。</a:t>
            </a:r>
            <a:r>
              <a:rPr lang="ja-JP" altLang="en-US" sz="2800" dirty="0"/>
              <a:t>はい　いいえ</a:t>
            </a:r>
            <a:endParaRPr lang="en-US" altLang="ja-JP" sz="2800" dirty="0"/>
          </a:p>
          <a:p>
            <a:pPr>
              <a:buNone/>
            </a:pPr>
            <a:r>
              <a:rPr lang="ja-JP" altLang="en-US" sz="2800" dirty="0"/>
              <a:t>　</a:t>
            </a:r>
            <a:r>
              <a:rPr lang="en-US" altLang="ja-JP" sz="2800" dirty="0">
                <a:solidFill>
                  <a:srgbClr val="00B0F0"/>
                </a:solidFill>
              </a:rPr>
              <a:t>(2)</a:t>
            </a:r>
            <a:r>
              <a:rPr lang="ja-JP" altLang="en-US" sz="2800" dirty="0">
                <a:solidFill>
                  <a:srgbClr val="00B0F0"/>
                </a:solidFill>
              </a:rPr>
              <a:t>南町市場によく行きますか。</a:t>
            </a:r>
            <a:r>
              <a:rPr lang="ja-JP" altLang="en-US" sz="2800" dirty="0"/>
              <a:t>　はい　いいえ</a:t>
            </a:r>
            <a:endParaRPr lang="en-US" altLang="ja-JP" sz="2800" dirty="0"/>
          </a:p>
          <a:p>
            <a:pPr>
              <a:buNone/>
            </a:pPr>
            <a:r>
              <a:rPr lang="ja-JP" altLang="en-US" dirty="0"/>
              <a:t>　</a:t>
            </a:r>
            <a:endParaRPr lang="en-US" altLang="ko-KR" dirty="0"/>
          </a:p>
          <a:p>
            <a:pPr>
              <a:buNone/>
            </a:pPr>
            <a:endParaRPr lang="ko-KR"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395536" y="2132856"/>
            <a:ext cx="8208912" cy="3993307"/>
          </a:xfrm>
        </p:spPr>
        <p:txBody>
          <a:bodyPr>
            <a:normAutofit/>
          </a:bodyPr>
          <a:lstStyle/>
          <a:p>
            <a:pPr>
              <a:buNone/>
            </a:pPr>
            <a:r>
              <a:rPr lang="en-US" altLang="ja-JP" sz="2800" dirty="0">
                <a:solidFill>
                  <a:srgbClr val="00B0F0"/>
                </a:solidFill>
              </a:rPr>
              <a:t>(3)</a:t>
            </a:r>
            <a:r>
              <a:rPr lang="ja-JP" altLang="en-US" sz="2800" dirty="0">
                <a:solidFill>
                  <a:srgbClr val="00B0F0"/>
                </a:solidFill>
              </a:rPr>
              <a:t>南市場で売っているものをチェックして下さい。</a:t>
            </a:r>
            <a:endParaRPr lang="en-US" altLang="ja-JP" sz="2800" dirty="0">
              <a:solidFill>
                <a:srgbClr val="00B0F0"/>
              </a:solidFill>
            </a:endParaRPr>
          </a:p>
          <a:p>
            <a:pPr>
              <a:buNone/>
            </a:pPr>
            <a:r>
              <a:rPr lang="ja-JP" altLang="en-US" sz="2800" dirty="0"/>
              <a:t>　かぼちゃ、人参、ピーマン、にら、玉ねぎ、キャベツ、トマト、パン、米、そば、うどん、ラーメン、小麦粉、魚、肉、豆腐、ソーセージ、ハム、納豆</a:t>
            </a:r>
            <a:endParaRPr lang="en-US" altLang="ja-JP" sz="2800" dirty="0"/>
          </a:p>
          <a:p>
            <a:pPr>
              <a:buNone/>
            </a:pPr>
            <a:endParaRPr lang="en-US" altLang="ja-JP" sz="2800" dirty="0"/>
          </a:p>
          <a:p>
            <a:pPr>
              <a:buNone/>
            </a:pPr>
            <a:r>
              <a:rPr lang="en-US" altLang="ja-JP" sz="2800" dirty="0">
                <a:solidFill>
                  <a:srgbClr val="00B0F0"/>
                </a:solidFill>
              </a:rPr>
              <a:t>(4)</a:t>
            </a:r>
            <a:r>
              <a:rPr lang="ja-JP" altLang="en-US" sz="2800" dirty="0">
                <a:solidFill>
                  <a:srgbClr val="00B0F0"/>
                </a:solidFill>
              </a:rPr>
              <a:t>南町市場は安いですか、高いですか</a:t>
            </a:r>
            <a:endParaRPr lang="en-US" altLang="ja-JP" sz="2800" dirty="0">
              <a:solidFill>
                <a:srgbClr val="00B0F0"/>
              </a:solidFill>
            </a:endParaRPr>
          </a:p>
          <a:p>
            <a:pPr>
              <a:buNone/>
            </a:pPr>
            <a:r>
              <a:rPr lang="ja-JP" altLang="en-US" sz="2800" dirty="0"/>
              <a:t>　高い、安い、高いものもあるが、安いものもある</a:t>
            </a:r>
            <a:endParaRPr lang="ko-KR" alt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2132856"/>
            <a:ext cx="8219256" cy="3993307"/>
          </a:xfrm>
        </p:spPr>
        <p:txBody>
          <a:bodyPr/>
          <a:lstStyle/>
          <a:p>
            <a:r>
              <a:rPr lang="ja-JP" altLang="en-US" sz="2800" dirty="0"/>
              <a:t>ペアで一通り話し合いが終わったら、クラス全体でまとめをする。</a:t>
            </a:r>
            <a:endParaRPr lang="en-US" altLang="ja-JP" sz="2800" dirty="0"/>
          </a:p>
          <a:p>
            <a:endParaRPr lang="en-US" altLang="ja-JP" sz="2800" dirty="0"/>
          </a:p>
          <a:p>
            <a:r>
              <a:rPr lang="ja-JP" altLang="en-US" sz="2800" dirty="0"/>
              <a:t>まとめではテキストのキーワードである「南町市場、にら、三わ</a:t>
            </a:r>
            <a:r>
              <a:rPr lang="en-US" altLang="ja-JP" sz="2800" dirty="0"/>
              <a:t>100</a:t>
            </a:r>
            <a:r>
              <a:rPr lang="ja-JP" altLang="en-US" sz="2800" dirty="0"/>
              <a:t>円」などに馴染みになること、市場の様子が十分想像できるように留意する。</a:t>
            </a:r>
            <a:endParaRPr lang="en-US" altLang="ko-KR" sz="2800" dirty="0"/>
          </a:p>
          <a:p>
            <a:endParaRPr lang="ko-KR"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2132856"/>
            <a:ext cx="8291264" cy="3993307"/>
          </a:xfrm>
        </p:spPr>
        <p:txBody>
          <a:bodyPr>
            <a:normAutofit/>
          </a:bodyPr>
          <a:lstStyle/>
          <a:p>
            <a:r>
              <a:rPr lang="ja-JP" altLang="en-US" sz="2800" dirty="0"/>
              <a:t>今話した南町市場で、</a:t>
            </a:r>
            <a:r>
              <a:rPr lang="en-US" altLang="ja-JP" sz="2800" dirty="0"/>
              <a:t>A</a:t>
            </a:r>
            <a:r>
              <a:rPr lang="ja-JP" altLang="en-US" sz="2800" dirty="0"/>
              <a:t>さんがとてもいやな悲しい経験をしたことを告げ、「それは、一体何だったと思う？」と全体に質問を投げかけ、悲しい経験とは何なのか想像させ、当てずっぽうを言わせる。</a:t>
            </a:r>
            <a:endParaRPr lang="en-US" altLang="ja-JP" sz="2800" dirty="0"/>
          </a:p>
          <a:p>
            <a:r>
              <a:rPr lang="ja-JP" altLang="en-US" sz="2800" dirty="0"/>
              <a:t>そして、みんなの推測を確かめてみようということで日記の読み上げに入る。</a:t>
            </a:r>
            <a:endParaRPr lang="en-US" altLang="ja-JP" sz="2800" dirty="0"/>
          </a:p>
          <a:p>
            <a:pPr>
              <a:buNone/>
            </a:pPr>
            <a:endParaRPr lang="en-US" altLang="ja-JP" dirty="0"/>
          </a:p>
          <a:p>
            <a:endParaRPr lang="ko-KR"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sz="2800" dirty="0"/>
              <a:t>教師の説明：ティーチャートーク</a:t>
            </a:r>
            <a:endParaRPr lang="en-US" altLang="ja-JP" sz="2800" dirty="0"/>
          </a:p>
          <a:p>
            <a:r>
              <a:rPr lang="ja-JP" altLang="en-US" sz="2800" dirty="0"/>
              <a:t>聞いて分かりやすいのは話し言葉。書き言葉を耳で聞いて理解するのは難しい。</a:t>
            </a:r>
            <a:endParaRPr lang="en-US" altLang="ja-JP" sz="2800" dirty="0"/>
          </a:p>
          <a:p>
            <a:r>
              <a:rPr lang="ja-JP" altLang="en-US" sz="2800" dirty="0"/>
              <a:t>目の前の学習者をよく知っている教師がその学習者に合わせて噛み砕いて話す話し方が一番分かりやすい。</a:t>
            </a:r>
            <a:endParaRPr lang="en-US" altLang="ja-JP" sz="2800" dirty="0"/>
          </a:p>
          <a:p>
            <a:r>
              <a:rPr lang="ja-JP" altLang="en-US" sz="2800" dirty="0"/>
              <a:t>ティーチャートークとは、教師には伝えたいことがあり、それを確実に伝えるために、学習者の状況に合わせて意識的に工夫を凝らした話し方</a:t>
            </a:r>
            <a:endParaRPr lang="ko-KR" altLang="en-US" sz="2800" dirty="0"/>
          </a:p>
          <a:p>
            <a:endParaRPr lang="en-US" altLang="ja-JP" dirty="0"/>
          </a:p>
          <a:p>
            <a:endParaRPr lang="en-US" altLang="ja-JP" dirty="0"/>
          </a:p>
          <a:p>
            <a:endParaRPr lang="ko-KR"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822959" y="1845734"/>
            <a:ext cx="8069521" cy="4023360"/>
          </a:xfrm>
        </p:spPr>
        <p:txBody>
          <a:bodyPr>
            <a:normAutofit fontScale="85000" lnSpcReduction="20000"/>
          </a:bodyPr>
          <a:lstStyle/>
          <a:p>
            <a:r>
              <a:rPr lang="ja-JP" altLang="en-US" sz="2800" dirty="0"/>
              <a:t>ティーチャートークでは、一方的に先生が話すのではなく、</a:t>
            </a:r>
            <a:endParaRPr lang="en-US" altLang="ja-JP" sz="2800" dirty="0"/>
          </a:p>
          <a:p>
            <a:r>
              <a:rPr lang="ja-JP" altLang="en-US" sz="2800" dirty="0"/>
              <a:t>どちらかと言うと、学習者と一緒になって話を創って行くと</a:t>
            </a:r>
            <a:endParaRPr lang="en-US" altLang="ja-JP" sz="2800" dirty="0"/>
          </a:p>
          <a:p>
            <a:r>
              <a:rPr lang="ja-JP" altLang="en-US" sz="2800" dirty="0"/>
              <a:t>いう形が目指される。</a:t>
            </a:r>
            <a:endParaRPr lang="en-US" altLang="ja-JP" sz="2800" dirty="0"/>
          </a:p>
          <a:p>
            <a:endParaRPr lang="en-US" altLang="ja-JP" sz="2800" dirty="0"/>
          </a:p>
          <a:p>
            <a:r>
              <a:rPr lang="ja-JP" altLang="en-US" sz="2800" dirty="0"/>
              <a:t>会話例</a:t>
            </a:r>
            <a:endParaRPr lang="en-US" altLang="ja-JP" sz="2800" dirty="0"/>
          </a:p>
          <a:p>
            <a:pPr>
              <a:buNone/>
            </a:pPr>
            <a:r>
              <a:rPr lang="ja-JP" altLang="en-US" sz="2800" dirty="0"/>
              <a:t>先生：南市場って知ってる？</a:t>
            </a:r>
            <a:endParaRPr lang="en-US" altLang="ja-JP" sz="2800" dirty="0"/>
          </a:p>
          <a:p>
            <a:pPr>
              <a:buNone/>
            </a:pPr>
            <a:r>
              <a:rPr lang="ja-JP" altLang="en-US" sz="2800" dirty="0"/>
              <a:t>学生：知っている</a:t>
            </a:r>
            <a:endParaRPr lang="en-US" altLang="ja-JP" sz="2800" dirty="0"/>
          </a:p>
          <a:p>
            <a:pPr>
              <a:buNone/>
            </a:pPr>
            <a:r>
              <a:rPr lang="ja-JP" altLang="en-US" sz="2800" dirty="0"/>
              <a:t>先生：よく行く？</a:t>
            </a:r>
            <a:endParaRPr lang="en-US" altLang="ja-JP" sz="2800" dirty="0"/>
          </a:p>
          <a:p>
            <a:pPr>
              <a:buNone/>
            </a:pPr>
            <a:r>
              <a:rPr lang="ja-JP" altLang="en-US" sz="2800" dirty="0"/>
              <a:t>学生：行く</a:t>
            </a:r>
            <a:r>
              <a:rPr lang="en-US" altLang="ja-JP" sz="2800" dirty="0"/>
              <a:t>/</a:t>
            </a:r>
            <a:r>
              <a:rPr lang="ja-JP" altLang="en-US" sz="2800" dirty="0"/>
              <a:t>行かない</a:t>
            </a:r>
            <a:endParaRPr lang="en-US" altLang="ko-KR" sz="2800" dirty="0"/>
          </a:p>
          <a:p>
            <a:endParaRPr lang="en-US" altLang="ko-K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836712"/>
            <a:ext cx="8147248" cy="5760640"/>
          </a:xfrm>
        </p:spPr>
        <p:txBody>
          <a:bodyPr>
            <a:noAutofit/>
          </a:bodyPr>
          <a:lstStyle/>
          <a:p>
            <a:pPr>
              <a:buNone/>
            </a:pPr>
            <a:r>
              <a:rPr lang="ja-JP" altLang="en-US" sz="2800" dirty="0"/>
              <a:t>先生：お客さんはたくさんいる？</a:t>
            </a:r>
            <a:endParaRPr lang="en-US" altLang="ja-JP" sz="2800" dirty="0"/>
          </a:p>
          <a:p>
            <a:pPr>
              <a:buNone/>
            </a:pPr>
            <a:r>
              <a:rPr lang="ja-JP" altLang="en-US" sz="2800" dirty="0"/>
              <a:t>学生：そう</a:t>
            </a:r>
            <a:r>
              <a:rPr lang="en-US" altLang="ja-JP" sz="2800" dirty="0"/>
              <a:t>/</a:t>
            </a:r>
            <a:r>
              <a:rPr lang="ja-JP" altLang="en-US" sz="2800" dirty="0"/>
              <a:t>いつもたくさん</a:t>
            </a:r>
            <a:endParaRPr lang="en-US" altLang="ja-JP" sz="2800" dirty="0"/>
          </a:p>
          <a:p>
            <a:pPr>
              <a:buNone/>
            </a:pPr>
            <a:r>
              <a:rPr lang="ja-JP" altLang="en-US" sz="2800" dirty="0"/>
              <a:t>先生：お店の人はどんな感じ？</a:t>
            </a:r>
            <a:endParaRPr lang="en-US" altLang="ja-JP" sz="2800" dirty="0"/>
          </a:p>
          <a:p>
            <a:pPr>
              <a:buNone/>
            </a:pPr>
            <a:r>
              <a:rPr lang="ja-JP" altLang="en-US" sz="2800" dirty="0"/>
              <a:t>学生：いい</a:t>
            </a:r>
            <a:r>
              <a:rPr lang="en-US" altLang="ja-JP" sz="2800" dirty="0"/>
              <a:t>/</a:t>
            </a:r>
            <a:r>
              <a:rPr lang="ja-JP" altLang="en-US" sz="2800" dirty="0"/>
              <a:t>よくない</a:t>
            </a:r>
            <a:r>
              <a:rPr lang="en-US" altLang="ja-JP" sz="2800" dirty="0"/>
              <a:t>/</a:t>
            </a:r>
            <a:r>
              <a:rPr lang="ja-JP" altLang="en-US" sz="2800" dirty="0"/>
              <a:t>ふつう</a:t>
            </a:r>
            <a:r>
              <a:rPr lang="en-US" altLang="ja-JP" sz="2800" dirty="0"/>
              <a:t>/</a:t>
            </a:r>
            <a:r>
              <a:rPr lang="ja-JP" altLang="en-US" sz="2800" dirty="0"/>
              <a:t>こわい</a:t>
            </a:r>
            <a:endParaRPr lang="en-US" altLang="ja-JP" sz="2800" dirty="0"/>
          </a:p>
          <a:p>
            <a:pPr>
              <a:buNone/>
            </a:pPr>
            <a:r>
              <a:rPr lang="ja-JP" altLang="en-US" sz="2800" dirty="0"/>
              <a:t>先生：野菜なんか安い？</a:t>
            </a:r>
            <a:endParaRPr lang="en-US" altLang="ja-JP" sz="2800" dirty="0"/>
          </a:p>
          <a:p>
            <a:pPr>
              <a:buNone/>
            </a:pPr>
            <a:r>
              <a:rPr lang="ja-JP" altLang="en-US" sz="2800" dirty="0"/>
              <a:t>学生：安い</a:t>
            </a:r>
            <a:r>
              <a:rPr lang="en-US" altLang="ja-JP" sz="2800" dirty="0"/>
              <a:t>/</a:t>
            </a:r>
            <a:r>
              <a:rPr lang="ja-JP" altLang="en-US" sz="2800" dirty="0"/>
              <a:t>高い</a:t>
            </a:r>
            <a:endParaRPr lang="en-US" altLang="ja-JP" sz="2800" dirty="0"/>
          </a:p>
          <a:p>
            <a:pPr>
              <a:buNone/>
            </a:pPr>
            <a:r>
              <a:rPr lang="ja-JP" altLang="en-US" sz="2800" dirty="0"/>
              <a:t>先生：にらなんかよく買う？</a:t>
            </a:r>
            <a:endParaRPr lang="en-US" altLang="ja-JP" sz="2800" dirty="0"/>
          </a:p>
          <a:p>
            <a:pPr>
              <a:buNone/>
            </a:pPr>
            <a:r>
              <a:rPr lang="ja-JP" altLang="en-US" sz="2800" dirty="0"/>
              <a:t>学生：買う</a:t>
            </a:r>
            <a:r>
              <a:rPr lang="en-US" altLang="ja-JP" sz="2800" dirty="0"/>
              <a:t>/</a:t>
            </a:r>
            <a:r>
              <a:rPr lang="ja-JP" altLang="en-US" sz="2800" dirty="0"/>
              <a:t>安いとき買う</a:t>
            </a:r>
            <a:endParaRPr lang="en-US" altLang="ja-JP" sz="2800" dirty="0"/>
          </a:p>
          <a:p>
            <a:pPr>
              <a:buNone/>
            </a:pPr>
            <a:r>
              <a:rPr lang="ja-JP" altLang="en-US" sz="2800" dirty="0"/>
              <a:t>先生：一わいくらぐらい？</a:t>
            </a:r>
            <a:endParaRPr lang="en-US" altLang="ja-JP" sz="2800" dirty="0"/>
          </a:p>
          <a:p>
            <a:pPr>
              <a:buNone/>
            </a:pPr>
            <a:r>
              <a:rPr lang="ja-JP" altLang="en-US" sz="2800" dirty="0"/>
              <a:t>学生：知らない</a:t>
            </a:r>
            <a:r>
              <a:rPr lang="en-US" altLang="ja-JP" sz="2800" dirty="0"/>
              <a:t>/</a:t>
            </a:r>
            <a:r>
              <a:rPr lang="ja-JP" altLang="en-US" sz="2800" dirty="0"/>
              <a:t>あ、知ってる、１００円</a:t>
            </a:r>
            <a:endParaRPr lang="ko-KR" alt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sz="2800" dirty="0"/>
              <a:t>教師側の方策：学習者との間に共通の土台を作り</a:t>
            </a:r>
            <a:r>
              <a:rPr lang="en-US" altLang="ja-JP" sz="2800" dirty="0"/>
              <a:t>(</a:t>
            </a:r>
            <a:r>
              <a:rPr lang="ja-JP" altLang="en-US" sz="2800" dirty="0"/>
              <a:t>トピックの共有）、その上で本題に話を運んでいっている。（全体ー部分、おおまかから詳細へ、身近な経験ー遠い抽象物へ）</a:t>
            </a:r>
            <a:endParaRPr lang="en-US" altLang="ja-JP" sz="2800" dirty="0"/>
          </a:p>
          <a:p>
            <a:pPr>
              <a:buNone/>
            </a:pPr>
            <a:endParaRPr lang="en-US" altLang="ja-JP" sz="2800" dirty="0"/>
          </a:p>
          <a:p>
            <a:r>
              <a:rPr lang="ja-JP" altLang="en-US" sz="2800" dirty="0"/>
              <a:t>ティーチャートークが終わったところで、</a:t>
            </a:r>
            <a:r>
              <a:rPr lang="en-US" altLang="ja-JP" sz="2800" dirty="0"/>
              <a:t>A</a:t>
            </a:r>
            <a:r>
              <a:rPr lang="ja-JP" altLang="en-US" sz="2800" dirty="0"/>
              <a:t>さんの日記を配り今聞いたばかりの話を今度は目で読んで</a:t>
            </a:r>
            <a:r>
              <a:rPr lang="en-US" altLang="ja-JP" sz="2800" dirty="0"/>
              <a:t>(</a:t>
            </a:r>
            <a:r>
              <a:rPr lang="ja-JP" altLang="en-US" sz="2800" dirty="0"/>
              <a:t>黙読して）確認する作業を行う。</a:t>
            </a:r>
            <a:endParaRPr lang="en-US" altLang="ja-JP" sz="2800" dirty="0"/>
          </a:p>
          <a:p>
            <a:endParaRPr lang="en-US" altLang="ja-JP" dirty="0"/>
          </a:p>
          <a:p>
            <a:endParaRPr lang="en-US" altLang="ja-JP" dirty="0"/>
          </a:p>
          <a:p>
            <a:endParaRPr lang="ko-KR"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92D050"/>
                </a:solidFill>
              </a:rPr>
              <a:t>ティーチャートーク</a:t>
            </a:r>
            <a:endParaRPr lang="ko-KR" altLang="en-US" dirty="0">
              <a:solidFill>
                <a:srgbClr val="92D050"/>
              </a:solidFill>
            </a:endParaRPr>
          </a:p>
        </p:txBody>
      </p:sp>
      <p:sp>
        <p:nvSpPr>
          <p:cNvPr id="3" name="내용 개체 틀 2"/>
          <p:cNvSpPr>
            <a:spLocks noGrp="1"/>
          </p:cNvSpPr>
          <p:nvPr>
            <p:ph idx="1"/>
          </p:nvPr>
        </p:nvSpPr>
        <p:spPr/>
        <p:txBody>
          <a:bodyPr>
            <a:normAutofit/>
          </a:bodyPr>
          <a:lstStyle/>
          <a:p>
            <a:r>
              <a:rPr lang="ja-JP" altLang="en-US" sz="2800" dirty="0"/>
              <a:t>・学習者を受身にさせないこと、自分に向かって教師は話しているんだという意識を保持させ続けること。</a:t>
            </a:r>
            <a:endParaRPr lang="en-US" altLang="ja-JP" sz="2800" dirty="0"/>
          </a:p>
          <a:p>
            <a:r>
              <a:rPr lang="ja-JP" altLang="en-US" sz="2800" dirty="0"/>
              <a:t>・常に教師が話を切り出し、話順を振り、話を終了させるというようにならないような配慮も必要。</a:t>
            </a:r>
            <a:endParaRPr lang="en-US" altLang="ja-JP" sz="2800" dirty="0"/>
          </a:p>
          <a:p>
            <a:r>
              <a:rPr lang="ja-JP" altLang="en-US" sz="2800" dirty="0"/>
              <a:t>・学習者が新たなトピックを持ち込んだり、学習者の間で話が続けられたりする機会も設けられるとよい。</a:t>
            </a:r>
            <a:endParaRPr lang="ko-KR" alt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251520" y="1988840"/>
            <a:ext cx="8496944" cy="4536504"/>
          </a:xfrm>
        </p:spPr>
        <p:txBody>
          <a:bodyPr>
            <a:normAutofit/>
          </a:bodyPr>
          <a:lstStyle/>
          <a:p>
            <a:r>
              <a:rPr lang="ja-JP" altLang="en-US" sz="2800" dirty="0"/>
              <a:t>・学習者は、教師は自分に向かって話しているのだと捉え、教師の発話に反応することが求められる。その反応によって教師はまた自分の話し方を調節する。</a:t>
            </a:r>
            <a:endParaRPr lang="en-US" altLang="ja-JP" sz="2800" dirty="0"/>
          </a:p>
          <a:p>
            <a:r>
              <a:rPr lang="ja-JP" altLang="en-US" sz="2800" dirty="0"/>
              <a:t>・つまり、学習者は聴くだけでなく、考えたり、答えたりすることが要求され、教師との対話を成立させる片方の担い手となる。</a:t>
            </a:r>
            <a:endParaRPr lang="en-US" altLang="ja-JP" sz="2800" dirty="0"/>
          </a:p>
          <a:p>
            <a:r>
              <a:rPr lang="ja-JP" altLang="en-US" sz="2800" dirty="0"/>
              <a:t>・聴く・考える・答える・尋ねるの四つを同時にこなす能動的な活動といってよい。</a:t>
            </a:r>
            <a:endParaRPr lang="en-US" altLang="ja-JP" sz="2800" dirty="0"/>
          </a:p>
          <a:p>
            <a:r>
              <a:rPr lang="ja-JP" altLang="en-US" sz="2800" dirty="0"/>
              <a:t>・ピンポンのようにやりとりが活発になるような工夫が必要</a:t>
            </a:r>
            <a:endParaRPr lang="ko-KR" altLang="en-US" sz="2800" dirty="0"/>
          </a:p>
        </p:txBody>
      </p:sp>
    </p:spTree>
  </p:cSld>
  <p:clrMapOvr>
    <a:masterClrMapping/>
  </p:clrMapOvr>
</p:sld>
</file>

<file path=ppt/theme/theme1.xml><?xml version="1.0" encoding="utf-8"?>
<a:theme xmlns:a="http://schemas.openxmlformats.org/drawingml/2006/main" name="추억">
  <a:themeElements>
    <a:clrScheme name="추억">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추억">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추억">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1226</TotalTime>
  <Words>6002</Words>
  <Application>Microsoft Office PowerPoint</Application>
  <PresentationFormat>화면 슬라이드 쇼(4:3)</PresentationFormat>
  <Paragraphs>287</Paragraphs>
  <Slides>51</Slides>
  <Notes>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51</vt:i4>
      </vt:variant>
    </vt:vector>
  </HeadingPairs>
  <TitlesOfParts>
    <vt:vector size="55" baseType="lpstr">
      <vt:lpstr>맑은 고딕</vt:lpstr>
      <vt:lpstr>Calibri</vt:lpstr>
      <vt:lpstr>Calibri Light</vt:lpstr>
      <vt:lpstr>추억</vt:lpstr>
      <vt:lpstr>話すことをどう教えるか</vt:lpstr>
      <vt:lpstr>授業の流れ</vt:lpstr>
      <vt:lpstr>話す行為のプロセス</vt:lpstr>
      <vt:lpstr>話す行為のプロセス　（Levelt１９８９）</vt:lpstr>
      <vt:lpstr>考えてみましょう！</vt:lpstr>
      <vt:lpstr>話し手にとって会話を進めるのに必要なこと？</vt:lpstr>
      <vt:lpstr>話すことの練習をいつ導入するか</vt:lpstr>
      <vt:lpstr>文型練習とは？</vt:lpstr>
      <vt:lpstr>キューに合わせて、文を拡張</vt:lpstr>
      <vt:lpstr>キューに合わせて、一部を補って文を完成する。</vt:lpstr>
      <vt:lpstr>クェスチョン・アンサー</vt:lpstr>
      <vt:lpstr>クェスチョン・アンサー</vt:lpstr>
      <vt:lpstr>クェスチョン→アンサーは会話練習になる？</vt:lpstr>
      <vt:lpstr>IREパターン</vt:lpstr>
      <vt:lpstr>                 意味のある会話のできる力                           (Canale &amp; Swain 1980) </vt:lpstr>
      <vt:lpstr>社会言語能力 （適切な状況で適切なことが言える力）</vt:lpstr>
      <vt:lpstr>談話能力 （会話を切り出したり会話に入ったり会話を終わらせたり、あるいは一貫性を持って話が展開できたりする力）　 </vt:lpstr>
      <vt:lpstr>談話能力</vt:lpstr>
      <vt:lpstr>ストラテジー能力 自分の言いたいことを効果的に伝えたり、うまく伝えられない場合には適当なストラテジーを使って切り抜けたりする力</vt:lpstr>
      <vt:lpstr>話す練習はいつ導入？</vt:lpstr>
      <vt:lpstr>考えてみましょう！</vt:lpstr>
      <vt:lpstr>答え</vt:lpstr>
      <vt:lpstr>PowerPoint 프레젠테이션</vt:lpstr>
      <vt:lpstr>考えてみましょう！</vt:lpstr>
      <vt:lpstr>答え</vt:lpstr>
      <vt:lpstr>考えてみましょう！</vt:lpstr>
      <vt:lpstr>答え</vt:lpstr>
      <vt:lpstr>聴解・会話中心の活動</vt:lpstr>
      <vt:lpstr>学習者Aさんの日記</vt:lpstr>
      <vt:lpstr>授業の流れ</vt:lpstr>
      <vt:lpstr>授業の流れ</vt:lpstr>
      <vt:lpstr>考えてみましょう！</vt:lpstr>
      <vt:lpstr>答え</vt:lpstr>
      <vt:lpstr>学習者の思い</vt:lpstr>
      <vt:lpstr>学習者の思い</vt:lpstr>
      <vt:lpstr>まとめ</vt:lpstr>
      <vt:lpstr>学習のデザイン　　　　　　　　　　　　　　-どのような新たな学習が実現できるか-</vt:lpstr>
      <vt:lpstr>PowerPoint 프레젠테이션</vt:lpstr>
      <vt:lpstr>新たな指導方法</vt:lpstr>
      <vt:lpstr>タスクシート</vt:lpstr>
      <vt:lpstr>タスクシート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ティーチャートーク</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話すことをどう教えるか</dc:title>
  <dc:creator>user</dc:creator>
  <cp:lastModifiedBy>조영남[ 교수 / 일어일문학과 ]</cp:lastModifiedBy>
  <cp:revision>205</cp:revision>
  <dcterms:created xsi:type="dcterms:W3CDTF">2009-10-14T01:07:15Z</dcterms:created>
  <dcterms:modified xsi:type="dcterms:W3CDTF">2025-09-10T05:45:53Z</dcterms:modified>
</cp:coreProperties>
</file>