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58" r:id="rId5"/>
    <p:sldId id="265" r:id="rId6"/>
    <p:sldId id="261" r:id="rId7"/>
    <p:sldId id="259" r:id="rId8"/>
    <p:sldId id="262" r:id="rId9"/>
    <p:sldId id="264" r:id="rId10"/>
  </p:sldIdLst>
  <p:sldSz cx="9144000" cy="6858000" type="screen4x3"/>
  <p:notesSz cx="9144000" cy="6858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15"/>
    <p:restoredTop sz="94694"/>
  </p:normalViewPr>
  <p:slideViewPr>
    <p:cSldViewPr>
      <p:cViewPr varScale="1">
        <p:scale>
          <a:sx n="104" d="100"/>
          <a:sy n="104" d="100"/>
        </p:scale>
        <p:origin x="1524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C232E-6DED-4199-A2DF-B2E26126C7C1}" type="datetimeFigureOut">
              <a:rPr lang="ko-KR" altLang="en-US" smtClean="0"/>
              <a:pPr/>
              <a:t>2026-09-01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C8571-955F-4275-B06F-9D77D6F29BE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C232E-6DED-4199-A2DF-B2E26126C7C1}" type="datetimeFigureOut">
              <a:rPr lang="ko-KR" altLang="en-US" smtClean="0"/>
              <a:pPr/>
              <a:t>2026-09-01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C8571-955F-4275-B06F-9D77D6F29BE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C232E-6DED-4199-A2DF-B2E26126C7C1}" type="datetimeFigureOut">
              <a:rPr lang="ko-KR" altLang="en-US" smtClean="0"/>
              <a:pPr/>
              <a:t>2026-09-01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C8571-955F-4275-B06F-9D77D6F29BE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C232E-6DED-4199-A2DF-B2E26126C7C1}" type="datetimeFigureOut">
              <a:rPr lang="ko-KR" altLang="en-US" smtClean="0"/>
              <a:pPr/>
              <a:t>2026-09-01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C8571-955F-4275-B06F-9D77D6F29BE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C232E-6DED-4199-A2DF-B2E26126C7C1}" type="datetimeFigureOut">
              <a:rPr lang="ko-KR" altLang="en-US" smtClean="0"/>
              <a:pPr/>
              <a:t>2026-09-01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C8571-955F-4275-B06F-9D77D6F29BE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C232E-6DED-4199-A2DF-B2E26126C7C1}" type="datetimeFigureOut">
              <a:rPr lang="ko-KR" altLang="en-US" smtClean="0"/>
              <a:pPr/>
              <a:t>2026-09-01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C8571-955F-4275-B06F-9D77D6F29BE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C232E-6DED-4199-A2DF-B2E26126C7C1}" type="datetimeFigureOut">
              <a:rPr lang="ko-KR" altLang="en-US" smtClean="0"/>
              <a:pPr/>
              <a:t>2026-09-01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C8571-955F-4275-B06F-9D77D6F29BE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C232E-6DED-4199-A2DF-B2E26126C7C1}" type="datetimeFigureOut">
              <a:rPr lang="ko-KR" altLang="en-US" smtClean="0"/>
              <a:pPr/>
              <a:t>2026-09-01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C8571-955F-4275-B06F-9D77D6F29BE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C232E-6DED-4199-A2DF-B2E26126C7C1}" type="datetimeFigureOut">
              <a:rPr lang="ko-KR" altLang="en-US" smtClean="0"/>
              <a:pPr/>
              <a:t>2026-09-01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C8571-955F-4275-B06F-9D77D6F29BE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C232E-6DED-4199-A2DF-B2E26126C7C1}" type="datetimeFigureOut">
              <a:rPr lang="ko-KR" altLang="en-US" smtClean="0"/>
              <a:pPr/>
              <a:t>2026-09-01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C8571-955F-4275-B06F-9D77D6F29BE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C232E-6DED-4199-A2DF-B2E26126C7C1}" type="datetimeFigureOut">
              <a:rPr lang="ko-KR" altLang="en-US" smtClean="0"/>
              <a:pPr/>
              <a:t>2026-09-01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C8571-955F-4275-B06F-9D77D6F29BE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DC232E-6DED-4199-A2DF-B2E26126C7C1}" type="datetimeFigureOut">
              <a:rPr lang="ko-KR" altLang="en-US" smtClean="0"/>
              <a:pPr/>
              <a:t>2026-09-01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EC8571-955F-4275-B06F-9D77D6F29BE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467544" y="2130425"/>
            <a:ext cx="8136904" cy="1470025"/>
          </a:xfrm>
        </p:spPr>
        <p:txBody>
          <a:bodyPr/>
          <a:lstStyle/>
          <a:p>
            <a:r>
              <a:rPr lang="ja-JP" altLang="en-US" dirty="0"/>
              <a:t>日本語教科教材研究及び指導法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授業の概要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1520" y="1412776"/>
            <a:ext cx="8712968" cy="5445224"/>
          </a:xfrm>
        </p:spPr>
        <p:txBody>
          <a:bodyPr>
            <a:normAutofit fontScale="92500" lnSpcReduction="20000"/>
          </a:bodyPr>
          <a:lstStyle/>
          <a:p>
            <a:pPr fontAlgn="base"/>
            <a:r>
              <a:rPr lang="ja-JP" altLang="ko-KR" sz="3600" kern="100" dirty="0">
                <a:effectLst/>
                <a:latin typeface="+mn-ea"/>
                <a:cs typeface="Times New Roman" panose="02020603050405020304" pitchFamily="18" charset="0"/>
              </a:rPr>
              <a:t>日本語</a:t>
            </a:r>
            <a:r>
              <a:rPr lang="ja-JP" altLang="ko-KR" sz="3600" kern="100" dirty="0">
                <a:effectLst/>
                <a:latin typeface="+mn-ea"/>
                <a:cs typeface="새굴림" panose="02030600000101010101" pitchFamily="18" charset="-127"/>
              </a:rPr>
              <a:t>教</a:t>
            </a:r>
            <a:r>
              <a:rPr lang="ja-JP" altLang="ko-KR" sz="3600" kern="100" dirty="0">
                <a:effectLst/>
                <a:latin typeface="+mn-ea"/>
                <a:cs typeface="맑은 고딕" panose="020B0503020000020004" pitchFamily="50" charset="-127"/>
              </a:rPr>
              <a:t>育</a:t>
            </a:r>
            <a:r>
              <a:rPr lang="ja-JP" altLang="ko-KR" sz="3600" kern="100" dirty="0">
                <a:effectLst/>
                <a:latin typeface="+mn-ea"/>
                <a:cs typeface="새굴림" panose="02030600000101010101" pitchFamily="18" charset="-127"/>
              </a:rPr>
              <a:t>学</a:t>
            </a:r>
            <a:r>
              <a:rPr lang="ja-JP" altLang="ko-KR" sz="3600" kern="100" dirty="0">
                <a:effectLst/>
                <a:latin typeface="+mn-ea"/>
                <a:cs typeface="맑은 고딕" panose="020B0503020000020004" pitchFamily="50" charset="-127"/>
              </a:rPr>
              <a:t>の視点で４技能</a:t>
            </a:r>
            <a:r>
              <a:rPr lang="en-US" altLang="ko-KR" sz="3600" kern="100" dirty="0">
                <a:effectLst/>
                <a:latin typeface="+mn-ea"/>
                <a:cs typeface="Times New Roman" panose="02020603050405020304" pitchFamily="18" charset="0"/>
              </a:rPr>
              <a:t>(</a:t>
            </a:r>
            <a:r>
              <a:rPr lang="ja-JP" altLang="ko-KR" sz="3600" kern="100" dirty="0">
                <a:effectLst/>
                <a:latin typeface="+mn-ea"/>
                <a:cs typeface="Times New Roman" panose="02020603050405020304" pitchFamily="18" charset="0"/>
              </a:rPr>
              <a:t>聞くこと</a:t>
            </a:r>
            <a:r>
              <a:rPr lang="ja-JP" altLang="ko-KR" sz="3600" kern="100" dirty="0">
                <a:effectLst/>
                <a:latin typeface="+mn-ea"/>
                <a:cs typeface="MS Mincho" panose="02020609040205080304" pitchFamily="49" charset="-128"/>
              </a:rPr>
              <a:t>・読</a:t>
            </a:r>
            <a:r>
              <a:rPr lang="ja-JP" altLang="ko-KR" sz="3600" kern="100" dirty="0">
                <a:effectLst/>
                <a:latin typeface="+mn-ea"/>
                <a:cs typeface="맑은 고딕" panose="020B0503020000020004" pitchFamily="50" charset="-127"/>
              </a:rPr>
              <a:t>むこと</a:t>
            </a:r>
            <a:r>
              <a:rPr lang="ja-JP" altLang="ko-KR" sz="3600" kern="100" dirty="0">
                <a:effectLst/>
                <a:latin typeface="+mn-ea"/>
                <a:cs typeface="MS Mincho" panose="02020609040205080304" pitchFamily="49" charset="-128"/>
              </a:rPr>
              <a:t>・</a:t>
            </a:r>
            <a:r>
              <a:rPr lang="ja-JP" altLang="ko-KR" sz="3600" kern="100" dirty="0">
                <a:effectLst/>
                <a:latin typeface="+mn-ea"/>
                <a:cs typeface="맑은 고딕" panose="020B0503020000020004" pitchFamily="50" charset="-127"/>
              </a:rPr>
              <a:t>話すこと</a:t>
            </a:r>
            <a:r>
              <a:rPr lang="ja-JP" altLang="ko-KR" sz="3600" kern="100" dirty="0">
                <a:effectLst/>
                <a:latin typeface="+mn-ea"/>
                <a:cs typeface="MS Mincho" panose="02020609040205080304" pitchFamily="49" charset="-128"/>
              </a:rPr>
              <a:t>・</a:t>
            </a:r>
            <a:r>
              <a:rPr lang="ja-JP" altLang="ko-KR" sz="3600" kern="100" dirty="0">
                <a:effectLst/>
                <a:latin typeface="+mn-ea"/>
                <a:cs typeface="맑은 고딕" panose="020B0503020000020004" pitchFamily="50" charset="-127"/>
              </a:rPr>
              <a:t>書くこと）の</a:t>
            </a:r>
            <a:r>
              <a:rPr lang="ja-JP" altLang="ko-KR" sz="3600" kern="100" dirty="0">
                <a:effectLst/>
                <a:latin typeface="+mn-ea"/>
                <a:cs typeface="새굴림" panose="02030600000101010101" pitchFamily="18" charset="-127"/>
              </a:rPr>
              <a:t>学</a:t>
            </a:r>
            <a:r>
              <a:rPr lang="ja-JP" altLang="ko-KR" sz="3600" kern="100" dirty="0">
                <a:effectLst/>
                <a:latin typeface="+mn-ea"/>
                <a:cs typeface="맑은 고딕" panose="020B0503020000020004" pitchFamily="50" charset="-127"/>
              </a:rPr>
              <a:t>習プロセスを</a:t>
            </a:r>
            <a:r>
              <a:rPr lang="ja-JP" altLang="ko-KR" sz="3600" kern="100" dirty="0">
                <a:effectLst/>
                <a:latin typeface="+mn-ea"/>
                <a:cs typeface="새굴림" panose="02030600000101010101" pitchFamily="18" charset="-127"/>
              </a:rPr>
              <a:t>概観</a:t>
            </a:r>
            <a:r>
              <a:rPr lang="ja-JP" altLang="ko-KR" sz="3600" kern="100" dirty="0">
                <a:effectLst/>
                <a:latin typeface="+mn-ea"/>
                <a:cs typeface="맑은 고딕" panose="020B0503020000020004" pitchFamily="50" charset="-127"/>
              </a:rPr>
              <a:t>し、体系的な外</a:t>
            </a:r>
            <a:r>
              <a:rPr lang="ja-JP" altLang="ko-KR" sz="3600" kern="100" dirty="0">
                <a:effectLst/>
                <a:latin typeface="+mn-ea"/>
                <a:cs typeface="새굴림" panose="02030600000101010101" pitchFamily="18" charset="-127"/>
              </a:rPr>
              <a:t>国</a:t>
            </a:r>
            <a:r>
              <a:rPr lang="ja-JP" altLang="ko-KR" sz="3600" kern="100" dirty="0">
                <a:effectLst/>
                <a:latin typeface="+mn-ea"/>
                <a:cs typeface="맑은 고딕" panose="020B0503020000020004" pitchFamily="50" charset="-127"/>
              </a:rPr>
              <a:t>語</a:t>
            </a:r>
            <a:r>
              <a:rPr lang="ja-JP" altLang="ko-KR" sz="3600" kern="100" dirty="0">
                <a:effectLst/>
                <a:latin typeface="+mn-ea"/>
                <a:cs typeface="새굴림" panose="02030600000101010101" pitchFamily="18" charset="-127"/>
              </a:rPr>
              <a:t>学</a:t>
            </a:r>
            <a:r>
              <a:rPr lang="ja-JP" altLang="ko-KR" sz="3600" kern="100" dirty="0">
                <a:effectLst/>
                <a:latin typeface="+mn-ea"/>
                <a:cs typeface="맑은 고딕" panose="020B0503020000020004" pitchFamily="50" charset="-127"/>
              </a:rPr>
              <a:t>習方法の理論を</a:t>
            </a:r>
            <a:r>
              <a:rPr lang="ja-JP" altLang="ko-KR" sz="3600" kern="100" dirty="0">
                <a:effectLst/>
                <a:latin typeface="+mn-ea"/>
                <a:cs typeface="새굴림" panose="02030600000101010101" pitchFamily="18" charset="-127"/>
              </a:rPr>
              <a:t>学</a:t>
            </a:r>
            <a:r>
              <a:rPr lang="ja-JP" altLang="ko-KR" sz="3600" kern="100" dirty="0">
                <a:effectLst/>
                <a:latin typeface="+mn-ea"/>
                <a:cs typeface="맑은 고딕" panose="020B0503020000020004" pitchFamily="50" charset="-127"/>
              </a:rPr>
              <a:t>ぶ。</a:t>
            </a:r>
            <a:endParaRPr lang="en-US" altLang="ja-JP" sz="3600" kern="100" dirty="0">
              <a:effectLst/>
              <a:latin typeface="+mn-ea"/>
              <a:cs typeface="맑은 고딕" panose="020B0503020000020004" pitchFamily="50" charset="-127"/>
            </a:endParaRPr>
          </a:p>
          <a:p>
            <a:pPr fontAlgn="base"/>
            <a:r>
              <a:rPr lang="ja-JP" altLang="ko-KR" sz="3600" kern="100" dirty="0">
                <a:effectLst/>
                <a:latin typeface="+mn-ea"/>
                <a:cs typeface="맑은 고딕" panose="020B0503020000020004" pitchFamily="50" charset="-127"/>
              </a:rPr>
              <a:t>また</a:t>
            </a:r>
            <a:r>
              <a:rPr lang="ja-JP" altLang="ko-KR" sz="3600" kern="100" dirty="0">
                <a:effectLst/>
                <a:latin typeface="+mn-ea"/>
                <a:cs typeface="새굴림" panose="02030600000101010101" pitchFamily="18" charset="-127"/>
              </a:rPr>
              <a:t>教</a:t>
            </a:r>
            <a:r>
              <a:rPr lang="ja-JP" altLang="ko-KR" sz="3600" kern="100" dirty="0">
                <a:effectLst/>
                <a:latin typeface="+mn-ea"/>
                <a:cs typeface="맑은 고딕" panose="020B0503020000020004" pitchFamily="50" charset="-127"/>
              </a:rPr>
              <a:t>室活動と</a:t>
            </a:r>
            <a:r>
              <a:rPr lang="ja-JP" altLang="ko-KR" sz="3600" kern="100" dirty="0">
                <a:effectLst/>
                <a:latin typeface="+mn-ea"/>
                <a:cs typeface="새굴림" panose="02030600000101010101" pitchFamily="18" charset="-127"/>
              </a:rPr>
              <a:t>教</a:t>
            </a:r>
            <a:r>
              <a:rPr lang="ja-JP" altLang="ko-KR" sz="3600" kern="100" dirty="0">
                <a:effectLst/>
                <a:latin typeface="+mn-ea"/>
                <a:cs typeface="맑은 고딕" panose="020B0503020000020004" pitchFamily="50" charset="-127"/>
              </a:rPr>
              <a:t>材を使用することを通してなされる</a:t>
            </a:r>
            <a:r>
              <a:rPr lang="ja-JP" altLang="ko-KR" sz="3600" kern="100" dirty="0">
                <a:effectLst/>
                <a:latin typeface="+mn-ea"/>
                <a:cs typeface="새굴림" panose="02030600000101010101" pitchFamily="18" charset="-127"/>
              </a:rPr>
              <a:t>学</a:t>
            </a:r>
            <a:r>
              <a:rPr lang="ja-JP" altLang="ko-KR" sz="3600" kern="100" dirty="0">
                <a:effectLst/>
                <a:latin typeface="+mn-ea"/>
                <a:cs typeface="맑은 고딕" panose="020B0503020000020004" pitchFamily="50" charset="-127"/>
              </a:rPr>
              <a:t>習を分析し</a:t>
            </a:r>
            <a:r>
              <a:rPr lang="en-US" altLang="ko-KR" sz="3600" kern="100" dirty="0">
                <a:effectLst/>
                <a:latin typeface="+mn-ea"/>
                <a:cs typeface="Times New Roman" panose="02020603050405020304" pitchFamily="18" charset="0"/>
              </a:rPr>
              <a:t>, </a:t>
            </a:r>
            <a:r>
              <a:rPr lang="ja-JP" altLang="ko-KR" sz="3600" kern="100" dirty="0">
                <a:effectLst/>
                <a:latin typeface="+mn-ea"/>
                <a:cs typeface="Times New Roman" panose="02020603050405020304" pitchFamily="18" charset="0"/>
              </a:rPr>
              <a:t>デザインする能力を育成することを目標とする。 </a:t>
            </a:r>
            <a:endParaRPr lang="ko-KR" altLang="ko-KR" sz="36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fontAlgn="base"/>
            <a:r>
              <a:rPr lang="ko-KR" altLang="en-US" dirty="0">
                <a:solidFill>
                  <a:srgbClr val="00B050"/>
                </a:solidFill>
                <a:latin typeface="HGPKyokashotai" panose="02020600040205080304" pitchFamily="18" charset="-128"/>
              </a:rPr>
              <a:t>일본어 교육의 관점에서 </a:t>
            </a:r>
            <a:r>
              <a:rPr lang="en-US" altLang="ko-KR" dirty="0">
                <a:solidFill>
                  <a:srgbClr val="00B050"/>
                </a:solidFill>
                <a:latin typeface="HGPKyokashotai" panose="02020600040205080304" pitchFamily="18" charset="-128"/>
                <a:ea typeface="HGPKyokashotai" panose="02020600040205080304" pitchFamily="18" charset="-128"/>
              </a:rPr>
              <a:t>4</a:t>
            </a:r>
            <a:r>
              <a:rPr lang="ko-KR" altLang="en-US" dirty="0">
                <a:solidFill>
                  <a:srgbClr val="00B050"/>
                </a:solidFill>
                <a:latin typeface="HGPKyokashotai" panose="02020600040205080304" pitchFamily="18" charset="-128"/>
              </a:rPr>
              <a:t>기능</a:t>
            </a:r>
            <a:r>
              <a:rPr lang="en-US" altLang="ko-KR" dirty="0">
                <a:solidFill>
                  <a:srgbClr val="00B050"/>
                </a:solidFill>
                <a:latin typeface="HGPKyokashotai" panose="02020600040205080304" pitchFamily="18" charset="-128"/>
                <a:ea typeface="HGPKyokashotai" panose="02020600040205080304" pitchFamily="18" charset="-128"/>
              </a:rPr>
              <a:t>(</a:t>
            </a:r>
            <a:r>
              <a:rPr lang="ko-KR" altLang="en-US" dirty="0">
                <a:solidFill>
                  <a:srgbClr val="00B050"/>
                </a:solidFill>
                <a:latin typeface="HGPKyokashotai" panose="02020600040205080304" pitchFamily="18" charset="-128"/>
              </a:rPr>
              <a:t>듣기</a:t>
            </a:r>
            <a:r>
              <a:rPr lang="en-US" altLang="ko-KR" dirty="0">
                <a:solidFill>
                  <a:srgbClr val="00B050"/>
                </a:solidFill>
                <a:latin typeface="HGPKyokashotai" panose="02020600040205080304" pitchFamily="18" charset="-128"/>
                <a:ea typeface="HGPKyokashotai" panose="02020600040205080304" pitchFamily="18" charset="-128"/>
              </a:rPr>
              <a:t>,</a:t>
            </a:r>
            <a:r>
              <a:rPr lang="ko-KR" altLang="en-US" dirty="0">
                <a:solidFill>
                  <a:srgbClr val="00B050"/>
                </a:solidFill>
                <a:latin typeface="HGPKyokashotai" panose="02020600040205080304" pitchFamily="18" charset="-128"/>
              </a:rPr>
              <a:t>읽기</a:t>
            </a:r>
            <a:r>
              <a:rPr lang="en-US" altLang="ko-KR" dirty="0">
                <a:solidFill>
                  <a:srgbClr val="00B050"/>
                </a:solidFill>
                <a:latin typeface="HGPKyokashotai" panose="02020600040205080304" pitchFamily="18" charset="-128"/>
                <a:ea typeface="HGPKyokashotai" panose="02020600040205080304" pitchFamily="18" charset="-128"/>
              </a:rPr>
              <a:t>,</a:t>
            </a:r>
            <a:r>
              <a:rPr lang="ko-KR" altLang="en-US" dirty="0">
                <a:solidFill>
                  <a:srgbClr val="00B050"/>
                </a:solidFill>
                <a:latin typeface="HGPKyokashotai" panose="02020600040205080304" pitchFamily="18" charset="-128"/>
              </a:rPr>
              <a:t>말하기</a:t>
            </a:r>
            <a:r>
              <a:rPr lang="en-US" altLang="ko-KR" dirty="0">
                <a:solidFill>
                  <a:srgbClr val="00B050"/>
                </a:solidFill>
                <a:latin typeface="HGPKyokashotai" panose="02020600040205080304" pitchFamily="18" charset="-128"/>
                <a:ea typeface="HGPKyokashotai" panose="02020600040205080304" pitchFamily="18" charset="-128"/>
              </a:rPr>
              <a:t>,</a:t>
            </a:r>
            <a:r>
              <a:rPr lang="ko-KR" altLang="en-US" dirty="0">
                <a:solidFill>
                  <a:srgbClr val="00B050"/>
                </a:solidFill>
                <a:latin typeface="HGPKyokashotai" panose="02020600040205080304" pitchFamily="18" charset="-128"/>
              </a:rPr>
              <a:t>쓰기</a:t>
            </a:r>
            <a:r>
              <a:rPr lang="en-US" altLang="ko-KR" dirty="0">
                <a:solidFill>
                  <a:srgbClr val="00B050"/>
                </a:solidFill>
                <a:latin typeface="HGPKyokashotai" panose="02020600040205080304" pitchFamily="18" charset="-128"/>
                <a:ea typeface="HGPKyokashotai" panose="02020600040205080304" pitchFamily="18" charset="-128"/>
              </a:rPr>
              <a:t>)</a:t>
            </a:r>
            <a:r>
              <a:rPr lang="ko-KR" altLang="en-US" dirty="0">
                <a:solidFill>
                  <a:srgbClr val="00B050"/>
                </a:solidFill>
                <a:latin typeface="HGPKyokashotai" panose="02020600040205080304" pitchFamily="18" charset="-128"/>
              </a:rPr>
              <a:t>의 학습과정을 개관하고</a:t>
            </a:r>
            <a:r>
              <a:rPr lang="en-US" altLang="ko-KR" dirty="0">
                <a:solidFill>
                  <a:srgbClr val="00B050"/>
                </a:solidFill>
                <a:latin typeface="HGPKyokashotai" panose="02020600040205080304" pitchFamily="18" charset="-128"/>
                <a:ea typeface="HGPKyokashotai" panose="02020600040205080304" pitchFamily="18" charset="-128"/>
              </a:rPr>
              <a:t>, </a:t>
            </a:r>
            <a:r>
              <a:rPr lang="ko-KR" altLang="en-US" dirty="0">
                <a:solidFill>
                  <a:srgbClr val="00B050"/>
                </a:solidFill>
                <a:latin typeface="HGPKyokashotai" panose="02020600040205080304" pitchFamily="18" charset="-128"/>
              </a:rPr>
              <a:t>체계적인 외국어 학습방법 이론을 배운다</a:t>
            </a:r>
            <a:r>
              <a:rPr lang="en-US" altLang="ko-KR" dirty="0">
                <a:solidFill>
                  <a:srgbClr val="00B050"/>
                </a:solidFill>
                <a:latin typeface="HGPKyokashotai" panose="02020600040205080304" pitchFamily="18" charset="-128"/>
                <a:ea typeface="HGPKyokashotai" panose="02020600040205080304" pitchFamily="18" charset="-128"/>
              </a:rPr>
              <a:t>. </a:t>
            </a:r>
          </a:p>
          <a:p>
            <a:pPr fontAlgn="base"/>
            <a:r>
              <a:rPr lang="ko-KR" altLang="en-US" dirty="0">
                <a:solidFill>
                  <a:srgbClr val="00B050"/>
                </a:solidFill>
                <a:latin typeface="HGPKyokashotai" panose="02020600040205080304" pitchFamily="18" charset="-128"/>
              </a:rPr>
              <a:t>또한 교실 활동과 교재를 사용하여 이루어지는 학습을 분석하고</a:t>
            </a:r>
            <a:r>
              <a:rPr lang="en-US" altLang="ko-KR" dirty="0">
                <a:solidFill>
                  <a:srgbClr val="00B050"/>
                </a:solidFill>
                <a:latin typeface="HGPKyokashotai" panose="02020600040205080304" pitchFamily="18" charset="-128"/>
                <a:ea typeface="HGPKyokashotai" panose="02020600040205080304" pitchFamily="18" charset="-128"/>
              </a:rPr>
              <a:t>, </a:t>
            </a:r>
            <a:r>
              <a:rPr lang="ko-KR" altLang="en-US" dirty="0">
                <a:solidFill>
                  <a:srgbClr val="00B050"/>
                </a:solidFill>
                <a:latin typeface="HGPKyokashotai" panose="02020600040205080304" pitchFamily="18" charset="-128"/>
              </a:rPr>
              <a:t>디자인하는 능력을 육성하는 것을 목표로 한다</a:t>
            </a:r>
            <a:r>
              <a:rPr lang="en-US" altLang="ko-KR" dirty="0">
                <a:solidFill>
                  <a:srgbClr val="00B050"/>
                </a:solidFill>
                <a:latin typeface="HGPKyokashotai" panose="02020600040205080304" pitchFamily="18" charset="-128"/>
                <a:ea typeface="HGPKyokashotai" panose="02020600040205080304" pitchFamily="18" charset="-128"/>
              </a:rPr>
              <a:t>.</a:t>
            </a:r>
            <a:endParaRPr lang="en-US" altLang="ja-JP" dirty="0">
              <a:latin typeface="HGPKyokashotai" panose="02020600040205080304" pitchFamily="18" charset="-128"/>
              <a:ea typeface="HGPKyokashotai" panose="02020600040205080304" pitchFamily="18" charset="-128"/>
            </a:endParaRPr>
          </a:p>
          <a:p>
            <a:endParaRPr lang="en-US" altLang="ko-K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E2CFF3-A20D-8C63-BDE6-2CAA6557F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学習目標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D0BD0B-0D16-912E-5679-CB1628622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lvl="0" indent="-342900" algn="just" latinLnBrk="1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ja-JP" altLang="ko-KR" kern="100" dirty="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日本語学習者の言語習得過程の視点から日本語の学習法・指導法について基本的な事項を理解し、実際の教室活動に適用する訓練を通して日本語学習・教授能力を養成する。</a:t>
            </a:r>
            <a:endParaRPr lang="ko-KR" altLang="ko-KR" kern="100" dirty="0">
              <a:effectLst/>
              <a:latin typeface="MS PGothic" panose="020B0600070205080204" pitchFamily="34" charset="-128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ko-KR" altLang="en-US" dirty="0">
                <a:solidFill>
                  <a:srgbClr val="00B050"/>
                </a:solidFill>
              </a:rPr>
              <a:t>일본어 학습자의 언어습득과정의 시점을 통해 일본어 학습법</a:t>
            </a:r>
            <a:r>
              <a:rPr lang="en-US" altLang="ko-KR" dirty="0">
                <a:solidFill>
                  <a:srgbClr val="00B050"/>
                </a:solidFill>
              </a:rPr>
              <a:t>, </a:t>
            </a:r>
            <a:r>
              <a:rPr lang="ko-KR" altLang="en-US" dirty="0">
                <a:solidFill>
                  <a:srgbClr val="00B050"/>
                </a:solidFill>
              </a:rPr>
              <a:t>지도법의 기본적인 사항을 이해하고</a:t>
            </a:r>
            <a:r>
              <a:rPr lang="en-US" altLang="ko-KR" dirty="0">
                <a:solidFill>
                  <a:srgbClr val="00B050"/>
                </a:solidFill>
              </a:rPr>
              <a:t>, </a:t>
            </a:r>
            <a:r>
              <a:rPr lang="ko-KR" altLang="en-US" dirty="0">
                <a:solidFill>
                  <a:srgbClr val="00B050"/>
                </a:solidFill>
              </a:rPr>
              <a:t>실제 교실 활동에 적용해보는 훈련을 통해 일본어 학습 및 교육 능력을 양성한다</a:t>
            </a:r>
            <a:r>
              <a:rPr lang="en-US" altLang="ko-KR" dirty="0">
                <a:solidFill>
                  <a:srgbClr val="00B050"/>
                </a:solidFill>
              </a:rPr>
              <a:t>.</a:t>
            </a:r>
            <a:endParaRPr lang="ko-KR" alt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4336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授業の資料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85000" lnSpcReduction="10000"/>
          </a:bodyPr>
          <a:lstStyle/>
          <a:p>
            <a:pPr>
              <a:defRPr/>
            </a:pPr>
            <a:r>
              <a:rPr lang="ja-JP" altLang="en-US" dirty="0"/>
              <a:t>毎回講義資料をアップロードする。</a:t>
            </a:r>
            <a:endParaRPr lang="en-US" altLang="ja-JP" dirty="0"/>
          </a:p>
          <a:p>
            <a:pPr marL="0" indent="0">
              <a:buNone/>
              <a:defRPr/>
            </a:pPr>
            <a:r>
              <a:rPr lang="ja-JP" altLang="en-US" dirty="0"/>
              <a:t>　　</a:t>
            </a:r>
            <a:r>
              <a:rPr lang="ko-KR" altLang="en-US" dirty="0">
                <a:solidFill>
                  <a:srgbClr val="00B050"/>
                </a:solidFill>
              </a:rPr>
              <a:t>매회 강의자료를 업로드함</a:t>
            </a:r>
            <a:r>
              <a:rPr lang="en-US" altLang="ko-KR" dirty="0">
                <a:solidFill>
                  <a:srgbClr val="00B050"/>
                </a:solidFill>
              </a:rPr>
              <a:t>.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S PGothic" panose="020B0600070205080204" pitchFamily="34" charset="-128"/>
                <a:ea typeface="맑은 고딕" panose="020B0503020000020004" pitchFamily="50" charset="-127"/>
                <a:cs typeface="+mn-cs"/>
              </a:rPr>
              <a:t> 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参考文献</a:t>
            </a:r>
            <a:endParaRPr lang="en-US" altLang="ja-JP" dirty="0"/>
          </a:p>
          <a:p>
            <a:r>
              <a:rPr lang="ja-JP" altLang="en-US" dirty="0"/>
              <a:t>岡崎眸・岡崎敏雄（２００１）「日本語教育における学習の分析とデザイン」凡人社</a:t>
            </a:r>
            <a:endParaRPr lang="en-US" altLang="ja-JP" dirty="0"/>
          </a:p>
          <a:p>
            <a:r>
              <a:rPr lang="ja-JP" altLang="en-US" dirty="0"/>
              <a:t>日本語教育学会</a:t>
            </a:r>
            <a:r>
              <a:rPr lang="en-US" altLang="ja-JP" dirty="0"/>
              <a:t>(</a:t>
            </a:r>
            <a:r>
              <a:rPr lang="ja-JP" altLang="en-US" dirty="0"/>
              <a:t>２００５）</a:t>
            </a:r>
            <a:r>
              <a:rPr lang="en-US" altLang="ja-JP" dirty="0"/>
              <a:t>『</a:t>
            </a:r>
            <a:r>
              <a:rPr lang="ja-JP" altLang="en-US" dirty="0"/>
              <a:t>新版日本語教育事典</a:t>
            </a:r>
            <a:r>
              <a:rPr lang="en-US" altLang="ja-JP" dirty="0"/>
              <a:t>』</a:t>
            </a:r>
            <a:r>
              <a:rPr lang="ja-JP" altLang="en-US" dirty="0"/>
              <a:t>大修館書店</a:t>
            </a:r>
            <a:endParaRPr lang="en-US" altLang="ja-JP" dirty="0"/>
          </a:p>
          <a:p>
            <a:r>
              <a:rPr lang="ja-JP" altLang="en-US" dirty="0"/>
              <a:t>小池生夫他（２００３）　</a:t>
            </a:r>
            <a:r>
              <a:rPr lang="en-US" altLang="ja-JP" dirty="0"/>
              <a:t>『</a:t>
            </a:r>
            <a:r>
              <a:rPr lang="ja-JP" altLang="en-US" dirty="0"/>
              <a:t>応用言語学事典</a:t>
            </a:r>
            <a:r>
              <a:rPr lang="en-US" altLang="ja-JP" dirty="0"/>
              <a:t>』</a:t>
            </a:r>
            <a:r>
              <a:rPr lang="ja-JP" altLang="en-US" dirty="0"/>
              <a:t>研究社</a:t>
            </a:r>
            <a:endParaRPr lang="en-US" altLang="ja-JP" dirty="0"/>
          </a:p>
          <a:p>
            <a:r>
              <a:rPr lang="ja-JP" altLang="en-US" dirty="0"/>
              <a:t>名島義直他（</a:t>
            </a:r>
            <a:r>
              <a:rPr lang="en-US" altLang="ja-JP" dirty="0"/>
              <a:t>2015</a:t>
            </a:r>
            <a:r>
              <a:rPr lang="ja-JP" altLang="en-US" dirty="0"/>
              <a:t>）</a:t>
            </a:r>
            <a:r>
              <a:rPr lang="en-US" altLang="ja-JP" dirty="0"/>
              <a:t>『</a:t>
            </a:r>
            <a:r>
              <a:rPr lang="ja-JP" altLang="en-US" dirty="0"/>
              <a:t>日本語教育学のデザインーその地と図を描く</a:t>
            </a:r>
            <a:r>
              <a:rPr lang="en-US" altLang="ja-JP" dirty="0"/>
              <a:t>』</a:t>
            </a:r>
            <a:r>
              <a:rPr lang="ja-JP" altLang="en-US" dirty="0"/>
              <a:t>コミュニケーションアーツ株式会社</a:t>
            </a:r>
            <a:endParaRPr lang="en-US" altLang="ja-JP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FB0F3B-4C1D-B1FE-E153-E0353C2CF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/>
          </a:bodyPr>
          <a:lstStyle/>
          <a:p>
            <a:r>
              <a:rPr lang="ko-KR" altLang="ko-KR" sz="3600" b="1" dirty="0"/>
              <a:t>손쉽게 배우는 융합 일본어 수업 디자인</a:t>
            </a:r>
            <a:endParaRPr lang="ko-KR" altLang="en-US" sz="3600" dirty="0"/>
          </a:p>
        </p:txBody>
      </p:sp>
      <p:pic>
        <p:nvPicPr>
          <p:cNvPr id="4" name="내용 개체 틀 3" descr="손쉽게 배우는 융합 일본어 수업 디자인 - 교보문고">
            <a:extLst>
              <a:ext uri="{FF2B5EF4-FFF2-40B4-BE49-F238E27FC236}">
                <a16:creationId xmlns:a16="http://schemas.microsoft.com/office/drawing/2014/main" id="{F420427A-D9DA-8BBE-964C-FA5480F6E1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3609" y="1600200"/>
            <a:ext cx="3528392" cy="45259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E8C3C0-7CFF-7036-0DBA-868796EA1A12}"/>
              </a:ext>
            </a:extLst>
          </p:cNvPr>
          <p:cNvSpPr txBox="1"/>
          <p:nvPr/>
        </p:nvSpPr>
        <p:spPr>
          <a:xfrm>
            <a:off x="4644008" y="1720840"/>
            <a:ext cx="424847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i="0" dirty="0">
                <a:solidFill>
                  <a:schemeClr val="tx1"/>
                </a:solidFill>
                <a:effectLst/>
                <a:latin typeface="+mn-lt"/>
              </a:rPr>
              <a:t>2026</a:t>
            </a:r>
            <a:r>
              <a:rPr lang="ko-KR" altLang="en-US" sz="1800" b="1" i="0" dirty="0">
                <a:solidFill>
                  <a:schemeClr val="tx1"/>
                </a:solidFill>
                <a:effectLst/>
                <a:latin typeface="+mn-lt"/>
              </a:rPr>
              <a:t>년 솔과학출판사</a:t>
            </a:r>
            <a:endParaRPr lang="en-US" altLang="ko-KR" sz="1800" b="1" i="0" dirty="0">
              <a:solidFill>
                <a:schemeClr val="tx1"/>
              </a:solidFill>
              <a:effectLst/>
              <a:latin typeface="+mn-lt"/>
            </a:endParaRPr>
          </a:p>
          <a:p>
            <a:endParaRPr lang="en-US" altLang="ko-KR" sz="1800" b="1" i="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ko-KR" altLang="en-US" b="1" dirty="0">
                <a:highlight>
                  <a:srgbClr val="FFFF00"/>
                </a:highlight>
              </a:rPr>
              <a:t>저자</a:t>
            </a:r>
            <a:r>
              <a:rPr lang="en-US" altLang="ko-KR" b="1" dirty="0"/>
              <a:t>: </a:t>
            </a:r>
            <a:r>
              <a:rPr lang="ko-KR" altLang="en-US" sz="1800" b="1" i="0" dirty="0">
                <a:solidFill>
                  <a:schemeClr val="tx1"/>
                </a:solidFill>
                <a:effectLst/>
                <a:latin typeface="+mn-lt"/>
              </a:rPr>
              <a:t>조영남</a:t>
            </a:r>
            <a:r>
              <a:rPr lang="en-US" altLang="ko-KR" sz="1800" b="1" i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ko-KR" altLang="ko-KR" sz="1800" b="1" i="0" dirty="0">
                <a:solidFill>
                  <a:schemeClr val="tx1"/>
                </a:solidFill>
                <a:effectLst/>
                <a:latin typeface="+mn-lt"/>
              </a:rPr>
              <a:t>정영인, </a:t>
            </a:r>
            <a:r>
              <a:rPr lang="ko-KR" altLang="ko-KR" sz="1800" b="1" i="0" dirty="0" err="1">
                <a:solidFill>
                  <a:schemeClr val="tx1"/>
                </a:solidFill>
                <a:effectLst/>
                <a:latin typeface="+mn-lt"/>
              </a:rPr>
              <a:t>차승연</a:t>
            </a:r>
            <a:r>
              <a:rPr lang="ko-KR" altLang="ko-KR" sz="1800" b="1" i="0" dirty="0">
                <a:solidFill>
                  <a:schemeClr val="tx1"/>
                </a:solidFill>
                <a:effectLst/>
                <a:latin typeface="+mn-lt"/>
              </a:rPr>
              <a:t>, 신미애, 최윤영, 나카무라 유리, </a:t>
            </a:r>
            <a:r>
              <a:rPr lang="ko-KR" altLang="ko-KR" sz="1800" b="1" i="0" dirty="0" err="1">
                <a:solidFill>
                  <a:schemeClr val="tx1"/>
                </a:solidFill>
                <a:effectLst/>
                <a:latin typeface="+mn-lt"/>
              </a:rPr>
              <a:t>임태령</a:t>
            </a:r>
            <a:r>
              <a:rPr lang="ko-KR" altLang="ko-KR" sz="1800" b="1" i="0" dirty="0">
                <a:solidFill>
                  <a:schemeClr val="tx1"/>
                </a:solidFill>
                <a:effectLst/>
                <a:latin typeface="+mn-lt"/>
              </a:rPr>
              <a:t>, 이정재, </a:t>
            </a:r>
            <a:r>
              <a:rPr lang="ko-KR" altLang="ko-KR" sz="1800" b="1" i="0" dirty="0" err="1">
                <a:solidFill>
                  <a:schemeClr val="tx1"/>
                </a:solidFill>
                <a:effectLst/>
                <a:latin typeface="+mn-lt"/>
              </a:rPr>
              <a:t>이시야마</a:t>
            </a:r>
            <a:r>
              <a:rPr lang="ko-KR" altLang="ko-KR" sz="1800" b="1" i="0" dirty="0">
                <a:solidFill>
                  <a:schemeClr val="tx1"/>
                </a:solidFill>
                <a:effectLst/>
                <a:latin typeface="+mn-lt"/>
              </a:rPr>
              <a:t> 미나, 정윤서, 김지현, 김지민, </a:t>
            </a:r>
            <a:r>
              <a:rPr lang="ko-KR" altLang="ko-KR" sz="1800" b="1" i="0" dirty="0" err="1">
                <a:solidFill>
                  <a:schemeClr val="tx1"/>
                </a:solidFill>
                <a:effectLst/>
                <a:latin typeface="+mn-lt"/>
              </a:rPr>
              <a:t>도요타</a:t>
            </a:r>
            <a:r>
              <a:rPr lang="ko-KR" altLang="ko-KR" sz="1800" b="1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ko-KR" altLang="ko-KR" sz="1800" b="1" i="0" dirty="0" err="1">
                <a:solidFill>
                  <a:schemeClr val="tx1"/>
                </a:solidFill>
                <a:effectLst/>
                <a:latin typeface="+mn-lt"/>
              </a:rPr>
              <a:t>나오야</a:t>
            </a:r>
            <a:r>
              <a:rPr lang="ko-KR" altLang="ko-KR" sz="1800" b="1" i="0" dirty="0">
                <a:solidFill>
                  <a:schemeClr val="tx1"/>
                </a:solidFill>
                <a:effectLst/>
                <a:latin typeface="+mn-lt"/>
              </a:rPr>
              <a:t>, 박승우, 한승연, </a:t>
            </a:r>
            <a:r>
              <a:rPr lang="ko-KR" altLang="ko-KR" sz="1800" b="1" i="0" dirty="0" err="1">
                <a:solidFill>
                  <a:schemeClr val="tx1"/>
                </a:solidFill>
                <a:effectLst/>
                <a:latin typeface="+mn-lt"/>
              </a:rPr>
              <a:t>최이윤</a:t>
            </a:r>
            <a:r>
              <a:rPr lang="ko-KR" altLang="ko-KR" sz="1800" b="1" i="0" dirty="0">
                <a:solidFill>
                  <a:schemeClr val="tx1"/>
                </a:solidFill>
                <a:effectLst/>
                <a:latin typeface="+mn-lt"/>
              </a:rPr>
              <a:t>, 가토 </a:t>
            </a:r>
            <a:r>
              <a:rPr lang="ko-KR" altLang="ko-KR" sz="1800" b="1" i="0" dirty="0" err="1">
                <a:solidFill>
                  <a:schemeClr val="tx1"/>
                </a:solidFill>
                <a:effectLst/>
                <a:latin typeface="+mn-lt"/>
              </a:rPr>
              <a:t>아야노</a:t>
            </a:r>
            <a:r>
              <a:rPr lang="ko-KR" altLang="ko-KR" sz="1800" b="1" i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ko-KR" altLang="ko-KR" sz="1800" b="1" i="0" dirty="0" err="1">
                <a:solidFill>
                  <a:schemeClr val="tx1"/>
                </a:solidFill>
                <a:effectLst/>
                <a:latin typeface="+mn-lt"/>
              </a:rPr>
              <a:t>구효정</a:t>
            </a:r>
            <a:r>
              <a:rPr lang="ko-KR" altLang="ko-KR" sz="1800" b="1" i="0" dirty="0">
                <a:solidFill>
                  <a:schemeClr val="tx1"/>
                </a:solidFill>
                <a:effectLst/>
                <a:latin typeface="+mn-lt"/>
              </a:rPr>
              <a:t>, 이지우, </a:t>
            </a:r>
            <a:r>
              <a:rPr lang="ko-KR" altLang="ko-KR" sz="1800" b="1" i="0" dirty="0" err="1">
                <a:solidFill>
                  <a:schemeClr val="tx1"/>
                </a:solidFill>
                <a:effectLst/>
                <a:latin typeface="+mn-lt"/>
              </a:rPr>
              <a:t>위문빈</a:t>
            </a:r>
            <a:r>
              <a:rPr lang="ko-KR" altLang="ko-KR" sz="1800" b="1" i="0" dirty="0">
                <a:solidFill>
                  <a:schemeClr val="tx1"/>
                </a:solidFill>
                <a:effectLst/>
                <a:latin typeface="+mn-lt"/>
              </a:rPr>
              <a:t>, 사나다 </a:t>
            </a:r>
            <a:r>
              <a:rPr lang="ko-KR" altLang="ko-KR" sz="1800" b="1" i="0" dirty="0" err="1">
                <a:solidFill>
                  <a:schemeClr val="tx1"/>
                </a:solidFill>
                <a:effectLst/>
                <a:latin typeface="+mn-lt"/>
              </a:rPr>
              <a:t>가이류</a:t>
            </a:r>
            <a:r>
              <a:rPr lang="ko-KR" altLang="ko-KR" sz="1800" b="1" i="0" dirty="0">
                <a:solidFill>
                  <a:schemeClr val="tx1"/>
                </a:solidFill>
                <a:effectLst/>
                <a:latin typeface="+mn-lt"/>
              </a:rPr>
              <a:t>, 김성수, </a:t>
            </a:r>
            <a:r>
              <a:rPr lang="ko-KR" altLang="ko-KR" sz="1800" b="1" i="0" dirty="0" err="1">
                <a:solidFill>
                  <a:schemeClr val="tx1"/>
                </a:solidFill>
                <a:effectLst/>
                <a:latin typeface="+mn-lt"/>
              </a:rPr>
              <a:t>이찬희</a:t>
            </a:r>
            <a:r>
              <a:rPr lang="ko-KR" altLang="ko-KR" sz="1800" b="1" i="0" dirty="0">
                <a:solidFill>
                  <a:schemeClr val="tx1"/>
                </a:solidFill>
                <a:effectLst/>
                <a:latin typeface="+mn-lt"/>
              </a:rPr>
              <a:t>, 박민수, 유형민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86845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授業の流れ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7504" y="1600200"/>
            <a:ext cx="8928992" cy="4853136"/>
          </a:xfrm>
        </p:spPr>
        <p:txBody>
          <a:bodyPr>
            <a:normAutofit fontScale="62500" lnSpcReduction="20000"/>
          </a:bodyPr>
          <a:lstStyle/>
          <a:p>
            <a:r>
              <a:rPr lang="ja-JP" altLang="en-US" dirty="0"/>
              <a:t>講義とグループ会議</a:t>
            </a:r>
            <a:endParaRPr lang="en-US" altLang="ja-JP" dirty="0"/>
          </a:p>
          <a:p>
            <a:endParaRPr lang="en-US" altLang="ja-JP" dirty="0"/>
          </a:p>
          <a:p>
            <a:r>
              <a:rPr lang="en-US" altLang="ja-JP" dirty="0"/>
              <a:t>9</a:t>
            </a:r>
            <a:r>
              <a:rPr lang="ja-JP" altLang="en-US" dirty="0"/>
              <a:t>月</a:t>
            </a:r>
            <a:r>
              <a:rPr lang="en-US" altLang="ja-JP" dirty="0"/>
              <a:t>23</a:t>
            </a:r>
            <a:r>
              <a:rPr lang="ja-JP" altLang="en-US" dirty="0"/>
              <a:t>日（水）は休み（チュソク連休の前日）：動画をアップロード</a:t>
            </a:r>
            <a:endParaRPr lang="en-US" altLang="ja-JP" dirty="0"/>
          </a:p>
          <a:p>
            <a:endParaRPr lang="en-US" altLang="ja-JP" dirty="0"/>
          </a:p>
          <a:p>
            <a:r>
              <a:rPr lang="en-US" altLang="ja-JP" dirty="0"/>
              <a:t>10</a:t>
            </a:r>
            <a:r>
              <a:rPr lang="ja-JP" altLang="en-US" dirty="0"/>
              <a:t>月</a:t>
            </a:r>
            <a:r>
              <a:rPr lang="en-US" altLang="ja-JP" dirty="0"/>
              <a:t>5</a:t>
            </a:r>
            <a:r>
              <a:rPr lang="ja-JP" altLang="en-US" dirty="0"/>
              <a:t>日（月）は日本の大学生とのオンライン授業（</a:t>
            </a:r>
            <a:r>
              <a:rPr lang="en-US" altLang="ja-JP" dirty="0"/>
              <a:t>12</a:t>
            </a:r>
            <a:r>
              <a:rPr lang="ja-JP" altLang="en-US" dirty="0"/>
              <a:t>月４日金曜日　１０時４０分－１２時１０分）に代替し、この日は休講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中間テスト期間：</a:t>
            </a:r>
            <a:r>
              <a:rPr lang="en-US" altLang="ja-JP" dirty="0"/>
              <a:t>10</a:t>
            </a:r>
            <a:r>
              <a:rPr lang="ja-JP" altLang="en-US" dirty="0"/>
              <a:t>月</a:t>
            </a:r>
            <a:r>
              <a:rPr lang="en-US" altLang="ja-JP" dirty="0"/>
              <a:t>26</a:t>
            </a:r>
            <a:r>
              <a:rPr lang="ja-JP" altLang="en-US" dirty="0"/>
              <a:t>日（月曜日）：授業実施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　　　　　　　　　　　　（</a:t>
            </a:r>
            <a:r>
              <a:rPr lang="en-US" altLang="ja-JP" dirty="0"/>
              <a:t>10</a:t>
            </a:r>
            <a:r>
              <a:rPr lang="ja-JP" altLang="en-US" dirty="0"/>
              <a:t>月</a:t>
            </a:r>
            <a:r>
              <a:rPr lang="en-US" altLang="ja-JP" dirty="0"/>
              <a:t>21</a:t>
            </a:r>
            <a:r>
              <a:rPr lang="ja-JP" altLang="en-US" dirty="0"/>
              <a:t>日（水）休み）、中間テストは無し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r>
              <a:rPr lang="ko-Kore-KR" altLang="en-US" dirty="0"/>
              <a:t>期末</a:t>
            </a:r>
            <a:r>
              <a:rPr lang="ja-JP" altLang="en-US" dirty="0"/>
              <a:t>テスト：</a:t>
            </a:r>
            <a:r>
              <a:rPr lang="en-US" altLang="ja-JP" dirty="0"/>
              <a:t>12</a:t>
            </a:r>
            <a:r>
              <a:rPr lang="ko-Kore-KR" altLang="en-US" dirty="0"/>
              <a:t>月</a:t>
            </a:r>
            <a:r>
              <a:rPr lang="en-US" altLang="ko-Kore-KR" dirty="0"/>
              <a:t>1</a:t>
            </a:r>
            <a:r>
              <a:rPr lang="en-US" altLang="ja-JP" dirty="0"/>
              <a:t>6</a:t>
            </a:r>
            <a:r>
              <a:rPr lang="ko-Kore-KR" altLang="en-US" dirty="0"/>
              <a:t>日</a:t>
            </a:r>
            <a:r>
              <a:rPr lang="ja-JP" altLang="en-US" dirty="0"/>
              <a:t>（水曜日）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　　　　　　　　（</a:t>
            </a:r>
            <a:r>
              <a:rPr lang="en-US" altLang="ja-JP" dirty="0"/>
              <a:t>12</a:t>
            </a:r>
            <a:r>
              <a:rPr lang="ja-JP" altLang="en-US" dirty="0"/>
              <a:t>月</a:t>
            </a:r>
            <a:r>
              <a:rPr lang="en-US" altLang="ja-JP" dirty="0"/>
              <a:t>14</a:t>
            </a:r>
            <a:r>
              <a:rPr lang="ja-JP" altLang="en-US" dirty="0"/>
              <a:t>日（月）は休み）</a:t>
            </a:r>
            <a:endParaRPr lang="en-US" altLang="ja-JP" dirty="0"/>
          </a:p>
          <a:p>
            <a:endParaRPr lang="en-US" altLang="ja-JP" dirty="0"/>
          </a:p>
          <a:p>
            <a:r>
              <a:rPr lang="en-US" altLang="ja-JP" dirty="0"/>
              <a:t>11</a:t>
            </a:r>
            <a:r>
              <a:rPr lang="ja-JP" altLang="en-US" dirty="0"/>
              <a:t>月２３日</a:t>
            </a:r>
            <a:r>
              <a:rPr lang="ja-JP" altLang="en-US"/>
              <a:t>（月から</a:t>
            </a:r>
            <a:r>
              <a:rPr lang="ja-JP" altLang="en-US" dirty="0"/>
              <a:t>模擬授業（４人</a:t>
            </a:r>
            <a:r>
              <a:rPr lang="en-US" altLang="ja-JP" dirty="0"/>
              <a:t>~</a:t>
            </a:r>
            <a:r>
              <a:rPr lang="ja-JP" altLang="en-US" dirty="0"/>
              <a:t>５</a:t>
            </a:r>
            <a:r>
              <a:rPr lang="ko-Kore-KR" altLang="en-US" dirty="0"/>
              <a:t>人</a:t>
            </a:r>
            <a:r>
              <a:rPr lang="ja-JP" altLang="en-US" dirty="0"/>
              <a:t>）：一人当たり５分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r>
              <a:rPr lang="ja-JP" altLang="en-US" dirty="0"/>
              <a:t>冬休み～</a:t>
            </a:r>
            <a:endParaRPr lang="en-US" altLang="ja-JP" dirty="0"/>
          </a:p>
          <a:p>
            <a:endParaRPr lang="en-US" altLang="ja-JP" dirty="0"/>
          </a:p>
          <a:p>
            <a:pPr>
              <a:buNone/>
            </a:pPr>
            <a:endParaRPr lang="en-US" altLang="ja-JP" dirty="0"/>
          </a:p>
          <a:p>
            <a:endParaRPr lang="en-US" altLang="ja-JP" dirty="0"/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講義内容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41168"/>
          </a:xfrm>
        </p:spPr>
        <p:txBody>
          <a:bodyPr>
            <a:normAutofit fontScale="85000" lnSpcReduction="20000"/>
          </a:bodyPr>
          <a:lstStyle/>
          <a:p>
            <a:r>
              <a:rPr lang="ja-JP" altLang="en-US" dirty="0"/>
              <a:t>授業に活用できる第２言語習得研究の成果</a:t>
            </a:r>
            <a:endParaRPr lang="en-US" altLang="ja-JP" dirty="0"/>
          </a:p>
          <a:p>
            <a:pPr>
              <a:buNone/>
            </a:pPr>
            <a:r>
              <a:rPr lang="ja-JP" altLang="en-US" dirty="0"/>
              <a:t>　</a:t>
            </a:r>
            <a:endParaRPr lang="en-US" altLang="ja-JP" dirty="0"/>
          </a:p>
          <a:p>
            <a:r>
              <a:rPr lang="ja-JP" altLang="en-US" dirty="0"/>
              <a:t>話すプロセス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書くプロセス</a:t>
            </a:r>
            <a:endParaRPr lang="en-US" altLang="ja-JP" dirty="0"/>
          </a:p>
          <a:p>
            <a:endParaRPr lang="en-US" altLang="ja-JP" dirty="0"/>
          </a:p>
          <a:p>
            <a:r>
              <a:rPr lang="ko-KR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模擬授業の</a:t>
            </a: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</a:rPr>
              <a:t>PPT</a:t>
            </a:r>
            <a:r>
              <a:rPr lang="ko-KR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資料と学習指導案の事例</a:t>
            </a:r>
            <a:r>
              <a:rPr lang="ja-JP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　　　　　　　　　　　　　　</a:t>
            </a:r>
            <a:endParaRPr lang="en-US" altLang="ja-JP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pPr marL="0" indent="0">
              <a:buNone/>
            </a:pP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</a:rPr>
              <a:t>    (</a:t>
            </a:r>
            <a:r>
              <a:rPr lang="ko-KR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모의수업 </a:t>
            </a: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</a:rPr>
              <a:t>PPT </a:t>
            </a:r>
            <a:r>
              <a:rPr lang="ko-KR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자료와 학습지도안 사례</a:t>
            </a:r>
            <a:r>
              <a:rPr lang="en-US" altLang="ko-KR" dirty="0">
                <a:latin typeface="MS PGothic" panose="020B0600070205080204" pitchFamily="34" charset="-128"/>
                <a:ea typeface="MS PGothic" panose="020B0600070205080204" pitchFamily="34" charset="-128"/>
              </a:rPr>
              <a:t>)</a:t>
            </a:r>
          </a:p>
          <a:p>
            <a:pPr>
              <a:buNone/>
            </a:pPr>
            <a:endParaRPr lang="en-US" altLang="ko-KR" dirty="0"/>
          </a:p>
          <a:p>
            <a:r>
              <a:rPr lang="ja-JP" altLang="en-US" dirty="0"/>
              <a:t>読むプロセス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聞くプロセス</a:t>
            </a:r>
            <a:endParaRPr lang="en-US" altLang="ja-JP" dirty="0"/>
          </a:p>
          <a:p>
            <a:endParaRPr lang="en-US" altLang="ja-JP" dirty="0"/>
          </a:p>
          <a:p>
            <a:pPr marL="0" indent="0">
              <a:buNone/>
            </a:pPr>
            <a:endParaRPr lang="ko-KR" altLang="en-US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endParaRPr lang="en-US" altLang="ko-KR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模擬授業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ja-JP" altLang="en-US" dirty="0"/>
              <a:t>形態：４</a:t>
            </a:r>
            <a:r>
              <a:rPr lang="en-US" altLang="ko-Kore-KR" dirty="0"/>
              <a:t>〜</a:t>
            </a:r>
            <a:r>
              <a:rPr lang="ja-JP" altLang="en-US" dirty="0"/>
              <a:t>５人で共同作業</a:t>
            </a:r>
            <a:endParaRPr lang="en-US" altLang="ja-JP" dirty="0"/>
          </a:p>
          <a:p>
            <a:r>
              <a:rPr lang="ja-JP" altLang="en-US" dirty="0"/>
              <a:t>学習指導案の作成（韓国語で作成）</a:t>
            </a:r>
            <a:endParaRPr lang="en-US" altLang="ja-JP" dirty="0"/>
          </a:p>
          <a:p>
            <a:r>
              <a:rPr lang="ja-JP" altLang="en-US" dirty="0"/>
              <a:t>発表言語、</a:t>
            </a:r>
            <a:r>
              <a:rPr lang="en-US" altLang="ja-JP" dirty="0"/>
              <a:t>PPT</a:t>
            </a:r>
            <a:r>
              <a:rPr lang="ja-JP" altLang="en-US" dirty="0"/>
              <a:t>：日本語</a:t>
            </a:r>
            <a:endParaRPr lang="en-US" altLang="ja-JP" dirty="0"/>
          </a:p>
          <a:p>
            <a:r>
              <a:rPr lang="ja-JP" altLang="en-US" dirty="0"/>
              <a:t>時間：</a:t>
            </a:r>
            <a:r>
              <a:rPr lang="en-US" altLang="ja-JP" dirty="0"/>
              <a:t>20</a:t>
            </a:r>
            <a:r>
              <a:rPr lang="ja-JP" altLang="en-US" dirty="0"/>
              <a:t>分</a:t>
            </a:r>
            <a:r>
              <a:rPr lang="en-US" altLang="ko-Kore-KR" dirty="0"/>
              <a:t>〜 </a:t>
            </a:r>
            <a:r>
              <a:rPr lang="en-US" altLang="ja-JP" dirty="0"/>
              <a:t>25</a:t>
            </a:r>
            <a:r>
              <a:rPr lang="ja-JP" altLang="en-US" dirty="0"/>
              <a:t>分（一人</a:t>
            </a:r>
            <a:r>
              <a:rPr lang="en-US" altLang="ja-JP" dirty="0"/>
              <a:t>5</a:t>
            </a:r>
            <a:r>
              <a:rPr lang="ja-JP" altLang="en-US" dirty="0"/>
              <a:t>分ずつ）</a:t>
            </a:r>
            <a:endParaRPr lang="en-US" altLang="ja-JP" dirty="0"/>
          </a:p>
          <a:p>
            <a:pPr marL="0" indent="0">
              <a:buNone/>
            </a:pPr>
            <a:endParaRPr lang="en-US" altLang="ko-KR" dirty="0"/>
          </a:p>
          <a:p>
            <a:r>
              <a:rPr lang="ja-JP" altLang="en-US" dirty="0"/>
              <a:t>対象：日本語を習う中学、高校生を対象</a:t>
            </a:r>
            <a:endParaRPr lang="en-US" altLang="ja-JP" dirty="0"/>
          </a:p>
          <a:p>
            <a:r>
              <a:rPr lang="ja-JP" altLang="en-US" dirty="0"/>
              <a:t>学習項目は自由</a:t>
            </a:r>
            <a:endParaRPr lang="en-US" altLang="ja-JP" dirty="0"/>
          </a:p>
          <a:p>
            <a:pPr>
              <a:buNone/>
            </a:pPr>
            <a:r>
              <a:rPr lang="ja-JP" altLang="en-US" dirty="0"/>
              <a:t>　　</a:t>
            </a:r>
            <a:r>
              <a:rPr lang="en-US" altLang="ja-JP" dirty="0"/>
              <a:t>(</a:t>
            </a:r>
            <a:r>
              <a:rPr lang="ja-JP" altLang="en-US" dirty="0"/>
              <a:t>文字、発音、文法、会話、聴解、読解、作文などの枠組みで具体的に提示すること）</a:t>
            </a:r>
            <a:endParaRPr lang="ko-KR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CF15D4-4B5D-401C-9EF7-D2641E075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DE5161-90E7-D82B-AA9A-E20882B22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altLang="ja-JP" dirty="0"/>
          </a:p>
          <a:p>
            <a:pPr algn="ctr"/>
            <a:endParaRPr lang="en-US" altLang="ja-JP" dirty="0"/>
          </a:p>
          <a:p>
            <a:pPr marL="0" indent="0" algn="ctr">
              <a:buNone/>
            </a:pPr>
            <a:r>
              <a:rPr lang="ja-JP" altLang="en-US" dirty="0"/>
              <a:t>終わり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19472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</TotalTime>
  <Words>578</Words>
  <Application>Microsoft Office PowerPoint</Application>
  <PresentationFormat>화면 슬라이드 쇼(4:3)</PresentationFormat>
  <Paragraphs>66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HGPKyokashotai</vt:lpstr>
      <vt:lpstr>MS PGothic</vt:lpstr>
      <vt:lpstr>MS PGothic</vt:lpstr>
      <vt:lpstr>맑은 고딕</vt:lpstr>
      <vt:lpstr>Arial</vt:lpstr>
      <vt:lpstr>Office 테마</vt:lpstr>
      <vt:lpstr>日本語教科教材研究及び指導法</vt:lpstr>
      <vt:lpstr>授業の概要</vt:lpstr>
      <vt:lpstr>学習目標</vt:lpstr>
      <vt:lpstr>授業の資料</vt:lpstr>
      <vt:lpstr>손쉽게 배우는 융합 일본어 수업 디자인</vt:lpstr>
      <vt:lpstr>授業の流れ</vt:lpstr>
      <vt:lpstr>講義内容</vt:lpstr>
      <vt:lpstr>模擬授業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日本語教材研究及び指導法</dc:title>
  <dc:creator>user</dc:creator>
  <cp:lastModifiedBy>영남 조</cp:lastModifiedBy>
  <cp:revision>95</cp:revision>
  <cp:lastPrinted>2020-08-31T04:09:35Z</cp:lastPrinted>
  <dcterms:created xsi:type="dcterms:W3CDTF">2010-08-30T06:59:56Z</dcterms:created>
  <dcterms:modified xsi:type="dcterms:W3CDTF">2026-09-01T00:22:44Z</dcterms:modified>
</cp:coreProperties>
</file>