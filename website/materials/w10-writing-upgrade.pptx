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2" r:id="rId6"/>
    <p:sldId id="260" r:id="rId7"/>
    <p:sldId id="261" r:id="rId8"/>
    <p:sldId id="262" r:id="rId9"/>
    <p:sldId id="287" r:id="rId10"/>
    <p:sldId id="284" r:id="rId11"/>
    <p:sldId id="285" r:id="rId12"/>
    <p:sldId id="283" r:id="rId13"/>
    <p:sldId id="286" r:id="rId14"/>
    <p:sldId id="288" r:id="rId15"/>
    <p:sldId id="289" r:id="rId16"/>
    <p:sldId id="290" r:id="rId17"/>
    <p:sldId id="291" r:id="rId18"/>
    <p:sldId id="292" r:id="rId19"/>
    <p:sldId id="293" r:id="rId20"/>
    <p:sldId id="294" r:id="rId21"/>
    <p:sldId id="299" r:id="rId22"/>
    <p:sldId id="295" r:id="rId23"/>
    <p:sldId id="296" r:id="rId24"/>
    <p:sldId id="298" r:id="rId25"/>
    <p:sldId id="297"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1" r:id="rId44"/>
    <p:sldId id="280" r:id="rId45"/>
  </p:sldIdLst>
  <p:sldSz cx="9144000" cy="6858000" type="screen4x3"/>
  <p:notesSz cx="9144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280"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0AAB676-2082-4247-9465-50EE092FC528}"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684F1F-A0BA-46C1-8BB6-ACBDCAD72F7A}" type="datetimeFigureOut">
              <a:rPr lang="ko-KR" altLang="en-US" smtClean="0"/>
              <a:pPr/>
              <a:t>2025-10-06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AAB676-2082-4247-9465-50EE092FC528}"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ja-JP" altLang="en-US" b="1" dirty="0">
                <a:solidFill>
                  <a:schemeClr val="accent6"/>
                </a:solidFill>
              </a:rPr>
              <a:t>書くこと</a:t>
            </a:r>
            <a:r>
              <a:rPr lang="en-US" altLang="ja-JP" b="1" dirty="0">
                <a:solidFill>
                  <a:schemeClr val="accent6"/>
                </a:solidFill>
              </a:rPr>
              <a:t>: </a:t>
            </a:r>
            <a:r>
              <a:rPr lang="ja-JP" altLang="en-US" b="1" dirty="0">
                <a:solidFill>
                  <a:schemeClr val="accent6"/>
                </a:solidFill>
              </a:rPr>
              <a:t>作文</a:t>
            </a:r>
            <a:endParaRPr lang="ko-KR" altLang="en-US" b="1" dirty="0">
              <a:solidFill>
                <a:schemeClr val="accent6"/>
              </a:solidFill>
            </a:endParaRPr>
          </a:p>
        </p:txBody>
      </p:sp>
      <p:sp>
        <p:nvSpPr>
          <p:cNvPr id="3" name="부제목 2"/>
          <p:cNvSpPr>
            <a:spLocks noGrp="1"/>
          </p:cNvSpPr>
          <p:nvPr>
            <p:ph type="subTitle" idx="1"/>
          </p:nvPr>
        </p:nvSpPr>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作文教育と言語教育</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solidFill>
                  <a:srgbClr val="00B050"/>
                </a:solidFill>
              </a:rPr>
              <a:t>第</a:t>
            </a:r>
            <a:r>
              <a:rPr lang="en-US" altLang="ja-JP" dirty="0">
                <a:solidFill>
                  <a:srgbClr val="00B050"/>
                </a:solidFill>
              </a:rPr>
              <a:t>1</a:t>
            </a:r>
            <a:r>
              <a:rPr lang="ja-JP" altLang="en-US" dirty="0">
                <a:solidFill>
                  <a:srgbClr val="00B050"/>
                </a:solidFill>
              </a:rPr>
              <a:t>言語の場合</a:t>
            </a:r>
            <a:endParaRPr lang="en-US" altLang="ja-JP" dirty="0">
              <a:solidFill>
                <a:srgbClr val="00B050"/>
              </a:solidFill>
            </a:endParaRPr>
          </a:p>
          <a:p>
            <a:pPr>
              <a:buNone/>
            </a:pPr>
            <a:r>
              <a:rPr lang="ja-JP" altLang="en-US" dirty="0"/>
              <a:t>　ー</a:t>
            </a:r>
            <a:r>
              <a:rPr lang="ja-JP" altLang="en-US" dirty="0">
                <a:solidFill>
                  <a:srgbClr val="0070C0"/>
                </a:solidFill>
              </a:rPr>
              <a:t>十分に発達した話し言葉の能力</a:t>
            </a:r>
            <a:r>
              <a:rPr lang="ja-JP" altLang="en-US" dirty="0"/>
              <a:t>があり、その援助を受ける形で書き言葉の力は開発されていく。</a:t>
            </a:r>
            <a:endParaRPr lang="en-US" altLang="ja-JP" dirty="0"/>
          </a:p>
          <a:p>
            <a:r>
              <a:rPr lang="ja-JP" altLang="en-US" dirty="0">
                <a:solidFill>
                  <a:srgbClr val="00B050"/>
                </a:solidFill>
              </a:rPr>
              <a:t>第２言語の場合</a:t>
            </a:r>
            <a:endParaRPr lang="en-US" altLang="ja-JP" dirty="0">
              <a:solidFill>
                <a:srgbClr val="00B050"/>
              </a:solidFill>
            </a:endParaRPr>
          </a:p>
          <a:p>
            <a:pPr>
              <a:buNone/>
            </a:pPr>
            <a:r>
              <a:rPr lang="ja-JP" altLang="en-US" dirty="0"/>
              <a:t>　ー</a:t>
            </a:r>
            <a:r>
              <a:rPr lang="ja-JP" altLang="en-US" dirty="0">
                <a:solidFill>
                  <a:srgbClr val="0070C0"/>
                </a:solidFill>
              </a:rPr>
              <a:t>第１言語</a:t>
            </a:r>
            <a:r>
              <a:rPr lang="ja-JP" altLang="en-US" dirty="0"/>
              <a:t>で既に</a:t>
            </a:r>
            <a:r>
              <a:rPr lang="ja-JP" altLang="en-US" dirty="0">
                <a:solidFill>
                  <a:srgbClr val="0070C0"/>
                </a:solidFill>
              </a:rPr>
              <a:t>読み書きの力</a:t>
            </a:r>
            <a:r>
              <a:rPr lang="ja-JP" altLang="en-US" dirty="0"/>
              <a:t>を獲得している場合は、それが不十分な第２言語の読み書き能力を支え、その発達を促す。</a:t>
            </a:r>
            <a:r>
              <a:rPr lang="en-US" altLang="ja-JP" dirty="0"/>
              <a:t>(Cummins and Swain 1986)</a:t>
            </a:r>
          </a:p>
          <a:p>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第２言語教育における作文技能</a:t>
            </a:r>
            <a:endParaRPr lang="ko-KR" altLang="en-US" b="1" dirty="0">
              <a:solidFill>
                <a:srgbClr val="7030A0"/>
              </a:solidFill>
            </a:endParaRPr>
          </a:p>
        </p:txBody>
      </p:sp>
      <p:sp>
        <p:nvSpPr>
          <p:cNvPr id="3" name="내용 개체 틀 2"/>
          <p:cNvSpPr>
            <a:spLocks noGrp="1"/>
          </p:cNvSpPr>
          <p:nvPr>
            <p:ph idx="1"/>
          </p:nvPr>
        </p:nvSpPr>
        <p:spPr>
          <a:xfrm>
            <a:off x="142844" y="1600200"/>
            <a:ext cx="8786874" cy="5043510"/>
          </a:xfrm>
        </p:spPr>
        <p:txBody>
          <a:bodyPr/>
          <a:lstStyle/>
          <a:p>
            <a:r>
              <a:rPr lang="ja-JP" altLang="en-US" dirty="0"/>
              <a:t>第二言語における作文技能は、</a:t>
            </a:r>
            <a:r>
              <a:rPr lang="ja-JP" altLang="en-US" dirty="0">
                <a:solidFill>
                  <a:srgbClr val="0070C0"/>
                </a:solidFill>
              </a:rPr>
              <a:t>話、聴、読</a:t>
            </a:r>
            <a:r>
              <a:rPr lang="ja-JP" altLang="en-US" dirty="0"/>
              <a:t>などの言語能力自体が発達すれば半ば自</a:t>
            </a:r>
            <a:r>
              <a:rPr lang="ja-JP" altLang="en-US" dirty="0">
                <a:solidFill>
                  <a:srgbClr val="0070C0"/>
                </a:solidFill>
              </a:rPr>
              <a:t>動的に作文技能は獲得</a:t>
            </a:r>
            <a:r>
              <a:rPr lang="ja-JP" altLang="en-US" dirty="0"/>
              <a:t>されるという考えがある。</a:t>
            </a:r>
            <a:endParaRPr lang="en-US" altLang="ja-JP" dirty="0"/>
          </a:p>
          <a:p>
            <a:r>
              <a:rPr lang="ja-JP" altLang="en-US" dirty="0"/>
              <a:t>しかし第二言語で会話ができるようになればそれに伴って自然に読み書きができるようになるとは言えない。</a:t>
            </a:r>
            <a:endParaRPr lang="en-US" altLang="ja-JP" dirty="0"/>
          </a:p>
          <a:p>
            <a:r>
              <a:rPr lang="ja-JP" altLang="en-US" dirty="0">
                <a:solidFill>
                  <a:srgbClr val="0070C0"/>
                </a:solidFill>
              </a:rPr>
              <a:t>読み書き能力なし</a:t>
            </a:r>
            <a:r>
              <a:rPr lang="ja-JP" altLang="en-US" dirty="0"/>
              <a:t>に</a:t>
            </a:r>
            <a:r>
              <a:rPr lang="ja-JP" altLang="en-US" dirty="0">
                <a:solidFill>
                  <a:srgbClr val="0070C0"/>
                </a:solidFill>
              </a:rPr>
              <a:t>会話の能力を発達</a:t>
            </a:r>
            <a:r>
              <a:rPr lang="ja-JP" altLang="en-US" dirty="0"/>
              <a:t>させることは十分に可能だからである。</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したがって、</a:t>
            </a:r>
            <a:r>
              <a:rPr lang="ja-JP" altLang="en-US" dirty="0">
                <a:solidFill>
                  <a:srgbClr val="0070C0"/>
                </a:solidFill>
              </a:rPr>
              <a:t>作文技能</a:t>
            </a:r>
            <a:r>
              <a:rPr lang="ja-JP" altLang="en-US" dirty="0"/>
              <a:t>は他の言語能力とは別のものであり、</a:t>
            </a:r>
            <a:r>
              <a:rPr lang="ja-JP" altLang="en-US" dirty="0">
                <a:solidFill>
                  <a:srgbClr val="0070C0"/>
                </a:solidFill>
              </a:rPr>
              <a:t>その教育も、独自の領域をもつもの</a:t>
            </a:r>
            <a:r>
              <a:rPr lang="ja-JP" altLang="en-US" dirty="0"/>
              <a:t>として考える。</a:t>
            </a:r>
            <a:endParaRPr lang="en-US" altLang="ja-JP" dirty="0"/>
          </a:p>
          <a:p>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endParaRPr lang="en-US" altLang="ja-JP" dirty="0"/>
          </a:p>
          <a:p>
            <a:endParaRPr lang="en-US" altLang="ja-JP" dirty="0"/>
          </a:p>
          <a:p>
            <a:r>
              <a:rPr lang="ja-JP" altLang="en-US" dirty="0"/>
              <a:t>熟達した書き手と未熟な書き手の特徴はなんでしょうか。</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sz="3600" b="1" dirty="0">
                <a:solidFill>
                  <a:srgbClr val="7030A0"/>
                </a:solidFill>
              </a:rPr>
              <a:t>熟達した書き手と未熟な書き手の特徴</a:t>
            </a:r>
            <a:endParaRPr lang="ko-KR" altLang="en-US" sz="3600" b="1" dirty="0">
              <a:solidFill>
                <a:srgbClr val="7030A0"/>
              </a:solidFill>
            </a:endParaRPr>
          </a:p>
        </p:txBody>
      </p:sp>
      <p:sp>
        <p:nvSpPr>
          <p:cNvPr id="3" name="내용 개체 틀 2"/>
          <p:cNvSpPr>
            <a:spLocks noGrp="1"/>
          </p:cNvSpPr>
          <p:nvPr>
            <p:ph idx="1"/>
          </p:nvPr>
        </p:nvSpPr>
        <p:spPr/>
        <p:txBody>
          <a:bodyPr/>
          <a:lstStyle/>
          <a:p>
            <a:endParaRPr lang="en-US" altLang="ja-JP" dirty="0"/>
          </a:p>
          <a:p>
            <a:r>
              <a:rPr lang="ja-JP" altLang="en-US" dirty="0">
                <a:solidFill>
                  <a:srgbClr val="0070C0"/>
                </a:solidFill>
              </a:rPr>
              <a:t>読む絶対量</a:t>
            </a:r>
            <a:r>
              <a:rPr lang="ja-JP" altLang="en-US" dirty="0"/>
              <a:t>における違い</a:t>
            </a:r>
            <a:endParaRPr lang="en-US" altLang="ja-JP" dirty="0"/>
          </a:p>
          <a:p>
            <a:pPr>
              <a:buNone/>
            </a:pPr>
            <a:endParaRPr lang="en-US" altLang="ja-JP" dirty="0"/>
          </a:p>
          <a:p>
            <a:r>
              <a:rPr lang="ja-JP" altLang="en-US" dirty="0"/>
              <a:t>実際に</a:t>
            </a:r>
            <a:r>
              <a:rPr lang="ja-JP" altLang="en-US" dirty="0">
                <a:solidFill>
                  <a:srgbClr val="0070C0"/>
                </a:solidFill>
              </a:rPr>
              <a:t>書く過程</a:t>
            </a:r>
            <a:r>
              <a:rPr lang="ja-JP" altLang="en-US" dirty="0"/>
              <a:t>において両者がとる</a:t>
            </a:r>
            <a:r>
              <a:rPr lang="ja-JP" altLang="en-US" dirty="0">
                <a:solidFill>
                  <a:srgbClr val="0070C0"/>
                </a:solidFill>
              </a:rPr>
              <a:t>ストラテジー</a:t>
            </a:r>
            <a:endParaRPr lang="en-US" altLang="ja-JP" dirty="0">
              <a:solidFill>
                <a:srgbClr val="0070C0"/>
              </a:solidFill>
            </a:endParaRPr>
          </a:p>
          <a:p>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読む量の違い</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書き言葉</a:t>
            </a:r>
            <a:r>
              <a:rPr lang="ja-JP" altLang="en-US" dirty="0"/>
              <a:t>は、話し言葉と同じ言葉といっても、</a:t>
            </a:r>
            <a:r>
              <a:rPr lang="ja-JP" altLang="en-US" dirty="0">
                <a:solidFill>
                  <a:srgbClr val="0070C0"/>
                </a:solidFill>
              </a:rPr>
              <a:t>独自の規則</a:t>
            </a:r>
            <a:r>
              <a:rPr lang="ja-JP" altLang="en-US" dirty="0"/>
              <a:t>がそこに存在する。</a:t>
            </a:r>
            <a:endParaRPr lang="en-US" altLang="ja-JP" dirty="0"/>
          </a:p>
          <a:p>
            <a:r>
              <a:rPr lang="ja-JP" altLang="en-US" dirty="0"/>
              <a:t>例）詩には詩独自の、評論文は評論文独自が存在するー文字、文型、文章構造</a:t>
            </a:r>
            <a:endParaRPr lang="en-US" altLang="ja-JP" dirty="0"/>
          </a:p>
          <a:p>
            <a:r>
              <a:rPr lang="ja-JP" altLang="en-US" dirty="0">
                <a:solidFill>
                  <a:srgbClr val="0070C0"/>
                </a:solidFill>
              </a:rPr>
              <a:t>よく読む</a:t>
            </a:r>
            <a:r>
              <a:rPr lang="ja-JP" altLang="en-US" dirty="0"/>
              <a:t>ということは、</a:t>
            </a:r>
            <a:r>
              <a:rPr lang="ja-JP" altLang="en-US" dirty="0">
                <a:solidFill>
                  <a:srgbClr val="0070C0"/>
                </a:solidFill>
              </a:rPr>
              <a:t>読む過程</a:t>
            </a:r>
            <a:r>
              <a:rPr lang="ja-JP" altLang="en-US" dirty="0"/>
              <a:t>でこれらに接することを通して、それらを</a:t>
            </a:r>
            <a:r>
              <a:rPr lang="ja-JP" altLang="en-US" dirty="0">
                <a:solidFill>
                  <a:srgbClr val="0070C0"/>
                </a:solidFill>
              </a:rPr>
              <a:t>支配している規則</a:t>
            </a:r>
            <a:r>
              <a:rPr lang="ja-JP" altLang="en-US" dirty="0"/>
              <a:t>に触れ、意識的あるいは無意識的のうちにそれらを</a:t>
            </a:r>
            <a:r>
              <a:rPr lang="ja-JP" altLang="en-US" dirty="0">
                <a:solidFill>
                  <a:srgbClr val="0070C0"/>
                </a:solidFill>
              </a:rPr>
              <a:t>理解</a:t>
            </a:r>
            <a:r>
              <a:rPr lang="ja-JP" altLang="en-US" dirty="0"/>
              <a:t>し</a:t>
            </a:r>
            <a:r>
              <a:rPr lang="ja-JP" altLang="en-US" dirty="0">
                <a:solidFill>
                  <a:srgbClr val="0070C0"/>
                </a:solidFill>
              </a:rPr>
              <a:t>獲得</a:t>
            </a:r>
            <a:r>
              <a:rPr lang="ja-JP" altLang="en-US" dirty="0"/>
              <a:t>していくことを意味する。</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dirty="0">
                <a:solidFill>
                  <a:srgbClr val="0070C0"/>
                </a:solidFill>
              </a:rPr>
              <a:t>よく読むこと</a:t>
            </a:r>
            <a:r>
              <a:rPr lang="ja-JP" altLang="en-US" dirty="0"/>
              <a:t>は</a:t>
            </a:r>
            <a:r>
              <a:rPr lang="ja-JP" altLang="en-US" dirty="0">
                <a:solidFill>
                  <a:srgbClr val="0070C0"/>
                </a:solidFill>
              </a:rPr>
              <a:t>熟達した書き手</a:t>
            </a:r>
            <a:r>
              <a:rPr lang="ja-JP" altLang="en-US" dirty="0"/>
              <a:t>になるための</a:t>
            </a:r>
            <a:r>
              <a:rPr lang="ja-JP" altLang="en-US" dirty="0">
                <a:solidFill>
                  <a:srgbClr val="0070C0"/>
                </a:solidFill>
              </a:rPr>
              <a:t>必要条件</a:t>
            </a:r>
            <a:r>
              <a:rPr lang="ja-JP" altLang="en-US" dirty="0"/>
              <a:t>であり、熟達した書き手が未熟な書き手に比べて読む量が多い。</a:t>
            </a:r>
            <a:endParaRPr lang="en-US" altLang="ja-JP" dirty="0"/>
          </a:p>
          <a:p>
            <a:endParaRPr lang="en-US" altLang="ko-KR" dirty="0"/>
          </a:p>
          <a:p>
            <a:r>
              <a:rPr lang="ja-JP" altLang="en-US" dirty="0">
                <a:solidFill>
                  <a:srgbClr val="FF0000"/>
                </a:solidFill>
              </a:rPr>
              <a:t>課題１</a:t>
            </a:r>
            <a:endParaRPr lang="en-US" altLang="ja-JP" dirty="0">
              <a:solidFill>
                <a:srgbClr val="FF0000"/>
              </a:solidFill>
            </a:endParaRPr>
          </a:p>
          <a:p>
            <a:pPr marL="0" indent="0">
              <a:buNone/>
            </a:pPr>
            <a:r>
              <a:rPr lang="ja-JP" altLang="en-US" dirty="0"/>
              <a:t>にほんごたどく</a:t>
            </a:r>
            <a:endParaRPr lang="en-US" altLang="ja-JP" dirty="0"/>
          </a:p>
          <a:p>
            <a:pPr marL="0" indent="0">
              <a:buNone/>
            </a:pPr>
            <a:r>
              <a:rPr lang="en-US" altLang="ko-KR" dirty="0"/>
              <a:t>https://tadoku.org/japanese/</a:t>
            </a:r>
            <a:br>
              <a:rPr lang="en-US" altLang="ko-KR" dirty="0"/>
            </a:br>
            <a:endParaRPr lang="en-US" altLang="ko-K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endParaRPr lang="en-US" altLang="ja-JP" dirty="0">
              <a:solidFill>
                <a:srgbClr val="0070C0"/>
              </a:solidFill>
            </a:endParaRPr>
          </a:p>
          <a:p>
            <a:r>
              <a:rPr lang="ja-JP" altLang="en-US" dirty="0">
                <a:solidFill>
                  <a:srgbClr val="0070C0"/>
                </a:solidFill>
              </a:rPr>
              <a:t>メール文に支配している規則を探してみましょう。</a:t>
            </a:r>
            <a:endParaRPr lang="ko-KR" altLang="en-US" dirty="0"/>
          </a:p>
        </p:txBody>
      </p:sp>
    </p:spTree>
    <p:extLst>
      <p:ext uri="{BB962C8B-B14F-4D97-AF65-F5344CB8AC3E}">
        <p14:creationId xmlns:p14="http://schemas.microsoft.com/office/powerpoint/2010/main" val="347513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ja-JP" b="1" dirty="0"/>
              <a:t>E</a:t>
            </a:r>
            <a:r>
              <a:rPr lang="ja-JP" altLang="en-US" b="1" dirty="0"/>
              <a:t>メール１</a:t>
            </a:r>
            <a:endParaRPr lang="ko-KR" altLang="en-US" b="1" dirty="0"/>
          </a:p>
        </p:txBody>
      </p:sp>
      <p:sp>
        <p:nvSpPr>
          <p:cNvPr id="3" name="내용 개체 틀 2"/>
          <p:cNvSpPr>
            <a:spLocks noGrp="1"/>
          </p:cNvSpPr>
          <p:nvPr>
            <p:ph idx="1"/>
          </p:nvPr>
        </p:nvSpPr>
        <p:spPr>
          <a:xfrm>
            <a:off x="179512" y="1196752"/>
            <a:ext cx="8784976" cy="5616624"/>
          </a:xfrm>
        </p:spPr>
        <p:txBody>
          <a:bodyPr>
            <a:normAutofit fontScale="47500" lnSpcReduction="20000"/>
          </a:bodyPr>
          <a:lstStyle/>
          <a:p>
            <a:r>
              <a:rPr lang="en-US" altLang="ja-JP" sz="3800" dirty="0"/>
              <a:t>OO</a:t>
            </a:r>
            <a:r>
              <a:rPr lang="ja-JP" altLang="en-US" sz="3800" dirty="0"/>
              <a:t>大学校　</a:t>
            </a:r>
            <a:r>
              <a:rPr lang="en-US" altLang="ja-JP" sz="3800" dirty="0"/>
              <a:t>OO</a:t>
            </a:r>
            <a:r>
              <a:rPr lang="ja-JP" altLang="en-US" sz="3800" dirty="0"/>
              <a:t>先生　</a:t>
            </a:r>
            <a:r>
              <a:rPr lang="en-US" altLang="ja-JP" sz="3800" dirty="0"/>
              <a:t>O</a:t>
            </a:r>
            <a:r>
              <a:rPr lang="ja-JP" altLang="en-US" sz="3800" dirty="0"/>
              <a:t>先生</a:t>
            </a:r>
          </a:p>
          <a:p>
            <a:pPr marL="0" indent="0">
              <a:buNone/>
            </a:pPr>
            <a:br>
              <a:rPr lang="ja-JP" altLang="en-US" sz="3800" dirty="0"/>
            </a:br>
            <a:endParaRPr lang="ja-JP" altLang="en-US" sz="3800" dirty="0"/>
          </a:p>
          <a:p>
            <a:r>
              <a:rPr lang="ja-JP" altLang="en-US" sz="3800" dirty="0"/>
              <a:t>お世話になっております。</a:t>
            </a:r>
          </a:p>
          <a:p>
            <a:r>
              <a:rPr lang="en-US" altLang="ja-JP" sz="3800" dirty="0"/>
              <a:t>OO</a:t>
            </a:r>
            <a:r>
              <a:rPr lang="ja-JP" altLang="en-US" sz="3800" dirty="0"/>
              <a:t>大学の</a:t>
            </a:r>
            <a:r>
              <a:rPr lang="en-US" altLang="ja-JP" sz="3800" dirty="0"/>
              <a:t>OOO</a:t>
            </a:r>
            <a:r>
              <a:rPr lang="ja-JP" altLang="en-US" sz="3800" dirty="0"/>
              <a:t>です。</a:t>
            </a:r>
          </a:p>
          <a:p>
            <a:r>
              <a:rPr lang="ja-JP" altLang="en-US" sz="3800" dirty="0"/>
              <a:t>東京は本日梅雨入りを迎えました。</a:t>
            </a:r>
          </a:p>
          <a:p>
            <a:r>
              <a:rPr lang="ja-JP" altLang="en-US" sz="3800" dirty="0"/>
              <a:t>これから約</a:t>
            </a:r>
            <a:r>
              <a:rPr lang="en-US" altLang="ja-JP" sz="3800" dirty="0"/>
              <a:t>1</a:t>
            </a:r>
            <a:r>
              <a:rPr lang="ja-JP" altLang="en-US" sz="3800" dirty="0"/>
              <a:t>ヶ月は雨の日々が続くようです。</a:t>
            </a:r>
          </a:p>
          <a:p>
            <a:pPr marL="0" indent="0">
              <a:buNone/>
            </a:pPr>
            <a:br>
              <a:rPr lang="ja-JP" altLang="en-US" sz="3800" dirty="0"/>
            </a:br>
            <a:endParaRPr lang="ja-JP" altLang="en-US" sz="3800" dirty="0"/>
          </a:p>
          <a:p>
            <a:r>
              <a:rPr lang="ja-JP" altLang="en-US" sz="3800" dirty="0"/>
              <a:t>標記の件につきまして、今年度派遣する学生</a:t>
            </a:r>
            <a:r>
              <a:rPr lang="en-US" altLang="ja-JP" sz="3800" dirty="0"/>
              <a:t>3</a:t>
            </a:r>
            <a:r>
              <a:rPr lang="ja-JP" altLang="en-US" sz="3800" dirty="0"/>
              <a:t>名が決まりました。</a:t>
            </a:r>
          </a:p>
          <a:p>
            <a:r>
              <a:rPr lang="ja-JP" altLang="en-US" sz="3800" dirty="0"/>
              <a:t>全員</a:t>
            </a:r>
            <a:r>
              <a:rPr lang="en-US" altLang="ja-JP" sz="3800" dirty="0"/>
              <a:t>3</a:t>
            </a:r>
            <a:r>
              <a:rPr lang="ja-JP" altLang="en-US" sz="3800" dirty="0"/>
              <a:t>年次の学生で、韓国語ができるようです（</a:t>
            </a:r>
            <a:r>
              <a:rPr lang="en-US" altLang="ja-JP" sz="3800" dirty="0"/>
              <a:t>1</a:t>
            </a:r>
            <a:r>
              <a:rPr lang="ja-JP" altLang="en-US" sz="3800" dirty="0"/>
              <a:t>名はネイティブだそうです）。</a:t>
            </a:r>
          </a:p>
          <a:p>
            <a:r>
              <a:rPr lang="ja-JP" altLang="en-US" sz="3800" dirty="0"/>
              <a:t>別添にてリストをお送りいたします。</a:t>
            </a:r>
          </a:p>
          <a:p>
            <a:pPr marL="0" indent="0">
              <a:buNone/>
            </a:pPr>
            <a:br>
              <a:rPr lang="ja-JP" altLang="en-US" sz="3800" dirty="0"/>
            </a:br>
            <a:endParaRPr lang="ja-JP" altLang="en-US" sz="3800" dirty="0"/>
          </a:p>
          <a:p>
            <a:r>
              <a:rPr lang="ja-JP" altLang="en-US" sz="3800" dirty="0"/>
              <a:t>日程：</a:t>
            </a:r>
          </a:p>
          <a:p>
            <a:r>
              <a:rPr lang="en-US" altLang="ja-JP" sz="3800" dirty="0"/>
              <a:t>11/3</a:t>
            </a:r>
            <a:r>
              <a:rPr lang="ja-JP" altLang="en-US" sz="3800" dirty="0"/>
              <a:t>（月）夕方集合～</a:t>
            </a:r>
            <a:r>
              <a:rPr lang="en-US" altLang="ja-JP" sz="3800" dirty="0"/>
              <a:t>11/10</a:t>
            </a:r>
            <a:r>
              <a:rPr lang="ja-JP" altLang="en-US" sz="3800" dirty="0"/>
              <a:t>（月）</a:t>
            </a:r>
          </a:p>
          <a:p>
            <a:r>
              <a:rPr lang="en-US" altLang="ja-JP" sz="3800" dirty="0"/>
              <a:t>11/11</a:t>
            </a:r>
            <a:r>
              <a:rPr lang="ja-JP" altLang="en-US" sz="3800" dirty="0"/>
              <a:t>（火）出国</a:t>
            </a:r>
          </a:p>
          <a:p>
            <a:r>
              <a:rPr lang="en-US" altLang="ja-JP" sz="3800" dirty="0"/>
              <a:t>※5</a:t>
            </a:r>
            <a:r>
              <a:rPr lang="ja-JP" altLang="en-US" sz="3800" dirty="0"/>
              <a:t>月にご連絡いただいたとおりにお願いできればと存じます。</a:t>
            </a:r>
          </a:p>
          <a:p>
            <a:pPr marL="0" indent="0">
              <a:buNone/>
            </a:pPr>
            <a:br>
              <a:rPr lang="ja-JP" altLang="en-US" dirty="0"/>
            </a:br>
            <a:br>
              <a:rPr lang="ja-JP" altLang="en-US" dirty="0"/>
            </a:br>
            <a:endParaRPr lang="ja-JP" altLang="en-US" dirty="0"/>
          </a:p>
          <a:p>
            <a:endParaRPr lang="ko-KR" altLang="en-US" dirty="0"/>
          </a:p>
        </p:txBody>
      </p:sp>
    </p:spTree>
    <p:extLst>
      <p:ext uri="{BB962C8B-B14F-4D97-AF65-F5344CB8AC3E}">
        <p14:creationId xmlns:p14="http://schemas.microsoft.com/office/powerpoint/2010/main" val="822568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1600200"/>
            <a:ext cx="8229600" cy="5069160"/>
          </a:xfrm>
        </p:spPr>
        <p:txBody>
          <a:bodyPr>
            <a:normAutofit fontScale="62500" lnSpcReduction="20000"/>
          </a:bodyPr>
          <a:lstStyle/>
          <a:p>
            <a:endParaRPr lang="ja-JP" altLang="en-US" sz="4000" dirty="0"/>
          </a:p>
          <a:p>
            <a:r>
              <a:rPr lang="ja-JP" altLang="en-US" sz="4000" dirty="0"/>
              <a:t>今年度も私が窓口、引率の予定です。</a:t>
            </a:r>
          </a:p>
          <a:p>
            <a:r>
              <a:rPr lang="ja-JP" altLang="en-US" sz="4000" dirty="0"/>
              <a:t>見学させていただく授業や実習授業の内容、またチューター等々につきましては、改めてご相談させていただければと存じます。</a:t>
            </a:r>
          </a:p>
          <a:p>
            <a:pPr marL="0" indent="0">
              <a:buNone/>
            </a:pPr>
            <a:br>
              <a:rPr lang="ja-JP" altLang="en-US" sz="4000" dirty="0"/>
            </a:br>
            <a:endParaRPr lang="ja-JP" altLang="en-US" sz="4000" dirty="0"/>
          </a:p>
          <a:p>
            <a:r>
              <a:rPr lang="ja-JP" altLang="en-US" sz="4000" dirty="0"/>
              <a:t>お手数をおかけいたしますが、引き続きどうぞよろしくお願いいたします。</a:t>
            </a:r>
          </a:p>
          <a:p>
            <a:pPr marL="0" indent="0">
              <a:buNone/>
            </a:pPr>
            <a:br>
              <a:rPr lang="ja-JP" altLang="en-US" sz="4000" dirty="0"/>
            </a:br>
            <a:endParaRPr lang="ja-JP" altLang="en-US" sz="4000" dirty="0"/>
          </a:p>
          <a:p>
            <a:r>
              <a:rPr lang="en-US" altLang="ja-JP" sz="4000" dirty="0"/>
              <a:t>OOO</a:t>
            </a:r>
            <a:endParaRPr lang="ja-JP" altLang="en-US" sz="4000" dirty="0"/>
          </a:p>
          <a:p>
            <a:r>
              <a:rPr lang="ja-JP" altLang="en-US" sz="4000" dirty="0"/>
              <a:t>（</a:t>
            </a:r>
            <a:r>
              <a:rPr lang="en-US" altLang="ja-JP" sz="4000" dirty="0"/>
              <a:t>CC</a:t>
            </a:r>
            <a:r>
              <a:rPr lang="ja-JP" altLang="en-US" sz="4000" dirty="0"/>
              <a:t>：</a:t>
            </a:r>
            <a:r>
              <a:rPr lang="en-US" altLang="ja-JP" sz="4000" dirty="0"/>
              <a:t>OO</a:t>
            </a:r>
            <a:r>
              <a:rPr lang="ja-JP" altLang="en-US" sz="4000" dirty="0"/>
              <a:t>学科長）</a:t>
            </a:r>
          </a:p>
          <a:p>
            <a:endParaRPr lang="ko-KR" altLang="en-US" dirty="0"/>
          </a:p>
        </p:txBody>
      </p:sp>
    </p:spTree>
    <p:extLst>
      <p:ext uri="{BB962C8B-B14F-4D97-AF65-F5344CB8AC3E}">
        <p14:creationId xmlns:p14="http://schemas.microsoft.com/office/powerpoint/2010/main" val="83840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67544" y="692696"/>
            <a:ext cx="8229600" cy="720080"/>
          </a:xfrm>
        </p:spPr>
        <p:txBody>
          <a:bodyPr>
            <a:normAutofit fontScale="90000"/>
          </a:bodyPr>
          <a:lstStyle/>
          <a:p>
            <a:r>
              <a:rPr lang="en-US" altLang="ja-JP" b="1" dirty="0"/>
              <a:t>E</a:t>
            </a:r>
            <a:r>
              <a:rPr lang="ja-JP" altLang="en-US" b="1" dirty="0"/>
              <a:t>メール２</a:t>
            </a:r>
            <a:endParaRPr lang="ko-KR" altLang="en-US" b="1" dirty="0"/>
          </a:p>
        </p:txBody>
      </p:sp>
      <p:sp>
        <p:nvSpPr>
          <p:cNvPr id="3" name="내용 개체 틀 2"/>
          <p:cNvSpPr>
            <a:spLocks noGrp="1"/>
          </p:cNvSpPr>
          <p:nvPr>
            <p:ph idx="1"/>
          </p:nvPr>
        </p:nvSpPr>
        <p:spPr>
          <a:xfrm>
            <a:off x="179512" y="1916832"/>
            <a:ext cx="8856984" cy="4464496"/>
          </a:xfrm>
        </p:spPr>
        <p:txBody>
          <a:bodyPr>
            <a:noAutofit/>
          </a:bodyPr>
          <a:lstStyle/>
          <a:p>
            <a:r>
              <a:rPr lang="en-US" altLang="ko-KR" sz="2400" dirty="0"/>
              <a:t>OO</a:t>
            </a:r>
            <a:r>
              <a:rPr lang="ja-JP" altLang="ko-KR" sz="2400" dirty="0"/>
              <a:t>大学　</a:t>
            </a:r>
            <a:r>
              <a:rPr lang="en-US" altLang="ko-KR" sz="2400" dirty="0"/>
              <a:t>OO</a:t>
            </a:r>
            <a:r>
              <a:rPr lang="ja-JP" altLang="ko-KR" sz="2400" dirty="0"/>
              <a:t>先生</a:t>
            </a:r>
            <a:endParaRPr lang="ko-KR" altLang="ko-KR" sz="2400" dirty="0"/>
          </a:p>
          <a:p>
            <a:r>
              <a:rPr lang="en-US" altLang="ko-KR" sz="2400" dirty="0"/>
              <a:t>cc. OO</a:t>
            </a:r>
            <a:r>
              <a:rPr lang="ja-JP" altLang="ko-KR" sz="2400" dirty="0"/>
              <a:t>先生、</a:t>
            </a:r>
            <a:r>
              <a:rPr lang="en-US" altLang="ko-KR" sz="2400" dirty="0"/>
              <a:t>O</a:t>
            </a:r>
            <a:r>
              <a:rPr lang="ja-JP" altLang="ko-KR" sz="2400" dirty="0"/>
              <a:t>先生</a:t>
            </a:r>
            <a:endParaRPr lang="ko-KR" altLang="ko-KR" sz="2400" dirty="0"/>
          </a:p>
          <a:p>
            <a:pPr marL="0" indent="0">
              <a:buNone/>
            </a:pPr>
            <a:r>
              <a:rPr lang="en-US" altLang="ko-KR" sz="2400" dirty="0"/>
              <a:t> </a:t>
            </a:r>
            <a:endParaRPr lang="ko-KR" altLang="ko-KR" sz="2400" dirty="0"/>
          </a:p>
          <a:p>
            <a:r>
              <a:rPr lang="ja-JP" altLang="ko-KR" sz="2400" dirty="0"/>
              <a:t>お世話になっております。</a:t>
            </a:r>
            <a:endParaRPr lang="ko-KR" altLang="ko-KR" sz="2400" dirty="0"/>
          </a:p>
          <a:p>
            <a:r>
              <a:rPr lang="en-US" altLang="ko-KR" sz="2400" dirty="0"/>
              <a:t>OO</a:t>
            </a:r>
            <a:r>
              <a:rPr lang="ja-JP" altLang="ko-KR" sz="2400" dirty="0"/>
              <a:t>大の</a:t>
            </a:r>
            <a:r>
              <a:rPr lang="en-US" altLang="ko-KR" sz="2400" dirty="0"/>
              <a:t>OO</a:t>
            </a:r>
            <a:r>
              <a:rPr lang="ja-JP" altLang="ko-KR" sz="2400" dirty="0"/>
              <a:t>です。</a:t>
            </a:r>
            <a:endParaRPr lang="ko-KR" altLang="ko-KR" sz="2400" dirty="0"/>
          </a:p>
          <a:p>
            <a:r>
              <a:rPr lang="ja-JP" altLang="ko-KR" sz="2400" dirty="0"/>
              <a:t>東京はもう梅雨入りなのですね。ソウルはこのところ過ごしやすい日が続いております。</a:t>
            </a:r>
            <a:endParaRPr lang="ko-KR" altLang="ko-KR" sz="2400" dirty="0"/>
          </a:p>
          <a:p>
            <a:pPr marL="0" indent="0">
              <a:buNone/>
            </a:pPr>
            <a:r>
              <a:rPr lang="en-US" altLang="ko-KR" sz="2400" dirty="0"/>
              <a:t> </a:t>
            </a:r>
            <a:endParaRPr lang="ko-KR" altLang="ko-KR" sz="2400" dirty="0"/>
          </a:p>
          <a:p>
            <a:r>
              <a:rPr lang="en-US" altLang="ko-KR" sz="2400" dirty="0"/>
              <a:t>11</a:t>
            </a:r>
            <a:r>
              <a:rPr lang="ja-JP" altLang="ko-KR" sz="2400" dirty="0"/>
              <a:t>月の実習に参加される学生さんの情報をお送りいただき、ありがとうございます。</a:t>
            </a:r>
            <a:endParaRPr lang="ko-KR" altLang="ko-KR" sz="2400" dirty="0"/>
          </a:p>
          <a:p>
            <a:pPr latinLnBrk="0"/>
            <a:endParaRPr lang="ko-KR" altLang="ko-KR" sz="2400" dirty="0"/>
          </a:p>
          <a:p>
            <a:pPr marL="0" indent="0" latinLnBrk="0">
              <a:buNone/>
            </a:pPr>
            <a:r>
              <a:rPr lang="en-US" altLang="ko-KR" sz="2400" dirty="0"/>
              <a:t> </a:t>
            </a:r>
            <a:endParaRPr lang="ko-KR" altLang="ko-KR" sz="2400" dirty="0"/>
          </a:p>
          <a:p>
            <a:endParaRPr lang="ko-KR" altLang="en-US" sz="1400" dirty="0"/>
          </a:p>
        </p:txBody>
      </p:sp>
    </p:spTree>
    <p:extLst>
      <p:ext uri="{BB962C8B-B14F-4D97-AF65-F5344CB8AC3E}">
        <p14:creationId xmlns:p14="http://schemas.microsoft.com/office/powerpoint/2010/main" val="2262750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86582" y="1700808"/>
            <a:ext cx="8229600" cy="5544616"/>
          </a:xfrm>
        </p:spPr>
        <p:txBody>
          <a:bodyPr>
            <a:noAutofit/>
          </a:bodyPr>
          <a:lstStyle/>
          <a:p>
            <a:r>
              <a:rPr lang="ja-JP" altLang="ko-KR" sz="2400" dirty="0"/>
              <a:t>今年度は</a:t>
            </a:r>
            <a:r>
              <a:rPr lang="en-US" altLang="ko-KR" sz="2400" dirty="0"/>
              <a:t>3</a:t>
            </a:r>
            <a:r>
              <a:rPr lang="ja-JP" altLang="ko-KR" sz="2400" dirty="0"/>
              <a:t>名の参加で、そのうちお一人は韓国語ネイティブとのこと、承知しました。</a:t>
            </a:r>
            <a:endParaRPr lang="ko-KR" altLang="ko-KR" sz="2400" dirty="0"/>
          </a:p>
          <a:p>
            <a:r>
              <a:rPr lang="ja-JP" altLang="ko-KR" sz="2400" dirty="0"/>
              <a:t>こちらで個人レッスンのパートナー募集の際には、ぜひ参考にさせていただきます。</a:t>
            </a:r>
            <a:endParaRPr lang="ko-KR" altLang="ko-KR" sz="2400" dirty="0"/>
          </a:p>
          <a:p>
            <a:r>
              <a:rPr lang="ja-JP" altLang="ko-KR" sz="2400" dirty="0"/>
              <a:t>日程も変更なしとのことで、承知いたしました。</a:t>
            </a:r>
            <a:r>
              <a:rPr lang="en-US" altLang="ko-KR" sz="2400" dirty="0"/>
              <a:t> </a:t>
            </a:r>
          </a:p>
          <a:p>
            <a:endParaRPr lang="ko-KR" altLang="ko-KR" sz="2400" dirty="0"/>
          </a:p>
          <a:p>
            <a:r>
              <a:rPr lang="ja-JP" altLang="ko-KR" sz="2400" dirty="0"/>
              <a:t>それでは引き続き、どうぞよろしくお願いいたします。</a:t>
            </a:r>
            <a:endParaRPr lang="ko-KR" altLang="ko-KR" sz="2400" dirty="0"/>
          </a:p>
          <a:p>
            <a:pPr marL="0" indent="0">
              <a:buNone/>
            </a:pPr>
            <a:endParaRPr lang="ko-KR" altLang="ko-KR" sz="2400" dirty="0"/>
          </a:p>
          <a:p>
            <a:r>
              <a:rPr lang="en-US" altLang="ko-KR" sz="2400" dirty="0"/>
              <a:t>OOOO</a:t>
            </a:r>
            <a:r>
              <a:rPr lang="ja-JP" altLang="ko-KR" sz="2400" dirty="0"/>
              <a:t>（</a:t>
            </a:r>
            <a:r>
              <a:rPr lang="en-US" altLang="ko-KR" sz="2400" dirty="0"/>
              <a:t>OOOO, OOOO</a:t>
            </a:r>
            <a:r>
              <a:rPr lang="ja-JP" altLang="ko-KR" sz="2400" dirty="0"/>
              <a:t>）</a:t>
            </a:r>
            <a:endParaRPr lang="ko-KR" altLang="ko-KR" sz="2400" dirty="0"/>
          </a:p>
          <a:p>
            <a:endParaRPr lang="ko-KR" altLang="en-US" sz="1800" dirty="0"/>
          </a:p>
        </p:txBody>
      </p:sp>
    </p:spTree>
    <p:extLst>
      <p:ext uri="{BB962C8B-B14F-4D97-AF65-F5344CB8AC3E}">
        <p14:creationId xmlns:p14="http://schemas.microsoft.com/office/powerpoint/2010/main" val="394308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714105-5A35-82B4-1F1D-021DC411E650}"/>
              </a:ext>
            </a:extLst>
          </p:cNvPr>
          <p:cNvSpPr>
            <a:spLocks noGrp="1"/>
          </p:cNvSpPr>
          <p:nvPr>
            <p:ph type="title"/>
          </p:nvPr>
        </p:nvSpPr>
        <p:spPr/>
        <p:txBody>
          <a:bodyPr>
            <a:normAutofit fontScale="90000"/>
          </a:bodyPr>
          <a:lstStyle/>
          <a:p>
            <a:r>
              <a:rPr lang="ko-KR" altLang="en-US" dirty="0" err="1"/>
              <a:t>류소랑</a:t>
            </a:r>
            <a:r>
              <a:rPr lang="en-US" altLang="ko-KR" dirty="0"/>
              <a:t>, </a:t>
            </a:r>
            <a:r>
              <a:rPr lang="ko-KR" altLang="en-US" dirty="0"/>
              <a:t>이주석</a:t>
            </a:r>
            <a:r>
              <a:rPr lang="en-US" altLang="ko-KR" dirty="0"/>
              <a:t>, </a:t>
            </a:r>
            <a:r>
              <a:rPr lang="ko-KR" altLang="en-US" dirty="0" err="1"/>
              <a:t>장이재</a:t>
            </a:r>
            <a:r>
              <a:rPr lang="en-US" altLang="ko-KR" dirty="0"/>
              <a:t>, </a:t>
            </a:r>
            <a:r>
              <a:rPr lang="ko-KR" altLang="en-US" dirty="0" err="1"/>
              <a:t>오오쿠보</a:t>
            </a:r>
            <a:r>
              <a:rPr lang="ko-KR" altLang="en-US" dirty="0"/>
              <a:t> </a:t>
            </a:r>
            <a:r>
              <a:rPr lang="ko-KR" altLang="en-US" dirty="0" err="1"/>
              <a:t>아카리</a:t>
            </a:r>
            <a:endParaRPr lang="ko-KR" altLang="en-US" dirty="0"/>
          </a:p>
        </p:txBody>
      </p:sp>
      <p:sp>
        <p:nvSpPr>
          <p:cNvPr id="3" name="내용 개체 틀 2">
            <a:extLst>
              <a:ext uri="{FF2B5EF4-FFF2-40B4-BE49-F238E27FC236}">
                <a16:creationId xmlns:a16="http://schemas.microsoft.com/office/drawing/2014/main" id="{DD2601E8-D201-AAB9-AFEF-D9FEBEAE5AF0}"/>
              </a:ext>
            </a:extLst>
          </p:cNvPr>
          <p:cNvSpPr>
            <a:spLocks noGrp="1"/>
          </p:cNvSpPr>
          <p:nvPr>
            <p:ph idx="1"/>
          </p:nvPr>
        </p:nvSpPr>
        <p:spPr>
          <a:xfrm>
            <a:off x="0" y="1600200"/>
            <a:ext cx="9144000" cy="5141168"/>
          </a:xfrm>
        </p:spPr>
        <p:txBody>
          <a:bodyPr>
            <a:normAutofit fontScale="70000" lnSpcReduction="20000"/>
          </a:bodyPr>
          <a:lstStyle/>
          <a:p>
            <a:r>
              <a:rPr lang="ja-JP" altLang="en-US" dirty="0"/>
              <a:t>形式がある</a:t>
            </a:r>
          </a:p>
          <a:p>
            <a:pPr marL="0" indent="0">
              <a:buNone/>
            </a:pPr>
            <a:r>
              <a:rPr lang="ja-JP" altLang="en-US" dirty="0"/>
              <a:t>　ー導入部（要件と関係ない天気の話）</a:t>
            </a:r>
          </a:p>
          <a:p>
            <a:pPr marL="0" indent="0">
              <a:buNone/>
            </a:pPr>
            <a:r>
              <a:rPr lang="ja-JP" altLang="en-US" dirty="0"/>
              <a:t>　ー本文 （メールを書いた主な理由を伝達、日程のような情報を述べる時は分かりやすく、簡単に）</a:t>
            </a:r>
          </a:p>
          <a:p>
            <a:pPr marL="0" indent="0">
              <a:buNone/>
            </a:pPr>
            <a:r>
              <a:rPr lang="ja-JP" altLang="en-US" dirty="0"/>
              <a:t>　ー終結部 （感謝、依頼）</a:t>
            </a:r>
            <a:endParaRPr lang="en-US" altLang="ja-JP" dirty="0"/>
          </a:p>
          <a:p>
            <a:pPr marL="0" indent="0">
              <a:buNone/>
            </a:pPr>
            <a:endParaRPr lang="ja-JP" altLang="en-US" dirty="0"/>
          </a:p>
          <a:p>
            <a:r>
              <a:rPr lang="ja-JP" altLang="en-US" dirty="0"/>
              <a:t>話し言葉ではほぼ使わない表現</a:t>
            </a:r>
          </a:p>
          <a:p>
            <a:pPr marL="0" indent="0">
              <a:buNone/>
            </a:pPr>
            <a:r>
              <a:rPr lang="ja-JP" altLang="en-US" dirty="0"/>
              <a:t>　ー三年次、～にて（で）</a:t>
            </a:r>
          </a:p>
          <a:p>
            <a:pPr marL="0" indent="0">
              <a:buNone/>
            </a:pPr>
            <a:r>
              <a:rPr lang="ja-JP" altLang="en-US" dirty="0"/>
              <a:t>　ービズネス敬語</a:t>
            </a:r>
          </a:p>
          <a:p>
            <a:pPr marL="0" indent="0">
              <a:buNone/>
            </a:pPr>
            <a:r>
              <a:rPr lang="ja-JP" altLang="en-US" dirty="0"/>
              <a:t>　　～と存じます（～と思います）承知しました、いたしました ～させていただ</a:t>
            </a:r>
            <a:br>
              <a:rPr lang="en-US" altLang="ja-JP" dirty="0"/>
            </a:br>
            <a:r>
              <a:rPr lang="ja-JP" altLang="en-US" dirty="0"/>
              <a:t>　　ければ</a:t>
            </a:r>
            <a:endParaRPr lang="en-US" altLang="ja-JP" dirty="0"/>
          </a:p>
          <a:p>
            <a:pPr marL="0" indent="0">
              <a:buNone/>
            </a:pPr>
            <a:endParaRPr lang="ja-JP" altLang="en-US" dirty="0"/>
          </a:p>
          <a:p>
            <a:r>
              <a:rPr lang="ja-JP" altLang="en-US" dirty="0"/>
              <a:t>特定の文章</a:t>
            </a:r>
          </a:p>
          <a:p>
            <a:pPr marL="0" indent="0">
              <a:buNone/>
            </a:pPr>
            <a:r>
              <a:rPr lang="ja-JP" altLang="en-US" dirty="0"/>
              <a:t>　ーお世話になっております お手数をおかけいたしますが</a:t>
            </a:r>
          </a:p>
          <a:p>
            <a:pPr marL="0" indent="0">
              <a:buNone/>
            </a:pPr>
            <a:r>
              <a:rPr lang="ja-JP" altLang="en-US" dirty="0"/>
              <a:t>　ー漢字の読み方を提示する場合がある</a:t>
            </a:r>
          </a:p>
          <a:p>
            <a:endParaRPr lang="ja-JP" altLang="en-US" dirty="0"/>
          </a:p>
        </p:txBody>
      </p:sp>
    </p:spTree>
    <p:extLst>
      <p:ext uri="{BB962C8B-B14F-4D97-AF65-F5344CB8AC3E}">
        <p14:creationId xmlns:p14="http://schemas.microsoft.com/office/powerpoint/2010/main" val="1212322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0601690-6250-F104-BEBE-FCEC44F19748}"/>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AB2D01D3-77E9-340D-814A-C0C5538B99DF}"/>
              </a:ext>
            </a:extLst>
          </p:cNvPr>
          <p:cNvSpPr>
            <a:spLocks noGrp="1"/>
          </p:cNvSpPr>
          <p:nvPr>
            <p:ph idx="1"/>
          </p:nvPr>
        </p:nvSpPr>
        <p:spPr/>
        <p:txBody>
          <a:bodyPr/>
          <a:lstStyle/>
          <a:p>
            <a:r>
              <a:rPr lang="ja-JP" altLang="en-US" dirty="0"/>
              <a:t>韓国との違い</a:t>
            </a:r>
          </a:p>
          <a:p>
            <a:pPr marL="0" indent="0">
              <a:buNone/>
            </a:pPr>
            <a:r>
              <a:rPr lang="ja-JP" altLang="en-US" dirty="0"/>
              <a:t>　ー話し言葉と書き言葉の間に幅が大きい</a:t>
            </a:r>
          </a:p>
          <a:p>
            <a:pPr marL="0" indent="0">
              <a:buNone/>
            </a:pPr>
            <a:r>
              <a:rPr lang="ja-JP" altLang="en-US" dirty="0"/>
              <a:t>　ーメール全体が長くなっても気にしない （韓国だったら、必要のない情報は書かずできる限り短くする方が礼儀だと思われる）</a:t>
            </a:r>
          </a:p>
          <a:p>
            <a:pPr marL="0" indent="0">
              <a:buNone/>
            </a:pPr>
            <a:r>
              <a:rPr lang="ja-JP" altLang="en-US" dirty="0"/>
              <a:t>　ー受け身、使役の文</a:t>
            </a:r>
          </a:p>
          <a:p>
            <a:pPr marL="0" indent="0">
              <a:buNone/>
            </a:pPr>
            <a:r>
              <a:rPr lang="ja-JP" altLang="en-US" dirty="0"/>
              <a:t>　（参考にさせていただきます。를 참고하겠습니다と書いても全然平気）</a:t>
            </a:r>
            <a:endParaRPr lang="ko-KR" altLang="en-US" dirty="0"/>
          </a:p>
          <a:p>
            <a:endParaRPr lang="ko-KR" altLang="en-US" dirty="0"/>
          </a:p>
        </p:txBody>
      </p:sp>
    </p:spTree>
    <p:extLst>
      <p:ext uri="{BB962C8B-B14F-4D97-AF65-F5344CB8AC3E}">
        <p14:creationId xmlns:p14="http://schemas.microsoft.com/office/powerpoint/2010/main" val="925573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868668-C868-C21A-309E-7C551607CF17}"/>
              </a:ext>
            </a:extLst>
          </p:cNvPr>
          <p:cNvSpPr>
            <a:spLocks noGrp="1"/>
          </p:cNvSpPr>
          <p:nvPr>
            <p:ph type="title"/>
          </p:nvPr>
        </p:nvSpPr>
        <p:spPr/>
        <p:txBody>
          <a:bodyPr/>
          <a:lstStyle/>
          <a:p>
            <a:r>
              <a:rPr lang="ko-KR" altLang="en-US" dirty="0" err="1"/>
              <a:t>이여원</a:t>
            </a:r>
            <a:r>
              <a:rPr lang="en-US" altLang="ko-KR" dirty="0"/>
              <a:t>, </a:t>
            </a:r>
            <a:r>
              <a:rPr lang="ko-KR" altLang="en-US" dirty="0"/>
              <a:t>금윤서</a:t>
            </a:r>
            <a:r>
              <a:rPr lang="en-US" altLang="ko-KR" dirty="0"/>
              <a:t>, </a:t>
            </a:r>
            <a:r>
              <a:rPr lang="ko-KR" altLang="en-US" dirty="0"/>
              <a:t>김기준</a:t>
            </a:r>
            <a:r>
              <a:rPr lang="en-US" altLang="ko-KR" dirty="0"/>
              <a:t>, </a:t>
            </a:r>
            <a:r>
              <a:rPr lang="ko-KR" altLang="en-US" dirty="0"/>
              <a:t>윤지원</a:t>
            </a:r>
          </a:p>
        </p:txBody>
      </p:sp>
      <p:sp>
        <p:nvSpPr>
          <p:cNvPr id="3" name="내용 개체 틀 2">
            <a:extLst>
              <a:ext uri="{FF2B5EF4-FFF2-40B4-BE49-F238E27FC236}">
                <a16:creationId xmlns:a16="http://schemas.microsoft.com/office/drawing/2014/main" id="{2615800F-8148-900F-922C-F72E46122496}"/>
              </a:ext>
            </a:extLst>
          </p:cNvPr>
          <p:cNvSpPr>
            <a:spLocks noGrp="1"/>
          </p:cNvSpPr>
          <p:nvPr>
            <p:ph idx="1"/>
          </p:nvPr>
        </p:nvSpPr>
        <p:spPr/>
        <p:txBody>
          <a:bodyPr>
            <a:normAutofit fontScale="85000" lnSpcReduction="10000"/>
          </a:bodyPr>
          <a:lstStyle/>
          <a:p>
            <a:r>
              <a:rPr lang="en-US" altLang="ko-KR" dirty="0"/>
              <a:t>1. </a:t>
            </a:r>
            <a:r>
              <a:rPr lang="ko-KR" altLang="en-US" dirty="0"/>
              <a:t>이메일 작성법과의 차이점을 발견할 수 있는 </a:t>
            </a:r>
            <a:r>
              <a:rPr lang="en-US" altLang="ko-KR" dirty="0"/>
              <a:t>E</a:t>
            </a:r>
            <a:r>
              <a:rPr lang="ko-KR" altLang="en-US" dirty="0"/>
              <a:t>메일</a:t>
            </a:r>
            <a:r>
              <a:rPr lang="en-US" altLang="ko-KR" dirty="0"/>
              <a:t>1</a:t>
            </a:r>
            <a:r>
              <a:rPr lang="ko-KR" altLang="en-US" dirty="0"/>
              <a:t>의 전반부에 「東京は本日梅雨入りを迎えました。」와 같이 날씨로 시작하는 것입니다</a:t>
            </a:r>
            <a:r>
              <a:rPr lang="en-US" altLang="ko-KR" dirty="0"/>
              <a:t>. </a:t>
            </a:r>
            <a:r>
              <a:rPr lang="ko-KR" altLang="en-US" dirty="0"/>
              <a:t>한국에서도 메일에 날씨</a:t>
            </a:r>
            <a:r>
              <a:rPr lang="en-US" altLang="ko-KR" dirty="0"/>
              <a:t> </a:t>
            </a:r>
            <a:r>
              <a:rPr lang="ko-KR" altLang="en-US" dirty="0"/>
              <a:t>등을 작성하는 경우도 있지만</a:t>
            </a:r>
            <a:r>
              <a:rPr lang="en-US" altLang="ko-KR" dirty="0"/>
              <a:t>,</a:t>
            </a:r>
            <a:r>
              <a:rPr lang="ko-KR" altLang="en-US" dirty="0"/>
              <a:t> 메일을 짧게 쓰고 본론으로 들어가는 것이 일반적입니다</a:t>
            </a:r>
            <a:r>
              <a:rPr lang="en-US" altLang="ko-KR" dirty="0"/>
              <a:t>.</a:t>
            </a:r>
          </a:p>
          <a:p>
            <a:endParaRPr lang="en-US" altLang="ko-KR" dirty="0"/>
          </a:p>
          <a:p>
            <a:r>
              <a:rPr lang="en-US" altLang="ko-KR" dirty="0"/>
              <a:t>2. </a:t>
            </a:r>
            <a:r>
              <a:rPr lang="ko-KR" altLang="en-US" dirty="0"/>
              <a:t>한국은 일정을 </a:t>
            </a:r>
            <a:r>
              <a:rPr lang="en-US" altLang="ko-KR" dirty="0"/>
              <a:t>＂0</a:t>
            </a:r>
            <a:r>
              <a:rPr lang="ko-KR" altLang="en-US" dirty="0"/>
              <a:t>월 </a:t>
            </a:r>
            <a:r>
              <a:rPr lang="en-US" altLang="ko-KR" dirty="0"/>
              <a:t>0</a:t>
            </a:r>
            <a:r>
              <a:rPr lang="ko-KR" altLang="en-US" dirty="0"/>
              <a:t>일에 출국을 통해</a:t>
            </a:r>
            <a:r>
              <a:rPr lang="en-US" altLang="ko-KR" dirty="0"/>
              <a:t>…＂</a:t>
            </a:r>
            <a:r>
              <a:rPr lang="ko-KR" altLang="en-US" dirty="0"/>
              <a:t>와 같이 줄글로 풀어내지만</a:t>
            </a:r>
            <a:r>
              <a:rPr lang="en-US" altLang="ko-KR" dirty="0"/>
              <a:t>, </a:t>
            </a:r>
            <a:r>
              <a:rPr lang="ko-KR" altLang="en-US" dirty="0"/>
              <a:t>일본은 </a:t>
            </a:r>
            <a:r>
              <a:rPr lang="en-US" altLang="ko-KR" dirty="0"/>
              <a:t>E</a:t>
            </a:r>
            <a:r>
              <a:rPr lang="ko-KR" altLang="en-US" dirty="0"/>
              <a:t>메일</a:t>
            </a:r>
            <a:r>
              <a:rPr lang="en-US" altLang="ko-KR" dirty="0"/>
              <a:t>1</a:t>
            </a:r>
            <a:r>
              <a:rPr lang="ko-KR" altLang="en-US" dirty="0"/>
              <a:t>에서 확인할 수 있는 일정을 </a:t>
            </a:r>
            <a:r>
              <a:rPr lang="ko-KR" altLang="en-US" dirty="0" err="1"/>
              <a:t>목록화하여</a:t>
            </a:r>
            <a:r>
              <a:rPr lang="ko-KR" altLang="en-US" dirty="0"/>
              <a:t> 포괄적으로 일정을 나눌 수 있는 것이 특징이었습니다</a:t>
            </a:r>
            <a:r>
              <a:rPr lang="en-US" altLang="ko-KR" dirty="0"/>
              <a:t>.</a:t>
            </a:r>
          </a:p>
          <a:p>
            <a:endParaRPr lang="ko-KR" altLang="en-US" dirty="0"/>
          </a:p>
        </p:txBody>
      </p:sp>
    </p:spTree>
    <p:extLst>
      <p:ext uri="{BB962C8B-B14F-4D97-AF65-F5344CB8AC3E}">
        <p14:creationId xmlns:p14="http://schemas.microsoft.com/office/powerpoint/2010/main" val="412552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281B7B-CD15-BC8D-92D2-BC69235D452E}"/>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E7593D30-3AB6-54D9-9739-33386609DFF3}"/>
              </a:ext>
            </a:extLst>
          </p:cNvPr>
          <p:cNvSpPr>
            <a:spLocks noGrp="1"/>
          </p:cNvSpPr>
          <p:nvPr>
            <p:ph idx="1"/>
          </p:nvPr>
        </p:nvSpPr>
        <p:spPr/>
        <p:txBody>
          <a:bodyPr>
            <a:normAutofit fontScale="77500" lnSpcReduction="20000"/>
          </a:bodyPr>
          <a:lstStyle/>
          <a:p>
            <a:r>
              <a:rPr lang="en-US" altLang="ko-KR" dirty="0"/>
              <a:t>3. </a:t>
            </a:r>
            <a:r>
              <a:rPr lang="ko-KR" altLang="en-US" dirty="0"/>
              <a:t>메일에 중요한 정보 등이 있을 때</a:t>
            </a:r>
            <a:r>
              <a:rPr lang="en-US" altLang="ko-KR" dirty="0"/>
              <a:t>, </a:t>
            </a:r>
            <a:r>
              <a:rPr lang="ko-KR" altLang="en-US" dirty="0"/>
              <a:t>일본에서는 </a:t>
            </a:r>
            <a:r>
              <a:rPr lang="en-US" altLang="ko-KR" dirty="0"/>
              <a:t>Email2</a:t>
            </a:r>
            <a:r>
              <a:rPr lang="ko-KR" altLang="en-US" dirty="0"/>
              <a:t>의 「</a:t>
            </a:r>
            <a:r>
              <a:rPr lang="ja-JP" altLang="ko-KR" dirty="0"/>
              <a:t>今年度は</a:t>
            </a:r>
            <a:r>
              <a:rPr lang="en-US" altLang="ko-KR" dirty="0"/>
              <a:t>3</a:t>
            </a:r>
            <a:r>
              <a:rPr lang="ja-JP" altLang="ko-KR" dirty="0"/>
              <a:t>名の参加で、そのうちお一人は韓国語ネイティブとのこと、承知しました。</a:t>
            </a:r>
            <a:r>
              <a:rPr lang="ko-KR" altLang="en-US" dirty="0"/>
              <a:t>」와 같이 정보에 내용을 그대로 작성하여 확인하는 것이 특징이었습니다</a:t>
            </a:r>
            <a:r>
              <a:rPr lang="en-US" altLang="ko-KR" dirty="0"/>
              <a:t>.</a:t>
            </a:r>
          </a:p>
          <a:p>
            <a:endParaRPr lang="en-US" altLang="ko-KR" dirty="0"/>
          </a:p>
          <a:p>
            <a:r>
              <a:rPr lang="en-US" altLang="ko-KR" dirty="0"/>
              <a:t>4. </a:t>
            </a:r>
            <a:r>
              <a:rPr lang="ko-KR" altLang="en-US" dirty="0"/>
              <a:t>한국 메일 작성 시 예의 내용을 간단하게 작성하는 경향이 있는 경우</a:t>
            </a:r>
            <a:r>
              <a:rPr lang="en-US" altLang="ko-KR" dirty="0"/>
              <a:t>, </a:t>
            </a:r>
            <a:r>
              <a:rPr lang="ko-KR" altLang="en-US" dirty="0"/>
              <a:t>일본의 이메일은 </a:t>
            </a:r>
            <a:r>
              <a:rPr lang="en-US" altLang="ko-KR" dirty="0"/>
              <a:t>E</a:t>
            </a:r>
            <a:r>
              <a:rPr lang="ko-KR" altLang="en-US" dirty="0"/>
              <a:t>메일</a:t>
            </a:r>
            <a:r>
              <a:rPr lang="en-US" altLang="ko-KR" dirty="0"/>
              <a:t>1</a:t>
            </a:r>
            <a:r>
              <a:rPr lang="ko-KR" altLang="en-US" dirty="0"/>
              <a:t>의 「</a:t>
            </a:r>
            <a:r>
              <a:rPr lang="ja-JP" altLang="en-US" dirty="0"/>
              <a:t>引き続きどうぞよろしくお願いいたします。</a:t>
            </a:r>
            <a:r>
              <a:rPr lang="ko-KR" altLang="en-US" dirty="0"/>
              <a:t>」、혹은 </a:t>
            </a:r>
            <a:r>
              <a:rPr lang="en-US" altLang="ko-KR" dirty="0"/>
              <a:t>E</a:t>
            </a:r>
            <a:r>
              <a:rPr lang="ko-KR" altLang="en-US" dirty="0"/>
              <a:t>메일</a:t>
            </a:r>
            <a:r>
              <a:rPr lang="en-US" altLang="ko-KR" dirty="0"/>
              <a:t>2 </a:t>
            </a:r>
            <a:r>
              <a:rPr lang="ko-KR" altLang="en-US" dirty="0"/>
              <a:t>「</a:t>
            </a:r>
            <a:r>
              <a:rPr lang="ja-JP" altLang="ko-KR" dirty="0"/>
              <a:t>それでは引き続き、どうぞよろしくお願いいたします。</a:t>
            </a:r>
            <a:r>
              <a:rPr lang="ko-KR" altLang="en-US" dirty="0"/>
              <a:t>」와 같은 문장에서 알 수</a:t>
            </a:r>
            <a:r>
              <a:rPr lang="en-US" altLang="ko-KR" dirty="0"/>
              <a:t> </a:t>
            </a:r>
            <a:r>
              <a:rPr lang="ko-KR" altLang="en-US" dirty="0"/>
              <a:t>있듯이 한국의 작성법보다 더욱 격식을 차리는 것을 알 수 있다는 것입니다</a:t>
            </a:r>
            <a:r>
              <a:rPr lang="en-US" altLang="ko-KR" dirty="0"/>
              <a:t>.</a:t>
            </a:r>
          </a:p>
          <a:p>
            <a:endParaRPr lang="ko-KR" altLang="en-US" dirty="0"/>
          </a:p>
        </p:txBody>
      </p:sp>
    </p:spTree>
    <p:extLst>
      <p:ext uri="{BB962C8B-B14F-4D97-AF65-F5344CB8AC3E}">
        <p14:creationId xmlns:p14="http://schemas.microsoft.com/office/powerpoint/2010/main" val="784728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F87F44-0DF0-BA15-58CA-5D58F0870FF7}"/>
              </a:ext>
            </a:extLst>
          </p:cNvPr>
          <p:cNvSpPr>
            <a:spLocks noGrp="1"/>
          </p:cNvSpPr>
          <p:nvPr>
            <p:ph type="title"/>
          </p:nvPr>
        </p:nvSpPr>
        <p:spPr/>
        <p:txBody>
          <a:bodyPr/>
          <a:lstStyle/>
          <a:p>
            <a:r>
              <a:rPr lang="ko-KR" altLang="en-US" dirty="0" err="1"/>
              <a:t>사토리</a:t>
            </a:r>
            <a:r>
              <a:rPr lang="en-US" altLang="ko-KR" dirty="0"/>
              <a:t>, </a:t>
            </a:r>
            <a:r>
              <a:rPr lang="ko-KR" altLang="en-US" dirty="0" err="1"/>
              <a:t>유쿤린</a:t>
            </a:r>
            <a:r>
              <a:rPr lang="en-US" altLang="ko-KR" dirty="0"/>
              <a:t>, </a:t>
            </a:r>
            <a:r>
              <a:rPr lang="ko-KR" altLang="en-US" dirty="0"/>
              <a:t>안민호</a:t>
            </a:r>
          </a:p>
        </p:txBody>
      </p:sp>
      <p:sp>
        <p:nvSpPr>
          <p:cNvPr id="3" name="내용 개체 틀 2">
            <a:extLst>
              <a:ext uri="{FF2B5EF4-FFF2-40B4-BE49-F238E27FC236}">
                <a16:creationId xmlns:a16="http://schemas.microsoft.com/office/drawing/2014/main" id="{C47DB979-5BBA-09B6-6295-DD3D009D6C58}"/>
              </a:ext>
            </a:extLst>
          </p:cNvPr>
          <p:cNvSpPr>
            <a:spLocks noGrp="1"/>
          </p:cNvSpPr>
          <p:nvPr>
            <p:ph idx="1"/>
          </p:nvPr>
        </p:nvSpPr>
        <p:spPr/>
        <p:txBody>
          <a:bodyPr>
            <a:normAutofit fontScale="77500" lnSpcReduction="20000"/>
          </a:bodyPr>
          <a:lstStyle/>
          <a:p>
            <a:r>
              <a:rPr lang="ko-KR" altLang="en-US" dirty="0">
                <a:latin typeface="MS Gothic" panose="020B0609070205080204" pitchFamily="49" charset="-128"/>
              </a:rPr>
              <a:t>우리의 조가 논의한 편지의 특징 중 하나는 정형화된 인사 표현의 시작과 끝에서 거의 의례적으로 사용된다는 점입니다</a:t>
            </a:r>
            <a:r>
              <a:rPr lang="en-US" altLang="ko-KR" dirty="0">
                <a:latin typeface="MS Gothic" panose="020B0609070205080204" pitchFamily="49" charset="-128"/>
                <a:ea typeface="MS Gothic" panose="020B0609070205080204" pitchFamily="49" charset="-128"/>
              </a:rPr>
              <a:t>. </a:t>
            </a:r>
            <a:r>
              <a:rPr lang="ko-KR" altLang="en-US" dirty="0">
                <a:latin typeface="MS Gothic" panose="020B0609070205080204" pitchFamily="49" charset="-128"/>
              </a:rPr>
              <a:t>예를 들어 상황과 관계 없이 </a:t>
            </a:r>
            <a:r>
              <a:rPr lang="en-US" altLang="ko-KR" dirty="0">
                <a:latin typeface="MS Gothic" panose="020B0609070205080204" pitchFamily="49" charset="-128"/>
                <a:ea typeface="MS Gothic" panose="020B0609070205080204" pitchFamily="49" charset="-128"/>
              </a:rPr>
              <a:t>'</a:t>
            </a:r>
            <a:r>
              <a:rPr lang="ko-KR" altLang="en-US" dirty="0">
                <a:latin typeface="MS Gothic" panose="020B0609070205080204" pitchFamily="49" charset="-128"/>
              </a:rPr>
              <a:t>항상 신세를 지고 있습니다</a:t>
            </a:r>
            <a:r>
              <a:rPr lang="en-US" altLang="ko-KR" dirty="0">
                <a:latin typeface="MS Gothic" panose="020B0609070205080204" pitchFamily="49" charset="-128"/>
                <a:ea typeface="MS Gothic" panose="020B0609070205080204" pitchFamily="49" charset="-128"/>
              </a:rPr>
              <a:t>'</a:t>
            </a:r>
            <a:r>
              <a:rPr lang="ko-KR" altLang="en-US" dirty="0">
                <a:latin typeface="MS Gothic" panose="020B0609070205080204" pitchFamily="49" charset="-128"/>
              </a:rPr>
              <a:t>라는 의미로 습관적으로 쓰이고 끝맺음에서 「</a:t>
            </a:r>
            <a:r>
              <a:rPr lang="ja-JP" altLang="en-US" dirty="0">
                <a:latin typeface="MS Gothic" panose="020B0609070205080204" pitchFamily="49" charset="-128"/>
                <a:ea typeface="MS Gothic" panose="020B0609070205080204" pitchFamily="49" charset="-128"/>
              </a:rPr>
              <a:t>引き続きどうぞよろしくお願いいたします</a:t>
            </a:r>
            <a:r>
              <a:rPr lang="ko-KR" altLang="en-US" dirty="0">
                <a:latin typeface="MS Gothic" panose="020B0609070205080204" pitchFamily="49" charset="-128"/>
              </a:rPr>
              <a:t>」나 「</a:t>
            </a:r>
            <a:r>
              <a:rPr lang="ja-JP" altLang="ko-KR" dirty="0">
                <a:latin typeface="MS Gothic" panose="020B0609070205080204" pitchFamily="49" charset="-128"/>
                <a:ea typeface="MS Gothic" panose="020B0609070205080204" pitchFamily="49" charset="-128"/>
              </a:rPr>
              <a:t>どうぞよろしくお願いいたします</a:t>
            </a:r>
            <a:r>
              <a:rPr lang="ko-KR" altLang="en-US" dirty="0">
                <a:latin typeface="MS Gothic" panose="020B0609070205080204" pitchFamily="49" charset="-128"/>
              </a:rPr>
              <a:t>」와 같은 정중한 문구가 반복됩니다</a:t>
            </a:r>
            <a:r>
              <a:rPr lang="en-US" altLang="ko-KR" dirty="0">
                <a:latin typeface="MS Gothic" panose="020B0609070205080204" pitchFamily="49" charset="-128"/>
                <a:ea typeface="MS Gothic" panose="020B0609070205080204" pitchFamily="49" charset="-128"/>
              </a:rPr>
              <a:t>.</a:t>
            </a:r>
          </a:p>
          <a:p>
            <a:endParaRPr lang="en-US" altLang="ko-KR" dirty="0">
              <a:latin typeface="MS Gothic" panose="020B0609070205080204" pitchFamily="49" charset="-128"/>
              <a:ea typeface="MS Gothic" panose="020B0609070205080204" pitchFamily="49" charset="-128"/>
            </a:endParaRPr>
          </a:p>
          <a:p>
            <a:r>
              <a:rPr lang="ko-KR" altLang="en-US" dirty="0">
                <a:latin typeface="MS Gothic" panose="020B0609070205080204" pitchFamily="49" charset="-128"/>
              </a:rPr>
              <a:t>또한 산맥이 있고 완곡한 표현을 선호하는 것 같습니다</a:t>
            </a:r>
            <a:r>
              <a:rPr lang="en-US" altLang="ko-KR" dirty="0">
                <a:latin typeface="MS Gothic" panose="020B0609070205080204" pitchFamily="49" charset="-128"/>
                <a:ea typeface="MS Gothic" panose="020B0609070205080204" pitchFamily="49" charset="-128"/>
              </a:rPr>
              <a:t>. </a:t>
            </a:r>
            <a:r>
              <a:rPr lang="ko-KR" altLang="en-US" dirty="0">
                <a:latin typeface="MS Gothic" panose="020B0609070205080204" pitchFamily="49" charset="-128"/>
              </a:rPr>
              <a:t>간단하게는 「</a:t>
            </a:r>
            <a:r>
              <a:rPr lang="ja-JP" altLang="en-US" dirty="0">
                <a:latin typeface="MS Gothic" panose="020B0609070205080204" pitchFamily="49" charset="-128"/>
              </a:rPr>
              <a:t>して</a:t>
            </a:r>
            <a:r>
              <a:rPr lang="ja-JP" altLang="en-US" dirty="0">
                <a:latin typeface="MS Gothic" panose="020B0609070205080204" pitchFamily="49" charset="-128"/>
                <a:ea typeface="MS Gothic" panose="020B0609070205080204" pitchFamily="49" charset="-128"/>
              </a:rPr>
              <a:t>ください</a:t>
            </a:r>
            <a:r>
              <a:rPr lang="ko-KR" altLang="en-US" dirty="0">
                <a:latin typeface="MS Gothic" panose="020B0609070205080204" pitchFamily="49" charset="-128"/>
              </a:rPr>
              <a:t>」라고 말하는 대신 「</a:t>
            </a:r>
            <a:r>
              <a:rPr lang="ja-JP" altLang="en-US" dirty="0">
                <a:latin typeface="MS Gothic" panose="020B0609070205080204" pitchFamily="49" charset="-128"/>
                <a:ea typeface="MS Gothic" panose="020B0609070205080204" pitchFamily="49" charset="-128"/>
              </a:rPr>
              <a:t>していただければと存じます</a:t>
            </a:r>
            <a:r>
              <a:rPr lang="ko-KR" altLang="en-US" dirty="0">
                <a:latin typeface="MS Gothic" panose="020B0609070205080204" pitchFamily="49" charset="-128"/>
              </a:rPr>
              <a:t>」나 「</a:t>
            </a:r>
            <a:r>
              <a:rPr lang="ja-JP" altLang="en-US" dirty="0">
                <a:latin typeface="MS Gothic" panose="020B0609070205080204" pitchFamily="49" charset="-128"/>
                <a:ea typeface="MS Gothic" panose="020B0609070205080204" pitchFamily="49" charset="-128"/>
              </a:rPr>
              <a:t>お手数をおかけしますが</a:t>
            </a:r>
            <a:r>
              <a:rPr lang="ko-KR" altLang="en-US" dirty="0">
                <a:latin typeface="MS Gothic" panose="020B0609070205080204" pitchFamily="49" charset="-128"/>
              </a:rPr>
              <a:t>」</a:t>
            </a:r>
            <a:endParaRPr lang="ko-KR" altLang="en-US" dirty="0"/>
          </a:p>
        </p:txBody>
      </p:sp>
    </p:spTree>
    <p:extLst>
      <p:ext uri="{BB962C8B-B14F-4D97-AF65-F5344CB8AC3E}">
        <p14:creationId xmlns:p14="http://schemas.microsoft.com/office/powerpoint/2010/main" val="1626133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7D792-10C1-0458-1189-ECF9EA4E3DEA}"/>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1B75D69C-6089-44A6-D4F5-C729EE7F55A9}"/>
              </a:ext>
            </a:extLst>
          </p:cNvPr>
          <p:cNvSpPr>
            <a:spLocks noGrp="1"/>
          </p:cNvSpPr>
          <p:nvPr>
            <p:ph idx="1"/>
          </p:nvPr>
        </p:nvSpPr>
        <p:spPr/>
        <p:txBody>
          <a:bodyPr/>
          <a:lstStyle/>
          <a:p>
            <a:r>
              <a:rPr lang="ko-KR" altLang="en-US" dirty="0"/>
              <a:t>마지막으로 한국의 경우 어느 정도 친해지면 편지에도 형식을 간단하게</a:t>
            </a:r>
            <a:r>
              <a:rPr lang="en-US" altLang="ko-KR" dirty="0"/>
              <a:t> </a:t>
            </a:r>
            <a:r>
              <a:rPr lang="ko-KR" altLang="en-US" dirty="0"/>
              <a:t>하는 경우가 있는데 일본은 그렇지 않습니다</a:t>
            </a:r>
            <a:r>
              <a:rPr lang="en-US" altLang="ko-KR" dirty="0"/>
              <a:t>. </a:t>
            </a:r>
          </a:p>
          <a:p>
            <a:endParaRPr lang="en-US" altLang="ko-KR" dirty="0"/>
          </a:p>
          <a:p>
            <a:r>
              <a:rPr lang="ko-KR" altLang="en-US" dirty="0"/>
              <a:t>일본에서는 </a:t>
            </a:r>
            <a:r>
              <a:rPr lang="en-US" altLang="ko-KR" dirty="0"/>
              <a:t>2~3</a:t>
            </a:r>
            <a:r>
              <a:rPr lang="ko-KR" altLang="en-US" dirty="0"/>
              <a:t>년 정도 친밀도가 쌓이지 않는 한 메일에서는 계속해서 정중하고 예의 바르게 표현을 유지하는 경우가 대부분인 것 같습니다</a:t>
            </a:r>
            <a:r>
              <a:rPr lang="en-US" altLang="ko-KR" dirty="0"/>
              <a:t>.</a:t>
            </a:r>
          </a:p>
          <a:p>
            <a:endParaRPr lang="ko-KR" altLang="en-US" dirty="0"/>
          </a:p>
        </p:txBody>
      </p:sp>
    </p:spTree>
    <p:extLst>
      <p:ext uri="{BB962C8B-B14F-4D97-AF65-F5344CB8AC3E}">
        <p14:creationId xmlns:p14="http://schemas.microsoft.com/office/powerpoint/2010/main" val="14210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2A6278-D4F4-166A-8CF0-81981B52BD6B}"/>
              </a:ext>
            </a:extLst>
          </p:cNvPr>
          <p:cNvSpPr>
            <a:spLocks noGrp="1"/>
          </p:cNvSpPr>
          <p:nvPr>
            <p:ph type="title"/>
          </p:nvPr>
        </p:nvSpPr>
        <p:spPr/>
        <p:txBody>
          <a:bodyPr/>
          <a:lstStyle/>
          <a:p>
            <a:r>
              <a:rPr lang="ko-KR" altLang="en-US" dirty="0" err="1"/>
              <a:t>이우도</a:t>
            </a:r>
            <a:r>
              <a:rPr lang="en-US" altLang="ko-KR" dirty="0"/>
              <a:t>, </a:t>
            </a:r>
            <a:r>
              <a:rPr lang="ko-KR" altLang="en-US" dirty="0"/>
              <a:t>박성욱</a:t>
            </a:r>
            <a:r>
              <a:rPr lang="en-US" altLang="ko-KR" dirty="0"/>
              <a:t>, </a:t>
            </a:r>
            <a:r>
              <a:rPr lang="ko-KR" altLang="en-US" dirty="0"/>
              <a:t>조성훈</a:t>
            </a:r>
            <a:r>
              <a:rPr lang="en-US" altLang="ko-KR" dirty="0"/>
              <a:t>, </a:t>
            </a:r>
            <a:r>
              <a:rPr lang="ko-KR" altLang="en-US" dirty="0"/>
              <a:t>김용운 </a:t>
            </a:r>
          </a:p>
        </p:txBody>
      </p:sp>
      <p:sp>
        <p:nvSpPr>
          <p:cNvPr id="3" name="내용 개체 틀 2">
            <a:extLst>
              <a:ext uri="{FF2B5EF4-FFF2-40B4-BE49-F238E27FC236}">
                <a16:creationId xmlns:a16="http://schemas.microsoft.com/office/drawing/2014/main" id="{B4BF4DAA-946C-48ED-393D-0E60CD6A8545}"/>
              </a:ext>
            </a:extLst>
          </p:cNvPr>
          <p:cNvSpPr>
            <a:spLocks noGrp="1"/>
          </p:cNvSpPr>
          <p:nvPr>
            <p:ph idx="1"/>
          </p:nvPr>
        </p:nvSpPr>
        <p:spPr/>
        <p:txBody>
          <a:bodyPr>
            <a:normAutofit fontScale="92500" lnSpcReduction="10000"/>
          </a:bodyPr>
          <a:lstStyle/>
          <a:p>
            <a:r>
              <a:rPr lang="ko-KR" altLang="en-US" dirty="0"/>
              <a:t>이메일 </a:t>
            </a:r>
            <a:r>
              <a:rPr lang="en-US" altLang="ko-KR" dirty="0"/>
              <a:t>1</a:t>
            </a:r>
            <a:r>
              <a:rPr lang="ko-KR" altLang="en-US" dirty="0"/>
              <a:t>과 이메일 </a:t>
            </a:r>
            <a:r>
              <a:rPr lang="en-US" altLang="ko-KR" dirty="0"/>
              <a:t>2 </a:t>
            </a:r>
            <a:r>
              <a:rPr lang="ko-KR" altLang="en-US" dirty="0"/>
              <a:t>모두 형식적 측면에서 일본 비즈니스 이메일의 전형적인 구조를 따른다</a:t>
            </a:r>
            <a:r>
              <a:rPr lang="en-US" altLang="ko-KR" dirty="0"/>
              <a:t>. </a:t>
            </a:r>
          </a:p>
          <a:p>
            <a:endParaRPr lang="en-US" altLang="ko-KR" dirty="0"/>
          </a:p>
          <a:p>
            <a:r>
              <a:rPr lang="ko-KR" altLang="en-US" dirty="0"/>
              <a:t>예를 들어 </a:t>
            </a:r>
            <a:r>
              <a:rPr lang="en-US" altLang="ko-KR" dirty="0"/>
              <a:t>1.</a:t>
            </a:r>
            <a:r>
              <a:rPr lang="ko-KR" altLang="en-US" dirty="0"/>
              <a:t>인사말 </a:t>
            </a:r>
            <a:r>
              <a:rPr lang="en-US" altLang="ko-KR" dirty="0"/>
              <a:t>2.</a:t>
            </a:r>
            <a:r>
              <a:rPr lang="ko-KR" altLang="en-US" dirty="0"/>
              <a:t>본론 </a:t>
            </a:r>
            <a:r>
              <a:rPr lang="en-US" altLang="ko-KR" dirty="0"/>
              <a:t>3.</a:t>
            </a:r>
            <a:r>
              <a:rPr lang="ko-KR" altLang="en-US" dirty="0"/>
              <a:t>확인 요청 </a:t>
            </a:r>
            <a:r>
              <a:rPr lang="en-US" altLang="ko-KR" dirty="0"/>
              <a:t>4.</a:t>
            </a:r>
            <a:r>
              <a:rPr lang="ko-KR" altLang="en-US" dirty="0"/>
              <a:t>맺음말의 순서로 전개되는 방식이다</a:t>
            </a:r>
            <a:r>
              <a:rPr lang="en-US" altLang="ko-KR" dirty="0"/>
              <a:t>. </a:t>
            </a:r>
            <a:r>
              <a:rPr lang="ko-KR" altLang="en-US" dirty="0"/>
              <a:t>또한</a:t>
            </a:r>
            <a:r>
              <a:rPr lang="en-US" altLang="ko-KR" dirty="0"/>
              <a:t>, </a:t>
            </a:r>
            <a:r>
              <a:rPr lang="ko-KR" altLang="en-US" dirty="0"/>
              <a:t>정중 표현의 측면에서 “お世話になっております”“どうぞよろしくお願いいたします”와 같은 경어를 사용한다</a:t>
            </a:r>
            <a:r>
              <a:rPr lang="en-US" altLang="ko-KR" dirty="0"/>
              <a:t>.  </a:t>
            </a:r>
            <a:r>
              <a:rPr lang="ko-KR" altLang="en-US" dirty="0"/>
              <a:t>날씨를 언급한다는 점도 특징으로 볼 수 있다</a:t>
            </a:r>
            <a:r>
              <a:rPr lang="en-US" altLang="ko-KR" dirty="0"/>
              <a:t>. </a:t>
            </a:r>
          </a:p>
          <a:p>
            <a:endParaRPr lang="en-US" altLang="ko-KR" dirty="0"/>
          </a:p>
        </p:txBody>
      </p:sp>
    </p:spTree>
    <p:extLst>
      <p:ext uri="{BB962C8B-B14F-4D97-AF65-F5344CB8AC3E}">
        <p14:creationId xmlns:p14="http://schemas.microsoft.com/office/powerpoint/2010/main" val="3668068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3B4129-A26A-B2D3-1AB3-015AFEED710E}"/>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A654B4F7-701F-6305-5E37-29A8D4E6DAB3}"/>
              </a:ext>
            </a:extLst>
          </p:cNvPr>
          <p:cNvSpPr>
            <a:spLocks noGrp="1"/>
          </p:cNvSpPr>
          <p:nvPr>
            <p:ph idx="1"/>
          </p:nvPr>
        </p:nvSpPr>
        <p:spPr/>
        <p:txBody>
          <a:bodyPr>
            <a:normAutofit fontScale="85000" lnSpcReduction="10000"/>
          </a:bodyPr>
          <a:lstStyle/>
          <a:p>
            <a:r>
              <a:rPr lang="ko-KR" altLang="en-US" dirty="0"/>
              <a:t>본론에 들어가기 전에 날씨</a:t>
            </a:r>
            <a:r>
              <a:rPr lang="en-US" altLang="ko-KR" dirty="0"/>
              <a:t>·</a:t>
            </a:r>
            <a:r>
              <a:rPr lang="ko-KR" altLang="en-US" dirty="0"/>
              <a:t>계절을 언급하여 분위기를 부드럽게 만든다</a:t>
            </a:r>
            <a:r>
              <a:rPr lang="en-US" altLang="ko-KR" dirty="0"/>
              <a:t>. </a:t>
            </a:r>
            <a:r>
              <a:rPr lang="ko-KR" altLang="en-US" dirty="0"/>
              <a:t>다만 글의 구성 방식에서는 조금 차이가 있다</a:t>
            </a:r>
            <a:r>
              <a:rPr lang="en-US" altLang="ko-KR" dirty="0"/>
              <a:t>. </a:t>
            </a:r>
          </a:p>
          <a:p>
            <a:endParaRPr lang="en-US" altLang="ko-KR" dirty="0"/>
          </a:p>
          <a:p>
            <a:r>
              <a:rPr lang="ko-KR" altLang="en-US" dirty="0"/>
              <a:t>이메일 </a:t>
            </a:r>
            <a:r>
              <a:rPr lang="en-US" altLang="ko-KR" dirty="0"/>
              <a:t>1</a:t>
            </a:r>
            <a:r>
              <a:rPr lang="ko-KR" altLang="en-US" dirty="0"/>
              <a:t>을 보면 문장을 짧게 나누어 나열하는 형태가 많다</a:t>
            </a:r>
            <a:r>
              <a:rPr lang="en-US" altLang="ko-KR" dirty="0"/>
              <a:t>. </a:t>
            </a:r>
            <a:r>
              <a:rPr lang="ko-KR" altLang="en-US" dirty="0"/>
              <a:t>한 문단에 여러 가지 내용을 담기보다는</a:t>
            </a:r>
            <a:r>
              <a:rPr lang="en-US" altLang="ko-KR" dirty="0"/>
              <a:t>, </a:t>
            </a:r>
            <a:r>
              <a:rPr lang="ko-KR" altLang="en-US" dirty="0"/>
              <a:t>문장 단위로 쪼개어 정중하게 이어가는 방식이 일반적이다</a:t>
            </a:r>
            <a:r>
              <a:rPr lang="en-US" altLang="ko-KR" dirty="0"/>
              <a:t>. </a:t>
            </a:r>
          </a:p>
          <a:p>
            <a:r>
              <a:rPr lang="ko-KR" altLang="en-US" dirty="0"/>
              <a:t>반면 이메일 </a:t>
            </a:r>
            <a:r>
              <a:rPr lang="en-US" altLang="ko-KR" dirty="0"/>
              <a:t>2</a:t>
            </a:r>
            <a:r>
              <a:rPr lang="ko-KR" altLang="en-US" dirty="0"/>
              <a:t>는 보통 문단별로 묶어 서술하는 경우가 많다</a:t>
            </a:r>
            <a:r>
              <a:rPr lang="en-US" altLang="ko-KR" dirty="0"/>
              <a:t>. </a:t>
            </a:r>
            <a:r>
              <a:rPr lang="ko-KR" altLang="en-US" dirty="0"/>
              <a:t>즉 인사말</a:t>
            </a:r>
            <a:r>
              <a:rPr lang="en-US" altLang="ko-KR" dirty="0"/>
              <a:t>·</a:t>
            </a:r>
            <a:r>
              <a:rPr lang="ko-KR" altLang="en-US" dirty="0"/>
              <a:t>본론</a:t>
            </a:r>
            <a:r>
              <a:rPr lang="en-US" altLang="ko-KR" dirty="0"/>
              <a:t>·</a:t>
            </a:r>
            <a:r>
              <a:rPr lang="ko-KR" altLang="en-US" dirty="0"/>
              <a:t>맺음말을 나누되 각 문단 안에서 내용이 비교적 길게 이어진다</a:t>
            </a:r>
            <a:r>
              <a:rPr lang="en-US" altLang="ko-KR" dirty="0"/>
              <a:t>. </a:t>
            </a:r>
            <a:endParaRPr lang="ko-KR" altLang="en-US" dirty="0"/>
          </a:p>
          <a:p>
            <a:endParaRPr lang="ko-KR" altLang="en-US" dirty="0"/>
          </a:p>
        </p:txBody>
      </p:sp>
    </p:spTree>
    <p:extLst>
      <p:ext uri="{BB962C8B-B14F-4D97-AF65-F5344CB8AC3E}">
        <p14:creationId xmlns:p14="http://schemas.microsoft.com/office/powerpoint/2010/main" val="2806039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84EAC6-AF46-235C-9060-4B6C616154C4}"/>
              </a:ext>
            </a:extLst>
          </p:cNvPr>
          <p:cNvSpPr>
            <a:spLocks noGrp="1"/>
          </p:cNvSpPr>
          <p:nvPr>
            <p:ph type="title"/>
          </p:nvPr>
        </p:nvSpPr>
        <p:spPr/>
        <p:txBody>
          <a:bodyPr>
            <a:normAutofit fontScale="90000"/>
          </a:bodyPr>
          <a:lstStyle/>
          <a:p>
            <a:r>
              <a:rPr lang="ko-KR" altLang="en-US" dirty="0" err="1"/>
              <a:t>김채윤</a:t>
            </a:r>
            <a:r>
              <a:rPr lang="en-US" altLang="ko-KR" dirty="0"/>
              <a:t>, </a:t>
            </a:r>
            <a:r>
              <a:rPr lang="ko-KR" altLang="en-US" dirty="0"/>
              <a:t>김하원</a:t>
            </a:r>
            <a:r>
              <a:rPr lang="en-US" altLang="ko-KR" dirty="0"/>
              <a:t>, </a:t>
            </a:r>
            <a:r>
              <a:rPr lang="ko-KR" altLang="en-US" dirty="0" err="1"/>
              <a:t>박하원</a:t>
            </a:r>
            <a:r>
              <a:rPr lang="en-US" altLang="ko-KR" dirty="0"/>
              <a:t>, </a:t>
            </a:r>
            <a:r>
              <a:rPr lang="ko-KR" altLang="en-US" dirty="0" err="1"/>
              <a:t>서가을</a:t>
            </a:r>
            <a:r>
              <a:rPr lang="en-US" altLang="ko-KR" dirty="0"/>
              <a:t>, </a:t>
            </a:r>
            <a:r>
              <a:rPr lang="ko-KR" altLang="en-US" dirty="0" err="1"/>
              <a:t>히나</a:t>
            </a:r>
            <a:endParaRPr lang="ko-KR" altLang="en-US" dirty="0"/>
          </a:p>
        </p:txBody>
      </p:sp>
      <p:sp>
        <p:nvSpPr>
          <p:cNvPr id="3" name="내용 개체 틀 2">
            <a:extLst>
              <a:ext uri="{FF2B5EF4-FFF2-40B4-BE49-F238E27FC236}">
                <a16:creationId xmlns:a16="http://schemas.microsoft.com/office/drawing/2014/main" id="{2170A154-49B8-724B-3177-93E3BA01365E}"/>
              </a:ext>
            </a:extLst>
          </p:cNvPr>
          <p:cNvSpPr>
            <a:spLocks noGrp="1"/>
          </p:cNvSpPr>
          <p:nvPr>
            <p:ph idx="1"/>
          </p:nvPr>
        </p:nvSpPr>
        <p:spPr/>
        <p:txBody>
          <a:bodyPr>
            <a:normAutofit fontScale="92500" lnSpcReduction="10000"/>
          </a:bodyPr>
          <a:lstStyle/>
          <a:p>
            <a:r>
              <a:rPr lang="en-US" altLang="ko-KR" dirty="0"/>
              <a:t>1. </a:t>
            </a:r>
            <a:r>
              <a:rPr lang="ja-JP" altLang="en-US" dirty="0"/>
              <a:t>こんにちは</a:t>
            </a:r>
            <a:r>
              <a:rPr lang="ko-KR" altLang="en-US" dirty="0"/>
              <a:t>가 아니라</a:t>
            </a:r>
            <a:r>
              <a:rPr lang="en-US" altLang="ko-KR" dirty="0"/>
              <a:t>, </a:t>
            </a:r>
            <a:r>
              <a:rPr lang="ja-JP" altLang="en-US" dirty="0"/>
              <a:t>お世話になっております</a:t>
            </a:r>
            <a:r>
              <a:rPr lang="ko-KR" altLang="en-US" dirty="0"/>
              <a:t>가 시작된다</a:t>
            </a:r>
            <a:r>
              <a:rPr lang="en-US" altLang="ko-KR" dirty="0"/>
              <a:t>.</a:t>
            </a:r>
          </a:p>
          <a:p>
            <a:r>
              <a:rPr lang="en-US" altLang="ko-KR" dirty="0"/>
              <a:t>2. </a:t>
            </a:r>
            <a:r>
              <a:rPr lang="ko-KR" altLang="en-US" dirty="0"/>
              <a:t>한국에서는 바로 본론으로 운영되고</a:t>
            </a:r>
            <a:r>
              <a:rPr lang="en-US" altLang="ko-KR" dirty="0"/>
              <a:t>, </a:t>
            </a:r>
            <a:r>
              <a:rPr lang="ko-KR" altLang="en-US" dirty="0"/>
              <a:t>두 이메일에서 모두 梅雨라는 계절을 언급했습니다</a:t>
            </a:r>
            <a:r>
              <a:rPr lang="en-US" altLang="ko-KR" dirty="0"/>
              <a:t>.</a:t>
            </a:r>
          </a:p>
          <a:p>
            <a:r>
              <a:rPr lang="en-US" altLang="ko-KR" dirty="0"/>
              <a:t>5. </a:t>
            </a:r>
            <a:r>
              <a:rPr lang="ko-KR" altLang="en-US" dirty="0"/>
              <a:t>글을 마칠 때 한국에서는 </a:t>
            </a:r>
            <a:r>
              <a:rPr lang="en-US" altLang="ko-KR" dirty="0"/>
              <a:t>'</a:t>
            </a:r>
            <a:r>
              <a:rPr lang="ko-KR" altLang="en-US" dirty="0"/>
              <a:t>감사합니다</a:t>
            </a:r>
            <a:r>
              <a:rPr lang="en-US" altLang="ko-KR" dirty="0"/>
              <a:t>.'</a:t>
            </a:r>
            <a:r>
              <a:rPr lang="ko-KR" altLang="en-US" dirty="0"/>
              <a:t>로 끝냄</a:t>
            </a:r>
            <a:endParaRPr lang="en-US" altLang="ko-KR" dirty="0"/>
          </a:p>
          <a:p>
            <a:r>
              <a:rPr lang="en-US" altLang="ko-KR" dirty="0"/>
              <a:t>6. </a:t>
            </a:r>
            <a:r>
              <a:rPr lang="ko-KR" altLang="en-US" dirty="0"/>
              <a:t>한국에서는 이름 뒤에 </a:t>
            </a:r>
            <a:r>
              <a:rPr lang="en-US" altLang="ko-KR" dirty="0"/>
              <a:t>OOO</a:t>
            </a:r>
            <a:r>
              <a:rPr lang="ko-KR" altLang="en-US" dirty="0"/>
              <a:t>올림</a:t>
            </a:r>
            <a:r>
              <a:rPr lang="en-US" altLang="ko-KR" dirty="0"/>
              <a:t>/</a:t>
            </a:r>
            <a:r>
              <a:rPr lang="ko-KR" altLang="en-US" dirty="0"/>
              <a:t>드림 등을 추가하는 편인데</a:t>
            </a:r>
            <a:r>
              <a:rPr lang="en-US" altLang="ko-KR" dirty="0"/>
              <a:t>, </a:t>
            </a:r>
            <a:r>
              <a:rPr lang="ko-KR" altLang="en-US" dirty="0"/>
              <a:t>두 이메일에서는 모두 이름만 제시했습니다</a:t>
            </a:r>
            <a:r>
              <a:rPr lang="en-US" altLang="ko-KR" dirty="0"/>
              <a:t>.</a:t>
            </a:r>
          </a:p>
          <a:p>
            <a:endParaRPr lang="ko-KR" altLang="en-US" dirty="0"/>
          </a:p>
        </p:txBody>
      </p:sp>
    </p:spTree>
    <p:extLst>
      <p:ext uri="{BB962C8B-B14F-4D97-AF65-F5344CB8AC3E}">
        <p14:creationId xmlns:p14="http://schemas.microsoft.com/office/powerpoint/2010/main" val="2885952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3ECFA0-E0DF-2544-FCFF-F756ED04454E}"/>
              </a:ext>
            </a:extLst>
          </p:cNvPr>
          <p:cNvSpPr>
            <a:spLocks noGrp="1"/>
          </p:cNvSpPr>
          <p:nvPr>
            <p:ph type="title"/>
          </p:nvPr>
        </p:nvSpPr>
        <p:spPr/>
        <p:txBody>
          <a:bodyPr>
            <a:normAutofit fontScale="90000"/>
          </a:bodyPr>
          <a:lstStyle/>
          <a:p>
            <a:r>
              <a:rPr lang="ko-KR" altLang="en-US" dirty="0" err="1"/>
              <a:t>아이노</a:t>
            </a:r>
            <a:r>
              <a:rPr lang="en-US" altLang="ko-KR" dirty="0"/>
              <a:t>, </a:t>
            </a:r>
            <a:r>
              <a:rPr lang="ko-KR" altLang="en-US" dirty="0"/>
              <a:t>김태희</a:t>
            </a:r>
            <a:r>
              <a:rPr lang="en-US" altLang="ko-KR" dirty="0"/>
              <a:t>, </a:t>
            </a:r>
            <a:r>
              <a:rPr lang="ko-KR" altLang="en-US" dirty="0"/>
              <a:t>김세연</a:t>
            </a:r>
            <a:r>
              <a:rPr lang="en-US" altLang="ko-KR" dirty="0"/>
              <a:t>, </a:t>
            </a:r>
            <a:r>
              <a:rPr lang="ko-KR" altLang="en-US" dirty="0" err="1"/>
              <a:t>강예리</a:t>
            </a:r>
            <a:r>
              <a:rPr lang="en-US" altLang="ko-KR" dirty="0"/>
              <a:t>, </a:t>
            </a:r>
            <a:r>
              <a:rPr lang="ko-KR" altLang="en-US" dirty="0"/>
              <a:t>김지연</a:t>
            </a:r>
          </a:p>
        </p:txBody>
      </p:sp>
      <p:sp>
        <p:nvSpPr>
          <p:cNvPr id="3" name="내용 개체 틀 2">
            <a:extLst>
              <a:ext uri="{FF2B5EF4-FFF2-40B4-BE49-F238E27FC236}">
                <a16:creationId xmlns:a16="http://schemas.microsoft.com/office/drawing/2014/main" id="{24A6B0C8-D714-EC82-EBB3-6BEA4EE99C8E}"/>
              </a:ext>
            </a:extLst>
          </p:cNvPr>
          <p:cNvSpPr>
            <a:spLocks noGrp="1"/>
          </p:cNvSpPr>
          <p:nvPr>
            <p:ph idx="1"/>
          </p:nvPr>
        </p:nvSpPr>
        <p:spPr/>
        <p:txBody>
          <a:bodyPr>
            <a:normAutofit fontScale="92500" lnSpcReduction="20000"/>
          </a:bodyPr>
          <a:lstStyle/>
          <a:p>
            <a:r>
              <a:rPr lang="ko-KR" altLang="en-US" dirty="0"/>
              <a:t>메일</a:t>
            </a:r>
            <a:r>
              <a:rPr lang="en-US" altLang="ko-KR" dirty="0"/>
              <a:t>1</a:t>
            </a:r>
            <a:r>
              <a:rPr lang="ko-KR" altLang="en-US" dirty="0"/>
              <a:t>과 메일</a:t>
            </a:r>
            <a:r>
              <a:rPr lang="en-US" altLang="ko-KR" dirty="0"/>
              <a:t>2</a:t>
            </a:r>
            <a:r>
              <a:rPr lang="ko-KR" altLang="en-US" dirty="0"/>
              <a:t>에는 보낸 사람의 이름만 쓰여 있다</a:t>
            </a:r>
            <a:r>
              <a:rPr lang="en-US" altLang="ko-KR" dirty="0"/>
              <a:t>. </a:t>
            </a:r>
            <a:r>
              <a:rPr lang="ko-KR" altLang="en-US" dirty="0"/>
              <a:t>하지만 한국에서는 보내는</a:t>
            </a:r>
            <a:r>
              <a:rPr lang="ja-JP" altLang="en-US" dirty="0"/>
              <a:t>　</a:t>
            </a:r>
            <a:r>
              <a:rPr lang="ko-KR" altLang="en-US" dirty="0"/>
              <a:t>사람의 이름 뒤에 </a:t>
            </a:r>
            <a:r>
              <a:rPr lang="ja-JP" altLang="en-US" dirty="0"/>
              <a:t>（</a:t>
            </a:r>
            <a:r>
              <a:rPr lang="ko-KR" altLang="en-US" dirty="0"/>
              <a:t>드림</a:t>
            </a:r>
            <a:r>
              <a:rPr lang="ja-JP" altLang="en-US" dirty="0"/>
              <a:t>）</a:t>
            </a:r>
            <a:r>
              <a:rPr lang="ko-KR" altLang="en-US" dirty="0"/>
              <a:t>을 주로 쓴다</a:t>
            </a:r>
            <a:r>
              <a:rPr lang="en-US" altLang="ko-KR" dirty="0"/>
              <a:t>. </a:t>
            </a:r>
            <a:r>
              <a:rPr lang="ko-KR" altLang="en-US" dirty="0"/>
              <a:t>일본은 편지와 다르게 메일에서 이름 뒤 </a:t>
            </a:r>
            <a:r>
              <a:rPr lang="ja-JP" altLang="en-US" dirty="0"/>
              <a:t>（</a:t>
            </a:r>
            <a:r>
              <a:rPr lang="ko-KR" altLang="en-US" dirty="0"/>
              <a:t>드림</a:t>
            </a:r>
            <a:r>
              <a:rPr lang="ja-JP" altLang="en-US" dirty="0"/>
              <a:t>） </a:t>
            </a:r>
            <a:r>
              <a:rPr lang="ko-KR" altLang="en-US" dirty="0"/>
              <a:t>등은 붙이지 않는다</a:t>
            </a:r>
            <a:r>
              <a:rPr lang="en-US" altLang="ko-KR" dirty="0"/>
              <a:t>.</a:t>
            </a:r>
          </a:p>
          <a:p>
            <a:endParaRPr lang="en-US" altLang="ko-KR" dirty="0"/>
          </a:p>
          <a:p>
            <a:r>
              <a:rPr lang="ko-KR" altLang="en-US" dirty="0"/>
              <a:t>한국에서도 날씨 이야기로 메일을 시작하는 경우가 있지만</a:t>
            </a:r>
            <a:r>
              <a:rPr lang="en-US" altLang="ko-KR" dirty="0"/>
              <a:t>, </a:t>
            </a:r>
            <a:r>
              <a:rPr lang="ko-KR" altLang="en-US" dirty="0"/>
              <a:t>최근에는 선호하지 않는</a:t>
            </a:r>
            <a:r>
              <a:rPr lang="ja-JP" altLang="en-US" dirty="0"/>
              <a:t>　</a:t>
            </a:r>
            <a:r>
              <a:rPr lang="ko-KR" altLang="en-US" dirty="0"/>
              <a:t>경향인데</a:t>
            </a:r>
            <a:r>
              <a:rPr lang="en-US" altLang="ko-KR" dirty="0"/>
              <a:t>, </a:t>
            </a:r>
            <a:r>
              <a:rPr lang="ko-KR" altLang="en-US" dirty="0"/>
              <a:t>메일</a:t>
            </a:r>
            <a:r>
              <a:rPr lang="en-US" altLang="ko-KR" dirty="0"/>
              <a:t>1</a:t>
            </a:r>
            <a:r>
              <a:rPr lang="ko-KR" altLang="en-US" dirty="0"/>
              <a:t>과 메일</a:t>
            </a:r>
            <a:r>
              <a:rPr lang="en-US" altLang="ko-KR" dirty="0"/>
              <a:t>2</a:t>
            </a:r>
            <a:r>
              <a:rPr lang="ko-KR" altLang="en-US" dirty="0"/>
              <a:t>는 모두 날씨 이야기로 시작한다</a:t>
            </a:r>
            <a:r>
              <a:rPr lang="en-US" altLang="ko-KR" dirty="0"/>
              <a:t>. </a:t>
            </a:r>
            <a:r>
              <a:rPr lang="ko-KR" altLang="en-US" dirty="0"/>
              <a:t>일본에서는 메일 초반에</a:t>
            </a:r>
            <a:r>
              <a:rPr lang="ja-JP" altLang="en-US" dirty="0"/>
              <a:t>　</a:t>
            </a:r>
            <a:r>
              <a:rPr lang="ko-KR" altLang="en-US" dirty="0"/>
              <a:t>날씨 이야기를 많이 한다</a:t>
            </a:r>
            <a:r>
              <a:rPr lang="en-US" altLang="ko-KR" dirty="0"/>
              <a:t>.</a:t>
            </a:r>
          </a:p>
        </p:txBody>
      </p:sp>
    </p:spTree>
    <p:extLst>
      <p:ext uri="{BB962C8B-B14F-4D97-AF65-F5344CB8AC3E}">
        <p14:creationId xmlns:p14="http://schemas.microsoft.com/office/powerpoint/2010/main" val="3637304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AD1C75D-5AC7-8ED4-1360-0587E6FAE0EC}"/>
              </a:ext>
            </a:extLst>
          </p:cNvPr>
          <p:cNvSpPr>
            <a:spLocks noGrp="1"/>
          </p:cNvSpPr>
          <p:nvPr>
            <p:ph type="title"/>
          </p:nvPr>
        </p:nvSpPr>
        <p:spPr/>
        <p:txBody>
          <a:bodyPr/>
          <a:lstStyle/>
          <a:p>
            <a:endParaRPr lang="ko-KR" altLang="en-US"/>
          </a:p>
        </p:txBody>
      </p:sp>
      <p:sp>
        <p:nvSpPr>
          <p:cNvPr id="3" name="내용 개체 틀 2">
            <a:extLst>
              <a:ext uri="{FF2B5EF4-FFF2-40B4-BE49-F238E27FC236}">
                <a16:creationId xmlns:a16="http://schemas.microsoft.com/office/drawing/2014/main" id="{ED4B95F9-6F98-CD2A-3B9A-BA58C8AB15AE}"/>
              </a:ext>
            </a:extLst>
          </p:cNvPr>
          <p:cNvSpPr>
            <a:spLocks noGrp="1"/>
          </p:cNvSpPr>
          <p:nvPr>
            <p:ph idx="1"/>
          </p:nvPr>
        </p:nvSpPr>
        <p:spPr>
          <a:xfrm>
            <a:off x="457200" y="1600200"/>
            <a:ext cx="8229600" cy="5213176"/>
          </a:xfrm>
        </p:spPr>
        <p:txBody>
          <a:bodyPr>
            <a:normAutofit fontScale="70000" lnSpcReduction="20000"/>
          </a:bodyPr>
          <a:lstStyle/>
          <a:p>
            <a:r>
              <a:rPr lang="ko-KR" altLang="en-US" dirty="0"/>
              <a:t>한국에서는 상대방이 보낸 메일로부터 알게 된 내용을 다시 언급할 경우</a:t>
            </a:r>
            <a:r>
              <a:rPr lang="en-US" altLang="ko-KR" dirty="0"/>
              <a:t>,</a:t>
            </a:r>
            <a:r>
              <a:rPr lang="ko-KR" altLang="en-US" dirty="0"/>
              <a:t>전체적으로 ‘잘 </a:t>
            </a:r>
            <a:r>
              <a:rPr lang="ko-KR" altLang="en-US" dirty="0" err="1"/>
              <a:t>알겠습니다’라고</a:t>
            </a:r>
            <a:r>
              <a:rPr lang="ko-KR" altLang="en-US" dirty="0"/>
              <a:t> 하는 편이다</a:t>
            </a:r>
            <a:r>
              <a:rPr lang="en-US" altLang="ko-KR" dirty="0"/>
              <a:t>. </a:t>
            </a:r>
          </a:p>
          <a:p>
            <a:endParaRPr lang="en-US" altLang="ko-KR" dirty="0"/>
          </a:p>
          <a:p>
            <a:r>
              <a:rPr lang="ko-KR" altLang="en-US" dirty="0"/>
              <a:t>하지만</a:t>
            </a:r>
            <a:r>
              <a:rPr lang="en-US" altLang="ko-KR" dirty="0"/>
              <a:t>, </a:t>
            </a:r>
            <a:r>
              <a:rPr lang="ko-KR" altLang="en-US" dirty="0"/>
              <a:t>메일 </a:t>
            </a:r>
            <a:r>
              <a:rPr lang="en-US" altLang="ko-KR" dirty="0"/>
              <a:t>2</a:t>
            </a:r>
            <a:r>
              <a:rPr lang="ko-KR" altLang="en-US" dirty="0"/>
              <a:t>에서 ‘そのうちお一人は韓国語ネイティブとのこと、承知しました。’</a:t>
            </a:r>
            <a:r>
              <a:rPr lang="en-US" altLang="ko-KR" dirty="0"/>
              <a:t>, ‘</a:t>
            </a:r>
            <a:r>
              <a:rPr lang="ko-KR" altLang="en-US" dirty="0"/>
              <a:t>日程も変更なしとのことで、承知いたしました。’ 등의 부분에서 알 수 있듯이 일본에서는 알게 된 내용을 명확하게</a:t>
            </a:r>
            <a:r>
              <a:rPr lang="ja-JP" altLang="en-US" dirty="0"/>
              <a:t>　</a:t>
            </a:r>
            <a:r>
              <a:rPr lang="ko-KR" altLang="en-US" dirty="0"/>
              <a:t>표현한다</a:t>
            </a:r>
            <a:r>
              <a:rPr lang="en-US" altLang="ko-KR" dirty="0"/>
              <a:t>.</a:t>
            </a:r>
          </a:p>
          <a:p>
            <a:endParaRPr lang="en-US" altLang="ko-KR" dirty="0"/>
          </a:p>
          <a:p>
            <a:r>
              <a:rPr lang="ko-KR" altLang="en-US" dirty="0"/>
              <a:t>한국에서는 용건만 간단하게 메일을 쓰는 편이다</a:t>
            </a:r>
            <a:r>
              <a:rPr lang="en-US" altLang="ko-KR" dirty="0"/>
              <a:t>. </a:t>
            </a:r>
            <a:r>
              <a:rPr lang="ko-KR" altLang="en-US" dirty="0"/>
              <a:t>특히 메일</a:t>
            </a:r>
            <a:r>
              <a:rPr lang="en-US" altLang="ko-KR" dirty="0"/>
              <a:t>1</a:t>
            </a:r>
            <a:r>
              <a:rPr lang="ko-KR" altLang="en-US" dirty="0"/>
              <a:t>의 경우 한국에서는</a:t>
            </a:r>
            <a:r>
              <a:rPr lang="ja-JP" altLang="en-US" dirty="0"/>
              <a:t>　</a:t>
            </a:r>
            <a:r>
              <a:rPr lang="ko-KR" altLang="en-US" dirty="0"/>
              <a:t>분량이 긴 편이다</a:t>
            </a:r>
            <a:r>
              <a:rPr lang="en-US" altLang="ko-KR" dirty="0"/>
              <a:t>. </a:t>
            </a:r>
            <a:r>
              <a:rPr lang="ko-KR" altLang="en-US" dirty="0"/>
              <a:t>하지만 일본에서는 메일을 너무 짧게 쓰면 실례이다</a:t>
            </a:r>
            <a:r>
              <a:rPr lang="en-US" altLang="ko-KR" dirty="0"/>
              <a:t>.</a:t>
            </a:r>
          </a:p>
          <a:p>
            <a:endParaRPr lang="en-US" altLang="ko-KR" dirty="0"/>
          </a:p>
          <a:p>
            <a:r>
              <a:rPr lang="ko-KR" altLang="en-US" dirty="0"/>
              <a:t>메일</a:t>
            </a:r>
            <a:r>
              <a:rPr lang="en-US" altLang="ko-KR" dirty="0"/>
              <a:t>1</a:t>
            </a:r>
            <a:r>
              <a:rPr lang="ko-KR" altLang="en-US" dirty="0"/>
              <a:t>에서 ‘引き続きどうぞよろしくお願いいたします。’</a:t>
            </a:r>
            <a:r>
              <a:rPr lang="en-US" altLang="ko-KR" dirty="0"/>
              <a:t>, </a:t>
            </a:r>
            <a:r>
              <a:rPr lang="ko-KR" altLang="en-US" dirty="0"/>
              <a:t>메일</a:t>
            </a:r>
            <a:r>
              <a:rPr lang="en-US" altLang="ko-KR" dirty="0"/>
              <a:t>2</a:t>
            </a:r>
            <a:r>
              <a:rPr lang="ko-KR" altLang="en-US" dirty="0"/>
              <a:t>에서 ‘それでは引き続き、どうぞよろしくお願いいたします。’의 부분에서 보이듯이 일본에서는</a:t>
            </a:r>
            <a:r>
              <a:rPr lang="ja-JP" altLang="en-US" dirty="0"/>
              <a:t>　</a:t>
            </a:r>
            <a:r>
              <a:rPr lang="ko-KR" altLang="en-US" dirty="0"/>
              <a:t>메일의 끝에 ‘잘 부탁드립니다</a:t>
            </a:r>
            <a:r>
              <a:rPr lang="en-US" altLang="ko-KR" dirty="0"/>
              <a:t>.’</a:t>
            </a:r>
            <a:r>
              <a:rPr lang="ko-KR" altLang="en-US" dirty="0"/>
              <a:t>라고 쓰는 편이지만</a:t>
            </a:r>
            <a:r>
              <a:rPr lang="en-US" altLang="ko-KR" dirty="0"/>
              <a:t>, </a:t>
            </a:r>
            <a:r>
              <a:rPr lang="ko-KR" altLang="en-US" dirty="0"/>
              <a:t>한국은 ‘감사합니다</a:t>
            </a:r>
            <a:r>
              <a:rPr lang="en-US" altLang="ko-KR" dirty="0"/>
              <a:t>.’</a:t>
            </a:r>
            <a:r>
              <a:rPr lang="ko-KR" altLang="en-US" dirty="0"/>
              <a:t>라고 주로</a:t>
            </a:r>
            <a:r>
              <a:rPr lang="ja-JP" altLang="en-US" dirty="0"/>
              <a:t>　</a:t>
            </a:r>
            <a:r>
              <a:rPr lang="ko-KR" altLang="en-US" dirty="0"/>
              <a:t>쓴다</a:t>
            </a:r>
            <a:r>
              <a:rPr lang="en-US" altLang="ko-KR" dirty="0"/>
              <a:t>.</a:t>
            </a:r>
            <a:endParaRPr lang="ko-KR" altLang="en-US" dirty="0"/>
          </a:p>
          <a:p>
            <a:endParaRPr lang="ko-KR" altLang="en-US" dirty="0"/>
          </a:p>
        </p:txBody>
      </p:sp>
    </p:spTree>
    <p:extLst>
      <p:ext uri="{BB962C8B-B14F-4D97-AF65-F5344CB8AC3E}">
        <p14:creationId xmlns:p14="http://schemas.microsoft.com/office/powerpoint/2010/main" val="4250197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1D9A6F-F1B3-54E4-60B7-0A3F50491117}"/>
              </a:ext>
            </a:extLst>
          </p:cNvPr>
          <p:cNvSpPr>
            <a:spLocks noGrp="1"/>
          </p:cNvSpPr>
          <p:nvPr>
            <p:ph type="title"/>
          </p:nvPr>
        </p:nvSpPr>
        <p:spPr/>
        <p:txBody>
          <a:bodyPr/>
          <a:lstStyle/>
          <a:p>
            <a:r>
              <a:rPr lang="ko-KR" altLang="en-US" dirty="0"/>
              <a:t>에인紅麗亜、전수현</a:t>
            </a:r>
            <a:r>
              <a:rPr lang="en-US" altLang="ko-KR" dirty="0"/>
              <a:t>, </a:t>
            </a:r>
            <a:r>
              <a:rPr lang="ko-KR" altLang="en-US" dirty="0"/>
              <a:t>허준서</a:t>
            </a:r>
          </a:p>
        </p:txBody>
      </p:sp>
      <p:sp>
        <p:nvSpPr>
          <p:cNvPr id="3" name="내용 개체 틀 2">
            <a:extLst>
              <a:ext uri="{FF2B5EF4-FFF2-40B4-BE49-F238E27FC236}">
                <a16:creationId xmlns:a16="http://schemas.microsoft.com/office/drawing/2014/main" id="{6847E4A5-BD35-B76C-E157-57A9A9D9BF4A}"/>
              </a:ext>
            </a:extLst>
          </p:cNvPr>
          <p:cNvSpPr>
            <a:spLocks noGrp="1"/>
          </p:cNvSpPr>
          <p:nvPr>
            <p:ph idx="1"/>
          </p:nvPr>
        </p:nvSpPr>
        <p:spPr/>
        <p:txBody>
          <a:bodyPr>
            <a:normAutofit/>
          </a:bodyPr>
          <a:lstStyle/>
          <a:p>
            <a:r>
              <a:rPr lang="ja-JP" altLang="en-US" dirty="0"/>
              <a:t>天気の話を入れる</a:t>
            </a:r>
            <a:r>
              <a:rPr lang="en-US" altLang="ja-JP" dirty="0"/>
              <a:t>.</a:t>
            </a:r>
          </a:p>
          <a:p>
            <a:r>
              <a:rPr lang="ja-JP" altLang="en-US" dirty="0"/>
              <a:t>返信する際に、内容を繰り返しながり、再確認する。</a:t>
            </a:r>
          </a:p>
          <a:p>
            <a:r>
              <a:rPr lang="ja-JP" altLang="en-US" dirty="0"/>
              <a:t>年次などの書き言葉。</a:t>
            </a:r>
          </a:p>
          <a:p>
            <a:r>
              <a:rPr lang="ja-JP" altLang="en-US" dirty="0"/>
              <a:t>一つ一つの文章が長い気がしたが。韓国語の場合は、「状況がわかりました」と送る。</a:t>
            </a:r>
            <a:endParaRPr lang="en-US" altLang="ja-JP" dirty="0"/>
          </a:p>
          <a:p>
            <a:endParaRPr lang="ko-KR" altLang="en-US" dirty="0"/>
          </a:p>
        </p:txBody>
      </p:sp>
    </p:spTree>
    <p:extLst>
      <p:ext uri="{BB962C8B-B14F-4D97-AF65-F5344CB8AC3E}">
        <p14:creationId xmlns:p14="http://schemas.microsoft.com/office/powerpoint/2010/main" val="4227634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作文ストラテジー</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熟達した書き手：何を書くか</a:t>
            </a:r>
            <a:r>
              <a:rPr lang="en-US" altLang="ja-JP" dirty="0"/>
              <a:t>(</a:t>
            </a:r>
            <a:r>
              <a:rPr lang="ja-JP" altLang="en-US" dirty="0">
                <a:solidFill>
                  <a:srgbClr val="0070C0"/>
                </a:solidFill>
              </a:rPr>
              <a:t>内容</a:t>
            </a:r>
            <a:r>
              <a:rPr lang="ja-JP" altLang="en-US" dirty="0"/>
              <a:t>）及びどう書くか（</a:t>
            </a:r>
            <a:r>
              <a:rPr lang="ja-JP" altLang="en-US" dirty="0">
                <a:solidFill>
                  <a:srgbClr val="0070C0"/>
                </a:solidFill>
              </a:rPr>
              <a:t>アウトライン</a:t>
            </a:r>
            <a:r>
              <a:rPr lang="ja-JP" altLang="en-US" dirty="0"/>
              <a:t>）について、書く前に時間をとって</a:t>
            </a:r>
            <a:r>
              <a:rPr lang="ja-JP" altLang="en-US" dirty="0">
                <a:solidFill>
                  <a:srgbClr val="0070C0"/>
                </a:solidFill>
              </a:rPr>
              <a:t>よくプランを練る</a:t>
            </a:r>
            <a:r>
              <a:rPr lang="ja-JP" altLang="en-US" dirty="0"/>
              <a:t>。プランを練る過程で、</a:t>
            </a:r>
            <a:r>
              <a:rPr lang="ja-JP" altLang="en-US" dirty="0">
                <a:solidFill>
                  <a:srgbClr val="0070C0"/>
                </a:solidFill>
              </a:rPr>
              <a:t>自分の考えを整理し深める</a:t>
            </a:r>
            <a:r>
              <a:rPr lang="ja-JP" altLang="en-US" dirty="0"/>
              <a:t>ことが</a:t>
            </a:r>
            <a:r>
              <a:rPr lang="ja-JP" altLang="en-US" dirty="0">
                <a:solidFill>
                  <a:srgbClr val="0070C0"/>
                </a:solidFill>
              </a:rPr>
              <a:t>実現</a:t>
            </a:r>
            <a:r>
              <a:rPr lang="ja-JP" altLang="en-US" dirty="0"/>
              <a:t>されている。</a:t>
            </a:r>
            <a:endParaRPr lang="en-US" altLang="ja-JP" dirty="0"/>
          </a:p>
          <a:p>
            <a:endParaRPr lang="en-US" altLang="ja-JP" dirty="0"/>
          </a:p>
          <a:p>
            <a:r>
              <a:rPr lang="ja-JP" altLang="en-US" dirty="0"/>
              <a:t>未熟な書き手：そうしたプランなしに直ちに書き始める。</a:t>
            </a:r>
            <a:endParaRPr lang="ko-KR"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熟達した書き手：書いている最中、</a:t>
            </a:r>
            <a:r>
              <a:rPr lang="ja-JP" altLang="en-US" dirty="0">
                <a:solidFill>
                  <a:srgbClr val="0070C0"/>
                </a:solidFill>
              </a:rPr>
              <a:t>自分の書いたものをよく読み直しながら前に書き進んでいく</a:t>
            </a:r>
            <a:r>
              <a:rPr lang="ja-JP" altLang="en-US" dirty="0"/>
              <a:t>。これは中途の脱線を防ぎ、最初から最後まで</a:t>
            </a:r>
            <a:r>
              <a:rPr lang="ja-JP" altLang="en-US" dirty="0">
                <a:solidFill>
                  <a:srgbClr val="0070C0"/>
                </a:solidFill>
              </a:rPr>
              <a:t>一貫した筋を通す</a:t>
            </a:r>
            <a:r>
              <a:rPr lang="ja-JP" altLang="en-US" dirty="0"/>
              <a:t>のに必要なストラテジー</a:t>
            </a:r>
            <a:endParaRPr lang="en-US" altLang="ja-JP" dirty="0"/>
          </a:p>
          <a:p>
            <a:endParaRPr lang="en-US" altLang="ja-JP" dirty="0"/>
          </a:p>
          <a:p>
            <a:r>
              <a:rPr lang="ja-JP" altLang="en-US" dirty="0"/>
              <a:t>未熟な書き手：そうした傾向は見られず、今現在書いている部分にのみ集中している。</a:t>
            </a:r>
            <a:endParaRPr lang="ko-KR"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熟達した書き手：一つのものを仕上げるのに</a:t>
            </a:r>
            <a:r>
              <a:rPr lang="ja-JP" altLang="en-US" dirty="0">
                <a:solidFill>
                  <a:srgbClr val="0070C0"/>
                </a:solidFill>
              </a:rPr>
              <a:t>何度も推敲</a:t>
            </a:r>
            <a:r>
              <a:rPr lang="ja-JP" altLang="en-US" dirty="0"/>
              <a:t>をする。</a:t>
            </a:r>
            <a:r>
              <a:rPr lang="ja-JP" altLang="en-US" dirty="0">
                <a:solidFill>
                  <a:srgbClr val="0070C0"/>
                </a:solidFill>
              </a:rPr>
              <a:t>内容の手直し</a:t>
            </a:r>
            <a:r>
              <a:rPr lang="ja-JP" altLang="en-US" dirty="0"/>
              <a:t>をする。全体の説得性を高めるために大幅に内容に手を入れることをいとわない。</a:t>
            </a:r>
            <a:endParaRPr lang="en-US" altLang="ja-JP" dirty="0"/>
          </a:p>
          <a:p>
            <a:endParaRPr lang="en-US" altLang="ja-JP" dirty="0"/>
          </a:p>
          <a:p>
            <a:r>
              <a:rPr lang="ja-JP" altLang="en-US" dirty="0"/>
              <a:t>未熟な書き手：それほど推敲をしない。一度書き上げたらそれで終わりとする。手直しは内容より、個々の言い回しや字句といった</a:t>
            </a:r>
            <a:r>
              <a:rPr lang="ja-JP" altLang="en-US" dirty="0">
                <a:solidFill>
                  <a:srgbClr val="0070C0"/>
                </a:solidFill>
              </a:rPr>
              <a:t>言葉の形式</a:t>
            </a:r>
            <a:r>
              <a:rPr lang="ja-JP" altLang="en-US" dirty="0"/>
              <a:t>に焦点が当てられて行われる。</a:t>
            </a:r>
            <a:endParaRPr lang="ko-KR"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熟達した書き手：そのような明確な一方向を向いた線と呼べるものがない。「プ</a:t>
            </a:r>
            <a:r>
              <a:rPr lang="ja-JP" altLang="en-US" dirty="0">
                <a:solidFill>
                  <a:srgbClr val="0070C0"/>
                </a:solidFill>
              </a:rPr>
              <a:t>ラン→下書き→チェック」の間</a:t>
            </a:r>
            <a:r>
              <a:rPr lang="ja-JP" altLang="en-US" dirty="0"/>
              <a:t>で</a:t>
            </a:r>
            <a:r>
              <a:rPr lang="ja-JP" altLang="en-US" dirty="0">
                <a:solidFill>
                  <a:srgbClr val="0070C0"/>
                </a:solidFill>
              </a:rPr>
              <a:t>何度も往復</a:t>
            </a:r>
            <a:r>
              <a:rPr lang="ja-JP" altLang="en-US" dirty="0"/>
              <a:t>がある。</a:t>
            </a:r>
            <a:endParaRPr lang="ko-KR" altLang="en-US" dirty="0"/>
          </a:p>
          <a:p>
            <a:endParaRPr lang="en-US" altLang="ja-JP" dirty="0"/>
          </a:p>
          <a:p>
            <a:r>
              <a:rPr lang="ja-JP" altLang="en-US" dirty="0"/>
              <a:t>未熟な書き手：「プラン→下書き→チェック→清書」という一つの線に沿って</a:t>
            </a:r>
            <a:r>
              <a:rPr lang="ja-JP" altLang="en-US" dirty="0">
                <a:solidFill>
                  <a:srgbClr val="0070C0"/>
                </a:solidFill>
              </a:rPr>
              <a:t>一方向的に</a:t>
            </a:r>
            <a:r>
              <a:rPr lang="ja-JP" altLang="en-US" dirty="0"/>
              <a:t>書く作業を進める。</a:t>
            </a:r>
            <a:endParaRPr lang="en-US" altLang="ja-JP"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熟達した書き手：誰に向かって書いているのか、つまり</a:t>
            </a:r>
            <a:r>
              <a:rPr lang="ja-JP" altLang="en-US" dirty="0">
                <a:solidFill>
                  <a:srgbClr val="0070C0"/>
                </a:solidFill>
              </a:rPr>
              <a:t>具体的な特定の読み手が常に意識され</a:t>
            </a:r>
            <a:r>
              <a:rPr lang="ja-JP" altLang="en-US" dirty="0"/>
              <a:t>、あたかも</a:t>
            </a:r>
            <a:r>
              <a:rPr lang="ja-JP" altLang="en-US" dirty="0">
                <a:solidFill>
                  <a:srgbClr val="0070C0"/>
                </a:solidFill>
              </a:rPr>
              <a:t>その人と対話でもするか</a:t>
            </a:r>
            <a:r>
              <a:rPr lang="ja-JP" altLang="en-US" dirty="0"/>
              <a:t>のようにして書かれる。</a:t>
            </a:r>
            <a:endParaRPr lang="en-US" altLang="ja-JP" dirty="0"/>
          </a:p>
          <a:p>
            <a:endParaRPr lang="en-US" altLang="ja-JP" dirty="0"/>
          </a:p>
          <a:p>
            <a:r>
              <a:rPr lang="ja-JP" altLang="en-US" dirty="0"/>
              <a:t>未熟な書き手：読み手は特定されないばかりか、そもそも意識にものぼらない。誰に向かって書いているのか考えない。</a:t>
            </a:r>
            <a:endParaRPr lang="ko-KR"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書くことをどう教えるか</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熟達した書き手養成</a:t>
            </a:r>
            <a:r>
              <a:rPr lang="ja-JP" altLang="en-US" dirty="0"/>
              <a:t>に向けた一つの条件は、</a:t>
            </a:r>
            <a:r>
              <a:rPr lang="ja-JP" altLang="en-US" dirty="0">
                <a:solidFill>
                  <a:srgbClr val="0070C0"/>
                </a:solidFill>
              </a:rPr>
              <a:t>十分読ませること</a:t>
            </a:r>
            <a:r>
              <a:rPr lang="ja-JP" altLang="en-US" dirty="0"/>
              <a:t>で</a:t>
            </a:r>
            <a:r>
              <a:rPr lang="ja-JP" altLang="en-US" dirty="0">
                <a:solidFill>
                  <a:srgbClr val="0070C0"/>
                </a:solidFill>
              </a:rPr>
              <a:t>満足させることができる</a:t>
            </a:r>
            <a:r>
              <a:rPr lang="ja-JP" altLang="en-US" dirty="0"/>
              <a:t>。</a:t>
            </a:r>
            <a:endParaRPr lang="en-US" altLang="ja-JP" dirty="0"/>
          </a:p>
          <a:p>
            <a:r>
              <a:rPr lang="ja-JP" altLang="en-US" dirty="0"/>
              <a:t>つまり、学習者個々が関心を持ち自分でも考えをまとめてみたいと思うことが書かれている読み物を</a:t>
            </a:r>
            <a:r>
              <a:rPr lang="ja-JP" altLang="en-US" dirty="0">
                <a:solidFill>
                  <a:srgbClr val="0070C0"/>
                </a:solidFill>
              </a:rPr>
              <a:t>自律的に読ませる</a:t>
            </a:r>
            <a:r>
              <a:rPr lang="ja-JP" altLang="en-US" dirty="0"/>
              <a:t>ことを追求するのである。</a:t>
            </a:r>
            <a:endParaRPr lang="en-US" altLang="ja-JP" dirty="0"/>
          </a:p>
          <a:p>
            <a:r>
              <a:rPr lang="ja-JP" altLang="en-US" dirty="0"/>
              <a:t>言い換えれば、</a:t>
            </a:r>
            <a:r>
              <a:rPr lang="ja-JP" altLang="en-US" dirty="0">
                <a:solidFill>
                  <a:srgbClr val="0070C0"/>
                </a:solidFill>
              </a:rPr>
              <a:t>作文の授業</a:t>
            </a:r>
            <a:r>
              <a:rPr lang="ja-JP" altLang="en-US" dirty="0"/>
              <a:t>であっても</a:t>
            </a:r>
            <a:r>
              <a:rPr lang="ja-JP" altLang="en-US" dirty="0">
                <a:solidFill>
                  <a:srgbClr val="0070C0"/>
                </a:solidFill>
              </a:rPr>
              <a:t>読むことにも同時に力を入れる</a:t>
            </a:r>
            <a:r>
              <a:rPr lang="ja-JP" altLang="en-US" dirty="0"/>
              <a:t>ということになる。</a:t>
            </a:r>
            <a:endParaRPr lang="ko-KR"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熟達した書き手になるためには</a:t>
            </a:r>
            <a:endParaRPr lang="ko-KR" altLang="en-US" b="1" dirty="0">
              <a:solidFill>
                <a:srgbClr val="7030A0"/>
              </a:solidFill>
            </a:endParaRPr>
          </a:p>
        </p:txBody>
      </p:sp>
      <p:sp>
        <p:nvSpPr>
          <p:cNvPr id="3" name="내용 개체 틀 2"/>
          <p:cNvSpPr>
            <a:spLocks noGrp="1"/>
          </p:cNvSpPr>
          <p:nvPr>
            <p:ph idx="1"/>
          </p:nvPr>
        </p:nvSpPr>
        <p:spPr/>
        <p:txBody>
          <a:bodyPr>
            <a:normAutofit/>
          </a:bodyPr>
          <a:lstStyle/>
          <a:p>
            <a:pPr>
              <a:buNone/>
            </a:pPr>
            <a:r>
              <a:rPr lang="en-US" altLang="ja-JP" dirty="0"/>
              <a:t>(1)</a:t>
            </a:r>
            <a:r>
              <a:rPr lang="ja-JP" altLang="en-US" dirty="0">
                <a:solidFill>
                  <a:srgbClr val="0070C0"/>
                </a:solidFill>
              </a:rPr>
              <a:t>書く前に</a:t>
            </a:r>
            <a:r>
              <a:rPr lang="ja-JP" altLang="en-US" dirty="0"/>
              <a:t>、何をどのように書くかについて大体の</a:t>
            </a:r>
            <a:r>
              <a:rPr lang="ja-JP" altLang="en-US" dirty="0">
                <a:solidFill>
                  <a:srgbClr val="0070C0"/>
                </a:solidFill>
              </a:rPr>
              <a:t>アウトラインを用意</a:t>
            </a:r>
            <a:r>
              <a:rPr lang="ja-JP" altLang="en-US" dirty="0"/>
              <a:t>する。</a:t>
            </a:r>
            <a:endParaRPr lang="en-US" altLang="ja-JP" dirty="0"/>
          </a:p>
          <a:p>
            <a:pPr>
              <a:buNone/>
            </a:pPr>
            <a:endParaRPr lang="en-US" altLang="ja-JP" dirty="0"/>
          </a:p>
          <a:p>
            <a:r>
              <a:rPr lang="ja-JP" altLang="en-US" dirty="0">
                <a:solidFill>
                  <a:srgbClr val="0070C0"/>
                </a:solidFill>
              </a:rPr>
              <a:t>書き始めてからも</a:t>
            </a:r>
            <a:r>
              <a:rPr lang="ja-JP" altLang="en-US" dirty="0"/>
              <a:t>書く内容をよく吟味し新しい考えが生まれたらその都度ためらわずに前に書いた</a:t>
            </a:r>
            <a:r>
              <a:rPr lang="ja-JP" altLang="en-US" dirty="0">
                <a:solidFill>
                  <a:srgbClr val="0070C0"/>
                </a:solidFill>
              </a:rPr>
              <a:t>アウトラインを変更</a:t>
            </a:r>
            <a:r>
              <a:rPr lang="ja-JP" altLang="en-US" dirty="0"/>
              <a:t>する。</a:t>
            </a:r>
            <a:endParaRPr lang="en-US" altLang="ja-JP" dirty="0"/>
          </a:p>
          <a:p>
            <a:endParaRPr lang="en-US" altLang="ko-K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a:buNone/>
            </a:pPr>
            <a:r>
              <a:rPr lang="en-US" altLang="ja-JP" dirty="0"/>
              <a:t>(2)</a:t>
            </a:r>
            <a:r>
              <a:rPr lang="ja-JP" altLang="en-US" dirty="0"/>
              <a:t>一旦</a:t>
            </a:r>
            <a:r>
              <a:rPr lang="ja-JP" altLang="en-US" dirty="0">
                <a:solidFill>
                  <a:srgbClr val="0070C0"/>
                </a:solidFill>
              </a:rPr>
              <a:t>書き終えた原稿であっても</a:t>
            </a:r>
            <a:r>
              <a:rPr lang="ja-JP" altLang="en-US" dirty="0"/>
              <a:t>、それが内容的に満足いくものであるかどうかをよく検討し、何度でも</a:t>
            </a:r>
            <a:r>
              <a:rPr lang="ja-JP" altLang="en-US" dirty="0">
                <a:solidFill>
                  <a:srgbClr val="0070C0"/>
                </a:solidFill>
              </a:rPr>
              <a:t>書き直す心構えを持つことが大切</a:t>
            </a:r>
            <a:endParaRPr lang="en-US" altLang="ja-JP" dirty="0">
              <a:solidFill>
                <a:srgbClr val="0070C0"/>
              </a:solidFill>
            </a:endParaRPr>
          </a:p>
          <a:p>
            <a:pPr>
              <a:buNone/>
            </a:pPr>
            <a:endParaRPr lang="ko-KR" altLang="en-US" dirty="0"/>
          </a:p>
          <a:p>
            <a:r>
              <a:rPr lang="ja-JP" altLang="en-US" dirty="0">
                <a:solidFill>
                  <a:srgbClr val="0070C0"/>
                </a:solidFill>
              </a:rPr>
              <a:t>内容的に問題がないと判断</a:t>
            </a:r>
            <a:r>
              <a:rPr lang="ja-JP" altLang="en-US" dirty="0"/>
              <a:t>し、最終原稿であると思えた時に初めて、</a:t>
            </a:r>
            <a:r>
              <a:rPr lang="ja-JP" altLang="en-US" dirty="0">
                <a:solidFill>
                  <a:srgbClr val="0070C0"/>
                </a:solidFill>
              </a:rPr>
              <a:t>字句や言い回し、文法などの訂正を始める</a:t>
            </a:r>
            <a:r>
              <a:rPr lang="ja-JP" altLang="en-US" dirty="0"/>
              <a:t>。</a:t>
            </a:r>
            <a:endParaRPr lang="ko-KR"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en-US" altLang="ja-JP" dirty="0"/>
              <a:t>(3)</a:t>
            </a:r>
            <a:r>
              <a:rPr lang="ja-JP" altLang="en-US" dirty="0">
                <a:solidFill>
                  <a:srgbClr val="0070C0"/>
                </a:solidFill>
              </a:rPr>
              <a:t>一気に書き進むのでなく</a:t>
            </a:r>
            <a:r>
              <a:rPr lang="ja-JP" altLang="en-US" dirty="0"/>
              <a:t>、途中で</a:t>
            </a:r>
            <a:r>
              <a:rPr lang="ja-JP" altLang="en-US" dirty="0">
                <a:solidFill>
                  <a:srgbClr val="0070C0"/>
                </a:solidFill>
              </a:rPr>
              <a:t>何度も止まり、それまで書いているものを読み直し</a:t>
            </a:r>
            <a:r>
              <a:rPr lang="ja-JP" altLang="en-US" dirty="0"/>
              <a:t>、全体が</a:t>
            </a:r>
            <a:r>
              <a:rPr lang="ja-JP" altLang="en-US" dirty="0">
                <a:solidFill>
                  <a:srgbClr val="0070C0"/>
                </a:solidFill>
              </a:rPr>
              <a:t>首尾一貫</a:t>
            </a:r>
            <a:r>
              <a:rPr lang="ja-JP" altLang="en-US" dirty="0"/>
              <a:t>しているかどうか</a:t>
            </a:r>
            <a:r>
              <a:rPr lang="ja-JP" altLang="en-US" dirty="0">
                <a:solidFill>
                  <a:srgbClr val="0070C0"/>
                </a:solidFill>
              </a:rPr>
              <a:t>検討</a:t>
            </a:r>
            <a:r>
              <a:rPr lang="ja-JP" altLang="en-US" dirty="0"/>
              <a:t>する。</a:t>
            </a:r>
            <a:endParaRPr lang="ko-KR"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授業の１コマ</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与えられたトピック</a:t>
            </a:r>
            <a:r>
              <a:rPr lang="ja-JP" altLang="en-US" dirty="0"/>
              <a:t>について</a:t>
            </a:r>
            <a:r>
              <a:rPr lang="ja-JP" altLang="en-US" dirty="0">
                <a:solidFill>
                  <a:srgbClr val="0070C0"/>
                </a:solidFill>
              </a:rPr>
              <a:t>プランを立て</a:t>
            </a:r>
            <a:r>
              <a:rPr lang="ja-JP" altLang="en-US" dirty="0"/>
              <a:t>、それにしたがって</a:t>
            </a:r>
            <a:r>
              <a:rPr lang="ja-JP" altLang="en-US" dirty="0">
                <a:solidFill>
                  <a:srgbClr val="0070C0"/>
                </a:solidFill>
              </a:rPr>
              <a:t>書き進め</a:t>
            </a:r>
            <a:r>
              <a:rPr lang="ja-JP" altLang="en-US" dirty="0"/>
              <a:t>、最後に</a:t>
            </a:r>
            <a:r>
              <a:rPr lang="ja-JP" altLang="en-US" dirty="0">
                <a:solidFill>
                  <a:srgbClr val="0070C0"/>
                </a:solidFill>
              </a:rPr>
              <a:t>字句や言い回し、文法をチェック</a:t>
            </a:r>
            <a:r>
              <a:rPr lang="ja-JP" altLang="en-US" dirty="0"/>
              <a:t>して終わりという作文しか実際には期待できない。</a:t>
            </a:r>
            <a:endParaRPr lang="en-US" altLang="ja-JP" dirty="0"/>
          </a:p>
          <a:p>
            <a:endParaRPr lang="en-US" altLang="ko-KR" dirty="0"/>
          </a:p>
          <a:p>
            <a:r>
              <a:rPr lang="ja-JP" altLang="en-US" dirty="0"/>
              <a:t>⇔</a:t>
            </a:r>
            <a:r>
              <a:rPr lang="ja-JP" altLang="en-US" dirty="0">
                <a:solidFill>
                  <a:srgbClr val="0070C0"/>
                </a:solidFill>
              </a:rPr>
              <a:t>未熟な書き手</a:t>
            </a:r>
            <a:r>
              <a:rPr lang="ja-JP" altLang="en-US" dirty="0"/>
              <a:t>に特徴的なもの</a:t>
            </a:r>
            <a:endParaRPr lang="ko-KR"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改善</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一般的には</a:t>
            </a:r>
            <a:r>
              <a:rPr lang="ja-JP" altLang="en-US" dirty="0">
                <a:solidFill>
                  <a:srgbClr val="0070C0"/>
                </a:solidFill>
              </a:rPr>
              <a:t>学習者の生活や考え方に関連</a:t>
            </a:r>
            <a:r>
              <a:rPr lang="ja-JP" altLang="en-US" dirty="0"/>
              <a:t>があり、</a:t>
            </a:r>
            <a:r>
              <a:rPr lang="ja-JP" altLang="en-US" dirty="0">
                <a:solidFill>
                  <a:srgbClr val="0070C0"/>
                </a:solidFill>
              </a:rPr>
              <a:t>興味や関心もあるトピック</a:t>
            </a:r>
            <a:r>
              <a:rPr lang="ja-JP" altLang="en-US" dirty="0"/>
              <a:t>に絞り、</a:t>
            </a:r>
            <a:r>
              <a:rPr lang="ja-JP" altLang="en-US" dirty="0">
                <a:solidFill>
                  <a:srgbClr val="0070C0"/>
                </a:solidFill>
              </a:rPr>
              <a:t>充分な時間を</a:t>
            </a:r>
            <a:r>
              <a:rPr lang="ja-JP" altLang="en-US" dirty="0"/>
              <a:t>かけて書くことを通して、</a:t>
            </a:r>
            <a:r>
              <a:rPr lang="ja-JP" altLang="en-US" dirty="0">
                <a:solidFill>
                  <a:srgbClr val="0070C0"/>
                </a:solidFill>
              </a:rPr>
              <a:t>書きたい内容を考え吟味</a:t>
            </a:r>
            <a:r>
              <a:rPr lang="ja-JP" altLang="en-US" dirty="0"/>
              <a:t>し、同時に</a:t>
            </a:r>
            <a:r>
              <a:rPr lang="ja-JP" altLang="en-US" dirty="0">
                <a:solidFill>
                  <a:srgbClr val="0070C0"/>
                </a:solidFill>
              </a:rPr>
              <a:t>何度も書き直す機会</a:t>
            </a:r>
            <a:r>
              <a:rPr lang="ja-JP" altLang="en-US" dirty="0"/>
              <a:t>を持つことが最低必要である。</a:t>
            </a:r>
            <a:endParaRPr lang="ko-KR"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初級者を対象とする作文指導</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solidFill>
                  <a:srgbClr val="0070C0"/>
                </a:solidFill>
              </a:rPr>
              <a:t>書くタスクを工夫</a:t>
            </a:r>
            <a:r>
              <a:rPr lang="ja-JP" altLang="en-US" dirty="0"/>
              <a:t>する</a:t>
            </a:r>
            <a:endParaRPr lang="en-US" altLang="ja-JP" dirty="0"/>
          </a:p>
          <a:p>
            <a:pPr>
              <a:buNone/>
            </a:pPr>
            <a:r>
              <a:rPr lang="en-US" altLang="ja-JP" dirty="0"/>
              <a:t>--</a:t>
            </a:r>
            <a:r>
              <a:rPr lang="ja-JP" altLang="en-US" dirty="0">
                <a:solidFill>
                  <a:srgbClr val="0070C0"/>
                </a:solidFill>
              </a:rPr>
              <a:t>簡単なノート</a:t>
            </a:r>
            <a:r>
              <a:rPr lang="ja-JP" altLang="en-US" dirty="0"/>
              <a:t>を取ったり、</a:t>
            </a:r>
            <a:r>
              <a:rPr lang="ja-JP" altLang="en-US" dirty="0">
                <a:solidFill>
                  <a:srgbClr val="0070C0"/>
                </a:solidFill>
              </a:rPr>
              <a:t>メモ</a:t>
            </a:r>
            <a:r>
              <a:rPr lang="ja-JP" altLang="en-US" dirty="0"/>
              <a:t>を書いたり、</a:t>
            </a:r>
            <a:r>
              <a:rPr lang="ja-JP" altLang="en-US" dirty="0">
                <a:solidFill>
                  <a:srgbClr val="0070C0"/>
                </a:solidFill>
              </a:rPr>
              <a:t>メッセージ</a:t>
            </a:r>
            <a:r>
              <a:rPr lang="ja-JP" altLang="en-US" dirty="0"/>
              <a:t>を残したりすることは、そんなに</a:t>
            </a:r>
            <a:r>
              <a:rPr lang="ja-JP" altLang="en-US" dirty="0">
                <a:solidFill>
                  <a:srgbClr val="0070C0"/>
                </a:solidFill>
              </a:rPr>
              <a:t>高度な文法能力や語彙力がなくても可能</a:t>
            </a:r>
            <a:r>
              <a:rPr lang="ja-JP" altLang="en-US" dirty="0"/>
              <a:t>。</a:t>
            </a:r>
            <a:endParaRPr lang="en-US" altLang="ja-JP" dirty="0"/>
          </a:p>
          <a:p>
            <a:r>
              <a:rPr lang="ja-JP" altLang="en-US" dirty="0">
                <a:solidFill>
                  <a:srgbClr val="0070C0"/>
                </a:solidFill>
              </a:rPr>
              <a:t>ペアやグループワーク</a:t>
            </a:r>
            <a:r>
              <a:rPr lang="ja-JP" altLang="en-US" dirty="0"/>
              <a:t>の形態で</a:t>
            </a:r>
            <a:r>
              <a:rPr lang="ja-JP" altLang="en-US" dirty="0">
                <a:solidFill>
                  <a:srgbClr val="0070C0"/>
                </a:solidFill>
              </a:rPr>
              <a:t>書く前に予備的な活動</a:t>
            </a:r>
            <a:r>
              <a:rPr lang="ja-JP" altLang="en-US" dirty="0"/>
              <a:t>を入れることによって、実際の作文に必要とされる</a:t>
            </a:r>
            <a:r>
              <a:rPr lang="ja-JP" altLang="en-US" dirty="0">
                <a:solidFill>
                  <a:srgbClr val="0070C0"/>
                </a:solidFill>
              </a:rPr>
              <a:t>文型や語彙を補充</a:t>
            </a:r>
            <a:r>
              <a:rPr lang="ja-JP" altLang="en-US" dirty="0"/>
              <a:t>したり、また</a:t>
            </a:r>
            <a:r>
              <a:rPr lang="ja-JP" altLang="en-US" dirty="0">
                <a:solidFill>
                  <a:srgbClr val="0070C0"/>
                </a:solidFill>
              </a:rPr>
              <a:t>書く内容についてアイディア</a:t>
            </a:r>
            <a:r>
              <a:rPr lang="ja-JP" altLang="en-US" dirty="0"/>
              <a:t>を得たり、</a:t>
            </a:r>
            <a:r>
              <a:rPr lang="ja-JP" altLang="en-US" dirty="0">
                <a:solidFill>
                  <a:srgbClr val="0070C0"/>
                </a:solidFill>
              </a:rPr>
              <a:t>練ったり</a:t>
            </a:r>
            <a:r>
              <a:rPr lang="ja-JP" altLang="en-US" dirty="0"/>
              <a:t>することもできる。</a:t>
            </a:r>
            <a:endParaRPr lang="ko-KR"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つまり、</a:t>
            </a:r>
            <a:r>
              <a:rPr lang="ja-JP" altLang="en-US" dirty="0">
                <a:solidFill>
                  <a:srgbClr val="0070C0"/>
                </a:solidFill>
              </a:rPr>
              <a:t>書く</a:t>
            </a:r>
            <a:r>
              <a:rPr lang="ja-JP" altLang="en-US" dirty="0"/>
              <a:t>ということを、</a:t>
            </a:r>
            <a:r>
              <a:rPr lang="ja-JP" altLang="en-US" dirty="0">
                <a:solidFill>
                  <a:srgbClr val="0070C0"/>
                </a:solidFill>
              </a:rPr>
              <a:t>文法のおさらいや文法学習という性格から解放</a:t>
            </a:r>
            <a:r>
              <a:rPr lang="ja-JP" altLang="en-US" dirty="0"/>
              <a:t>すること。</a:t>
            </a:r>
            <a:endParaRPr lang="en-US" altLang="ja-JP" dirty="0"/>
          </a:p>
          <a:p>
            <a:r>
              <a:rPr lang="ja-JP" altLang="en-US" dirty="0"/>
              <a:t>言い換えれば、</a:t>
            </a:r>
            <a:r>
              <a:rPr lang="ja-JP" altLang="en-US" dirty="0">
                <a:solidFill>
                  <a:srgbClr val="0070C0"/>
                </a:solidFill>
              </a:rPr>
              <a:t>あるトピックの下でまとまりのある文章を書くこと</a:t>
            </a:r>
            <a:r>
              <a:rPr lang="ja-JP" altLang="en-US" dirty="0"/>
              <a:t>と</a:t>
            </a:r>
            <a:r>
              <a:rPr lang="ja-JP" altLang="en-US" strike="sngStrike" dirty="0"/>
              <a:t>文法の復習</a:t>
            </a:r>
            <a:r>
              <a:rPr lang="ja-JP" altLang="en-US" dirty="0"/>
              <a:t>を同じだと考えることをやめることである。</a:t>
            </a:r>
            <a:endParaRPr lang="en-US" altLang="ja-JP" dirty="0"/>
          </a:p>
          <a:p>
            <a:endParaRPr lang="en-US" altLang="ja-JP" dirty="0"/>
          </a:p>
          <a:p>
            <a:r>
              <a:rPr lang="ja-JP" altLang="en-US" dirty="0">
                <a:solidFill>
                  <a:srgbClr val="0070C0"/>
                </a:solidFill>
              </a:rPr>
              <a:t>学習者が日常生活でどのような書き行動</a:t>
            </a:r>
            <a:r>
              <a:rPr lang="ja-JP" altLang="en-US" dirty="0"/>
              <a:t>をしているかを観察し、それに</a:t>
            </a:r>
            <a:r>
              <a:rPr lang="ja-JP" altLang="en-US" dirty="0">
                <a:solidFill>
                  <a:srgbClr val="0070C0"/>
                </a:solidFill>
              </a:rPr>
              <a:t>役立つようなタスク</a:t>
            </a:r>
            <a:r>
              <a:rPr lang="ja-JP" altLang="en-US" dirty="0"/>
              <a:t>を考えること。</a:t>
            </a:r>
            <a:endParaRPr lang="ko-KR"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考えてみましょう！</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母語で案を練ったりプランを立てたりして充分考えた上で、それらを日本語に翻訳する形で作文をすることについてどう考えますか。</a:t>
            </a:r>
            <a:endParaRPr lang="ko-KR"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答え</a:t>
            </a:r>
            <a:endParaRPr lang="ko-KR" altLang="en-US" b="1" dirty="0">
              <a:solidFill>
                <a:srgbClr val="7030A0"/>
              </a:solidFill>
            </a:endParaRPr>
          </a:p>
        </p:txBody>
      </p:sp>
      <p:sp>
        <p:nvSpPr>
          <p:cNvPr id="3" name="내용 개체 틀 2"/>
          <p:cNvSpPr>
            <a:spLocks noGrp="1"/>
          </p:cNvSpPr>
          <p:nvPr>
            <p:ph idx="1"/>
          </p:nvPr>
        </p:nvSpPr>
        <p:spPr/>
        <p:txBody>
          <a:bodyPr>
            <a:normAutofit lnSpcReduction="10000"/>
          </a:bodyPr>
          <a:lstStyle/>
          <a:p>
            <a:r>
              <a:rPr lang="ja-JP" altLang="en-US" dirty="0"/>
              <a:t>作文のトピック</a:t>
            </a:r>
            <a:endParaRPr lang="en-US" altLang="ja-JP" dirty="0"/>
          </a:p>
          <a:p>
            <a:endParaRPr lang="en-US" altLang="ko-KR" dirty="0"/>
          </a:p>
          <a:p>
            <a:pPr>
              <a:buNone/>
            </a:pPr>
            <a:r>
              <a:rPr lang="en-US" altLang="ja-JP" dirty="0"/>
              <a:t>(</a:t>
            </a:r>
            <a:r>
              <a:rPr lang="ja-JP" altLang="en-US" dirty="0"/>
              <a:t>１</a:t>
            </a:r>
            <a:r>
              <a:rPr lang="en-US" altLang="ja-JP" dirty="0"/>
              <a:t>)</a:t>
            </a:r>
            <a:r>
              <a:rPr lang="ja-JP" altLang="en-US" dirty="0">
                <a:solidFill>
                  <a:srgbClr val="0070C0"/>
                </a:solidFill>
              </a:rPr>
              <a:t>直接第二言語</a:t>
            </a:r>
            <a:r>
              <a:rPr lang="ja-JP" altLang="en-US" dirty="0"/>
              <a:t>で書かせるのであれば、</a:t>
            </a:r>
            <a:r>
              <a:rPr lang="ja-JP" altLang="en-US" dirty="0">
                <a:solidFill>
                  <a:srgbClr val="0070C0"/>
                </a:solidFill>
              </a:rPr>
              <a:t>第二言語の使用環境で獲得した知識</a:t>
            </a:r>
            <a:r>
              <a:rPr lang="ja-JP" altLang="en-US" dirty="0"/>
              <a:t>などが</a:t>
            </a:r>
            <a:r>
              <a:rPr lang="ja-JP" altLang="en-US" dirty="0">
                <a:solidFill>
                  <a:srgbClr val="0070C0"/>
                </a:solidFill>
              </a:rPr>
              <a:t>主体</a:t>
            </a:r>
            <a:r>
              <a:rPr lang="ja-JP" altLang="en-US" dirty="0"/>
              <a:t>となるものを選定することが重要</a:t>
            </a:r>
            <a:endParaRPr lang="en-US" altLang="ja-JP" dirty="0"/>
          </a:p>
          <a:p>
            <a:pPr>
              <a:buNone/>
            </a:pPr>
            <a:r>
              <a:rPr lang="en-US" altLang="ja-JP" dirty="0"/>
              <a:t>(</a:t>
            </a:r>
            <a:r>
              <a:rPr lang="ja-JP" altLang="en-US" dirty="0"/>
              <a:t>２</a:t>
            </a:r>
            <a:r>
              <a:rPr lang="en-US" altLang="ja-JP" dirty="0"/>
              <a:t>)</a:t>
            </a:r>
            <a:r>
              <a:rPr lang="ja-JP" altLang="en-US" dirty="0">
                <a:solidFill>
                  <a:srgbClr val="0070C0"/>
                </a:solidFill>
              </a:rPr>
              <a:t>第一言語を使用して獲得した知識</a:t>
            </a:r>
            <a:r>
              <a:rPr lang="ja-JP" altLang="en-US" dirty="0"/>
              <a:t>が主体となるトピックについて作文するときは、翻訳も含めて学習者の</a:t>
            </a:r>
            <a:r>
              <a:rPr lang="ja-JP" altLang="en-US" dirty="0">
                <a:solidFill>
                  <a:srgbClr val="0070C0"/>
                </a:solidFill>
              </a:rPr>
              <a:t>第一言語を活用</a:t>
            </a:r>
            <a:r>
              <a:rPr lang="ja-JP" altLang="en-US" dirty="0"/>
              <a:t>することを奨励する。</a:t>
            </a:r>
            <a:endParaRPr lang="ko-KR"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中上級を対象とする作文指導</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自分の表現したいことに関わって書かれているものを集中して</a:t>
            </a:r>
            <a:r>
              <a:rPr lang="ja-JP" altLang="en-US" dirty="0">
                <a:solidFill>
                  <a:srgbClr val="0070C0"/>
                </a:solidFill>
              </a:rPr>
              <a:t>読むことが書くベース</a:t>
            </a:r>
            <a:r>
              <a:rPr lang="ja-JP" altLang="en-US" dirty="0"/>
              <a:t>を作る。</a:t>
            </a:r>
            <a:endParaRPr lang="en-US" altLang="ja-JP" dirty="0"/>
          </a:p>
          <a:p>
            <a:endParaRPr lang="en-US" altLang="ko-KR" dirty="0"/>
          </a:p>
          <a:p>
            <a:r>
              <a:rPr lang="ja-JP" altLang="en-US" dirty="0">
                <a:solidFill>
                  <a:srgbClr val="0070C0"/>
                </a:solidFill>
              </a:rPr>
              <a:t>最初の下書き</a:t>
            </a:r>
            <a:r>
              <a:rPr lang="ja-JP" altLang="en-US" dirty="0"/>
              <a:t>においては、個々の文法や語彙などの正確さや適切さより、</a:t>
            </a:r>
            <a:r>
              <a:rPr lang="ja-JP" altLang="en-US" dirty="0">
                <a:solidFill>
                  <a:srgbClr val="0070C0"/>
                </a:solidFill>
              </a:rPr>
              <a:t>自分のアイディアをいかにふくらまして、より説得的に論理を組み立てるか</a:t>
            </a:r>
            <a:r>
              <a:rPr lang="ja-JP" altLang="en-US" dirty="0"/>
              <a:t>に注意を払う。</a:t>
            </a:r>
            <a:endParaRPr lang="ko-KR"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作文のフィードバック</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教師添削：文法などの言語の形式面</a:t>
            </a:r>
            <a:endParaRPr lang="en-US" altLang="ja-JP" dirty="0"/>
          </a:p>
          <a:p>
            <a:r>
              <a:rPr lang="ja-JP" altLang="en-US" dirty="0"/>
              <a:t>ピアレスポンス：内容面に改善</a:t>
            </a:r>
            <a:endParaRPr lang="en-US" altLang="ja-JP" dirty="0"/>
          </a:p>
          <a:p>
            <a:endParaRPr lang="en-US" altLang="ja-JP" dirty="0"/>
          </a:p>
          <a:p>
            <a:r>
              <a:rPr lang="ja-JP" altLang="en-US" dirty="0"/>
              <a:t>ピアレスポンスとは、書いた作文をめぐって、お互いにいいと思うところ、分からないところ、こうした方がいいと思うところなどを</a:t>
            </a:r>
            <a:r>
              <a:rPr lang="ja-JP" altLang="en-US" dirty="0">
                <a:solidFill>
                  <a:srgbClr val="0070C0"/>
                </a:solidFill>
              </a:rPr>
              <a:t>グループまたはペアで出し合い</a:t>
            </a:r>
            <a:r>
              <a:rPr lang="ja-JP" altLang="en-US" dirty="0"/>
              <a:t>、</a:t>
            </a:r>
            <a:r>
              <a:rPr lang="ja-JP" altLang="en-US" dirty="0">
                <a:solidFill>
                  <a:srgbClr val="0070C0"/>
                </a:solidFill>
              </a:rPr>
              <a:t>作文の推敲に役立てようというフィードバック</a:t>
            </a:r>
            <a:endParaRPr lang="en-US" altLang="ja-JP" dirty="0">
              <a:solidFill>
                <a:srgbClr val="0070C0"/>
              </a:solidFill>
            </a:endParaRPr>
          </a:p>
          <a:p>
            <a:endParaRPr lang="en-US" altLang="ko-K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ピアレスポンスの長所</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t>他人の目で自分の書いたものを見直すことができるので、誰に向かって書いているのか、</a:t>
            </a:r>
            <a:r>
              <a:rPr lang="ja-JP" altLang="en-US" dirty="0">
                <a:solidFill>
                  <a:srgbClr val="0070C0"/>
                </a:solidFill>
              </a:rPr>
              <a:t>読み手を意識する</a:t>
            </a:r>
            <a:r>
              <a:rPr lang="ja-JP" altLang="en-US" dirty="0"/>
              <a:t>ことができるようになる。</a:t>
            </a:r>
            <a:endParaRPr lang="en-US" altLang="ja-JP" dirty="0"/>
          </a:p>
          <a:p>
            <a:endParaRPr lang="en-US" altLang="ja-JP" dirty="0"/>
          </a:p>
          <a:p>
            <a:r>
              <a:rPr lang="ja-JP" altLang="en-US" dirty="0"/>
              <a:t>仲間に説明することで、</a:t>
            </a:r>
            <a:r>
              <a:rPr lang="ja-JP" altLang="en-US" dirty="0">
                <a:solidFill>
                  <a:srgbClr val="0070C0"/>
                </a:solidFill>
              </a:rPr>
              <a:t>自分の考えをさらに深める</a:t>
            </a:r>
            <a:r>
              <a:rPr lang="ja-JP" altLang="en-US" dirty="0"/>
              <a:t>ことができる。</a:t>
            </a:r>
            <a:endParaRPr lang="en-US" altLang="ja-JP" dirty="0"/>
          </a:p>
          <a:p>
            <a:endParaRPr lang="en-US" altLang="ja-JP" dirty="0"/>
          </a:p>
          <a:p>
            <a:r>
              <a:rPr lang="ja-JP" altLang="en-US" dirty="0">
                <a:solidFill>
                  <a:srgbClr val="0070C0"/>
                </a:solidFill>
              </a:rPr>
              <a:t>話す活動</a:t>
            </a:r>
            <a:r>
              <a:rPr lang="ja-JP" altLang="en-US" dirty="0"/>
              <a:t>と</a:t>
            </a:r>
            <a:r>
              <a:rPr lang="ja-JP" altLang="en-US" dirty="0">
                <a:solidFill>
                  <a:srgbClr val="0070C0"/>
                </a:solidFill>
              </a:rPr>
              <a:t>書く活動を統合</a:t>
            </a:r>
            <a:r>
              <a:rPr lang="ja-JP" altLang="en-US" dirty="0"/>
              <a:t>することができる。</a:t>
            </a:r>
            <a:endParaRPr lang="ko-KR"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b="1" dirty="0">
                <a:solidFill>
                  <a:srgbClr val="7030A0"/>
                </a:solidFill>
              </a:rPr>
              <a:t>作文のフィードバック</a:t>
            </a:r>
            <a:endParaRPr lang="ko-KR" altLang="en-US" b="1" dirty="0">
              <a:solidFill>
                <a:srgbClr val="7030A0"/>
              </a:solidFill>
            </a:endParaRPr>
          </a:p>
        </p:txBody>
      </p:sp>
      <p:sp>
        <p:nvSpPr>
          <p:cNvPr id="3" name="내용 개체 틀 2"/>
          <p:cNvSpPr>
            <a:spLocks noGrp="1"/>
          </p:cNvSpPr>
          <p:nvPr>
            <p:ph idx="1"/>
          </p:nvPr>
        </p:nvSpPr>
        <p:spPr/>
        <p:txBody>
          <a:bodyPr/>
          <a:lstStyle/>
          <a:p>
            <a:r>
              <a:rPr lang="ja-JP" altLang="en-US" dirty="0">
                <a:solidFill>
                  <a:srgbClr val="0070C0"/>
                </a:solidFill>
              </a:rPr>
              <a:t>教師</a:t>
            </a:r>
            <a:r>
              <a:rPr lang="ja-JP" altLang="en-US" dirty="0"/>
              <a:t>ができることと、</a:t>
            </a:r>
            <a:r>
              <a:rPr lang="ja-JP" altLang="en-US" dirty="0">
                <a:solidFill>
                  <a:srgbClr val="0070C0"/>
                </a:solidFill>
              </a:rPr>
              <a:t>学習者</a:t>
            </a:r>
            <a:r>
              <a:rPr lang="en-US" altLang="ja-JP" dirty="0"/>
              <a:t>(</a:t>
            </a:r>
            <a:r>
              <a:rPr lang="ja-JP" altLang="en-US" dirty="0"/>
              <a:t>あるいは仲間同士）ができることがあり、それらを</a:t>
            </a:r>
            <a:r>
              <a:rPr lang="ja-JP" altLang="en-US" dirty="0">
                <a:solidFill>
                  <a:srgbClr val="0070C0"/>
                </a:solidFill>
              </a:rPr>
              <a:t>組み合わせ</a:t>
            </a:r>
            <a:r>
              <a:rPr lang="ja-JP" altLang="en-US" dirty="0"/>
              <a:t>ることが大切。</a:t>
            </a:r>
            <a:endParaRPr lang="ko-KR" altLang="en-US" dirty="0"/>
          </a:p>
          <a:p>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742</TotalTime>
  <Words>4722</Words>
  <Application>Microsoft Office PowerPoint</Application>
  <PresentationFormat>화면 슬라이드 쇼(4:3)</PresentationFormat>
  <Paragraphs>203</Paragraphs>
  <Slides>44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44</vt:i4>
      </vt:variant>
    </vt:vector>
  </HeadingPairs>
  <TitlesOfParts>
    <vt:vector size="48" baseType="lpstr">
      <vt:lpstr>MS Gothic</vt:lpstr>
      <vt:lpstr>맑은 고딕</vt:lpstr>
      <vt:lpstr>Arial</vt:lpstr>
      <vt:lpstr>Office 테마</vt:lpstr>
      <vt:lpstr>書くこと: 作文</vt:lpstr>
      <vt:lpstr>作文教育と言語教育</vt:lpstr>
      <vt:lpstr>第２言語教育における作文技能</vt:lpstr>
      <vt:lpstr>PowerPoint 프레젠테이션</vt:lpstr>
      <vt:lpstr>考えてみましょう！</vt:lpstr>
      <vt:lpstr>熟達した書き手と未熟な書き手の特徴</vt:lpstr>
      <vt:lpstr>読む量の違い</vt:lpstr>
      <vt:lpstr>PowerPoint 프레젠테이션</vt:lpstr>
      <vt:lpstr>考えてみましょう</vt:lpstr>
      <vt:lpstr>Eメール１</vt:lpstr>
      <vt:lpstr>PowerPoint 프레젠테이션</vt:lpstr>
      <vt:lpstr>Eメール２</vt:lpstr>
      <vt:lpstr>PowerPoint 프레젠테이션</vt:lpstr>
      <vt:lpstr>류소랑, 이주석, 장이재, 오오쿠보 아카리</vt:lpstr>
      <vt:lpstr>PowerPoint 프레젠테이션</vt:lpstr>
      <vt:lpstr>이여원, 금윤서, 김기준, 윤지원</vt:lpstr>
      <vt:lpstr>PowerPoint 프레젠테이션</vt:lpstr>
      <vt:lpstr>사토리, 유쿤린, 안민호</vt:lpstr>
      <vt:lpstr>PowerPoint 프레젠테이션</vt:lpstr>
      <vt:lpstr>이우도, 박성욱, 조성훈, 김용운 </vt:lpstr>
      <vt:lpstr>PowerPoint 프레젠테이션</vt:lpstr>
      <vt:lpstr>김채윤, 김하원, 박하원, 서가을, 히나</vt:lpstr>
      <vt:lpstr>아이노, 김태희, 김세연, 강예리, 김지연</vt:lpstr>
      <vt:lpstr>PowerPoint 프레젠테이션</vt:lpstr>
      <vt:lpstr>에인紅麗亜、전수현, 허준서</vt:lpstr>
      <vt:lpstr>作文ストラテジー</vt:lpstr>
      <vt:lpstr>PowerPoint 프레젠테이션</vt:lpstr>
      <vt:lpstr>PowerPoint 프레젠테이션</vt:lpstr>
      <vt:lpstr>PowerPoint 프레젠테이션</vt:lpstr>
      <vt:lpstr>PowerPoint 프레젠테이션</vt:lpstr>
      <vt:lpstr>書くことをどう教えるか</vt:lpstr>
      <vt:lpstr>熟達した書き手になるためには</vt:lpstr>
      <vt:lpstr>PowerPoint 프레젠테이션</vt:lpstr>
      <vt:lpstr>PowerPoint 프레젠테이션</vt:lpstr>
      <vt:lpstr>授業の１コマ</vt:lpstr>
      <vt:lpstr>改善</vt:lpstr>
      <vt:lpstr>初級者を対象とする作文指導</vt:lpstr>
      <vt:lpstr>PowerPoint 프레젠테이션</vt:lpstr>
      <vt:lpstr>考えてみましょう！</vt:lpstr>
      <vt:lpstr>答え</vt:lpstr>
      <vt:lpstr>中上級を対象とする作文指導</vt:lpstr>
      <vt:lpstr>作文のフィードバック</vt:lpstr>
      <vt:lpstr>ピアレスポンスの長所</vt:lpstr>
      <vt:lpstr>作文のフィードバック</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書くことー作文ー</dc:title>
  <dc:creator>SEC</dc:creator>
  <cp:lastModifiedBy>영남 조</cp:lastModifiedBy>
  <cp:revision>132</cp:revision>
  <cp:lastPrinted>2023-10-04T04:46:42Z</cp:lastPrinted>
  <dcterms:created xsi:type="dcterms:W3CDTF">2009-12-05T05:59:47Z</dcterms:created>
  <dcterms:modified xsi:type="dcterms:W3CDTF">2025-10-06T05:40:37Z</dcterms:modified>
</cp:coreProperties>
</file>